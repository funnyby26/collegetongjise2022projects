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3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82" r:id="rId6"/>
    <p:sldId id="284" r:id="rId7"/>
    <p:sldId id="262" r:id="rId8"/>
    <p:sldId id="276" r:id="rId9"/>
    <p:sldId id="263" r:id="rId10"/>
    <p:sldId id="266" r:id="rId11"/>
    <p:sldId id="278" r:id="rId12"/>
    <p:sldId id="291" r:id="rId13"/>
    <p:sldId id="275" r:id="rId14"/>
  </p:sldIdLst>
  <p:sldSz cx="18288000" cy="10287000"/>
  <p:notesSz cx="6858000" cy="9144000"/>
  <p:embeddedFontLs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62"/>
        <p:guide pos="286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5.xml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8.png"/><Relationship Id="rId7" Type="http://schemas.openxmlformats.org/officeDocument/2006/relationships/image" Target="../media/image7.sv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17.svg"/><Relationship Id="rId16" Type="http://schemas.openxmlformats.org/officeDocument/2006/relationships/image" Target="../media/image16.png"/><Relationship Id="rId15" Type="http://schemas.openxmlformats.org/officeDocument/2006/relationships/image" Target="../media/image15.svg"/><Relationship Id="rId14" Type="http://schemas.openxmlformats.org/officeDocument/2006/relationships/image" Target="../media/image14.png"/><Relationship Id="rId13" Type="http://schemas.openxmlformats.org/officeDocument/2006/relationships/image" Target="../media/image13.svg"/><Relationship Id="rId12" Type="http://schemas.openxmlformats.org/officeDocument/2006/relationships/image" Target="../media/image12.png"/><Relationship Id="rId11" Type="http://schemas.openxmlformats.org/officeDocument/2006/relationships/image" Target="../media/image11.sv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image" Target="../media/image13.svg"/><Relationship Id="rId7" Type="http://schemas.openxmlformats.org/officeDocument/2006/relationships/image" Target="../media/image12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5.svg"/><Relationship Id="rId15" Type="http://schemas.openxmlformats.org/officeDocument/2006/relationships/image" Target="../media/image4.png"/><Relationship Id="rId14" Type="http://schemas.openxmlformats.org/officeDocument/2006/relationships/image" Target="../media/image3.svg"/><Relationship Id="rId13" Type="http://schemas.openxmlformats.org/officeDocument/2006/relationships/image" Target="../media/image2.png"/><Relationship Id="rId12" Type="http://schemas.openxmlformats.org/officeDocument/2006/relationships/image" Target="../media/image15.svg"/><Relationship Id="rId11" Type="http://schemas.openxmlformats.org/officeDocument/2006/relationships/image" Target="../media/image14.png"/><Relationship Id="rId10" Type="http://schemas.openxmlformats.org/officeDocument/2006/relationships/image" Target="../media/image9.sv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image" Target="../media/image3.svg"/><Relationship Id="rId11" Type="http://schemas.openxmlformats.org/officeDocument/2006/relationships/image" Target="../media/image2.png"/><Relationship Id="rId10" Type="http://schemas.openxmlformats.org/officeDocument/2006/relationships/image" Target="../media/image15.sv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27.png"/><Relationship Id="rId13" Type="http://schemas.openxmlformats.org/officeDocument/2006/relationships/image" Target="../media/image26.png"/><Relationship Id="rId12" Type="http://schemas.openxmlformats.org/officeDocument/2006/relationships/tags" Target="../tags/tag4.xml"/><Relationship Id="rId11" Type="http://schemas.openxmlformats.org/officeDocument/2006/relationships/tags" Target="../tags/tag3.xml"/><Relationship Id="rId10" Type="http://schemas.openxmlformats.org/officeDocument/2006/relationships/tags" Target="../tags/tag2.xml"/><Relationship Id="rId1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image" Target="../media/image25.svg"/><Relationship Id="rId7" Type="http://schemas.openxmlformats.org/officeDocument/2006/relationships/image" Target="../media/image24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.png"/><Relationship Id="rId13" Type="http://schemas.openxmlformats.org/officeDocument/2006/relationships/image" Target="../media/image28.jpeg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" Type="http://schemas.openxmlformats.org/officeDocument/2006/relationships/image" Target="../media/image7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5.svg"/><Relationship Id="rId13" Type="http://schemas.openxmlformats.org/officeDocument/2006/relationships/image" Target="../media/image4.png"/><Relationship Id="rId12" Type="http://schemas.openxmlformats.org/officeDocument/2006/relationships/image" Target="../media/image3.svg"/><Relationship Id="rId11" Type="http://schemas.openxmlformats.org/officeDocument/2006/relationships/image" Target="../media/image2.png"/><Relationship Id="rId10" Type="http://schemas.openxmlformats.org/officeDocument/2006/relationships/image" Target="../media/image15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.png"/><Relationship Id="rId6" Type="http://schemas.openxmlformats.org/officeDocument/2006/relationships/image" Target="../media/image2.png"/><Relationship Id="rId5" Type="http://schemas.openxmlformats.org/officeDocument/2006/relationships/image" Target="../media/image14.png"/><Relationship Id="rId4" Type="http://schemas.openxmlformats.org/officeDocument/2006/relationships/image" Target="../media/image8.png"/><Relationship Id="rId3" Type="http://schemas.openxmlformats.org/officeDocument/2006/relationships/image" Target="../media/image12.png"/><Relationship Id="rId2" Type="http://schemas.openxmlformats.org/officeDocument/2006/relationships/image" Target="../media/image16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0.png"/><Relationship Id="rId3" Type="http://schemas.openxmlformats.org/officeDocument/2006/relationships/image" Target="../media/image24.png"/><Relationship Id="rId2" Type="http://schemas.openxmlformats.org/officeDocument/2006/relationships/image" Target="../media/image22.png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image" Target="../media/image21.svg"/><Relationship Id="rId7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image" Target="../media/image19.svg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image" Target="../media/image30.png"/><Relationship Id="rId7" Type="http://schemas.openxmlformats.org/officeDocument/2006/relationships/image" Target="../media/image14.png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openxmlformats.org/officeDocument/2006/relationships/image" Target="../media/image8.png"/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/>
        </p:nvPicPr>
        <p:blipFill>
          <a:blip r:embed="rId1"/>
          <a:stretch>
            <a:fillRect/>
          </a:stretch>
        </p:blipFill>
        <p:spPr>
          <a:xfrm>
            <a:off x="9525000" y="2476500"/>
            <a:ext cx="7900035" cy="5235575"/>
          </a:xfrm>
          <a:prstGeom prst="rect">
            <a:avLst/>
          </a:prstGeom>
        </p:spPr>
      </p:pic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3951900" y="6655063"/>
            <a:ext cx="4642934" cy="411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2336840">
            <a:off x="16993092" y="8589462"/>
            <a:ext cx="1834049" cy="2397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 rot="-4293809">
            <a:off x="61378" y="7666867"/>
            <a:ext cx="2836519" cy="37078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8">
            <a:alphaModFix amt="71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 rot="4068957">
            <a:off x="14760886" y="-1274759"/>
            <a:ext cx="4606918" cy="46069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 rot="-5326128">
            <a:off x="202301" y="-1136176"/>
            <a:ext cx="2784670" cy="357009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 rot="-7124576">
            <a:off x="-1159846" y="-293030"/>
            <a:ext cx="2908298" cy="343254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4">
            <a:alphaModFix amt="80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 rot="-804865">
            <a:off x="16396672" y="-1928299"/>
            <a:ext cx="3267590" cy="385659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 rot="1838581">
            <a:off x="-3749976" y="7303685"/>
            <a:ext cx="8999366" cy="443423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71600" y="3060700"/>
            <a:ext cx="7729855" cy="36010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0" algn="ctr" fontAlgn="auto">
              <a:lnSpc>
                <a:spcPct val="150000"/>
              </a:lnSpc>
            </a:pPr>
            <a:r>
              <a:rPr lang="en-US" sz="6000" b="1">
                <a:solidFill>
                  <a:srgbClr val="16496B"/>
                </a:solidFill>
                <a:latin typeface="思源黑体-粗体 Bold" panose="020B0800000000000000" charset="-122"/>
              </a:rPr>
              <a:t>智停易</a:t>
            </a:r>
            <a:endParaRPr lang="en-US" sz="6000" b="1">
              <a:solidFill>
                <a:srgbClr val="16496B"/>
              </a:solidFill>
              <a:latin typeface="思源黑体-粗体 Bold" panose="020B0800000000000000" charset="-122"/>
            </a:endParaRPr>
          </a:p>
          <a:p>
            <a:pPr indent="0" algn="r" fontAlgn="auto">
              <a:lnSpc>
                <a:spcPct val="150000"/>
              </a:lnSpc>
            </a:pPr>
            <a:r>
              <a:rPr lang="en-US" sz="4800">
                <a:solidFill>
                  <a:srgbClr val="16496B"/>
                </a:solidFill>
                <a:latin typeface="思源黑体-粗体 Bold" panose="020B0800000000000000" charset="-122"/>
              </a:rPr>
              <a:t>——</a:t>
            </a:r>
            <a:r>
              <a:rPr lang="zh-CN" altLang="en-US" sz="4800">
                <a:solidFill>
                  <a:srgbClr val="16496B"/>
                </a:solidFill>
                <a:latin typeface="思源黑体-粗体 Bold" panose="020B0800000000000000" charset="-122"/>
              </a:rPr>
              <a:t>基于物联网技术的智能停车场管理系统</a:t>
            </a:r>
            <a:endParaRPr lang="zh-CN" altLang="en-US" sz="4800">
              <a:solidFill>
                <a:srgbClr val="16496B"/>
              </a:solidFill>
              <a:latin typeface="思源黑体-粗体 Bold" panose="020B0800000000000000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3886200" y="7886700"/>
            <a:ext cx="3775710" cy="1275080"/>
            <a:chOff x="7301" y="10541"/>
            <a:chExt cx="5946" cy="2008"/>
          </a:xfrm>
        </p:grpSpPr>
        <p:sp>
          <p:nvSpPr>
            <p:cNvPr id="16" name="TextBox 16"/>
            <p:cNvSpPr txBox="1"/>
            <p:nvPr/>
          </p:nvSpPr>
          <p:spPr>
            <a:xfrm>
              <a:off x="7301" y="10541"/>
              <a:ext cx="5866" cy="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 · 答辩</a:t>
              </a:r>
              <a:r>
                <a:rPr lang="zh-CN" alt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组</a:t>
              </a:r>
              <a:r>
                <a:rPr 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：</a:t>
              </a:r>
              <a:r>
                <a:rPr lang="zh-CN" alt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第六组</a:t>
              </a:r>
              <a:endParaRPr lang="zh-CN" altLang="en-US" sz="3000">
                <a:solidFill>
                  <a:srgbClr val="16496B"/>
                </a:solidFill>
                <a:latin typeface="思源黑体 1" panose="020B0500000000000000" charset="-122"/>
              </a:endParaRPr>
            </a:p>
          </p:txBody>
        </p:sp>
        <p:sp>
          <p:nvSpPr>
            <p:cNvPr id="15" name="TextBox 16"/>
            <p:cNvSpPr txBox="1"/>
            <p:nvPr/>
          </p:nvSpPr>
          <p:spPr>
            <a:xfrm>
              <a:off x="7381" y="11701"/>
              <a:ext cx="5866" cy="84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p>
              <a:pPr>
                <a:lnSpc>
                  <a:spcPts val="4200"/>
                </a:lnSpc>
              </a:pPr>
              <a:r>
                <a:rPr 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 · </a:t>
              </a:r>
              <a:r>
                <a:rPr lang="zh-CN" alt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汇报</a:t>
              </a:r>
              <a:r>
                <a:rPr 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人：</a:t>
              </a:r>
              <a:r>
                <a:rPr lang="zh-CN" altLang="en-US" sz="3000">
                  <a:solidFill>
                    <a:srgbClr val="16496B"/>
                  </a:solidFill>
                  <a:latin typeface="思源黑体 1" panose="020B0500000000000000" charset="-122"/>
                </a:rPr>
                <a:t>黄子迅</a:t>
              </a:r>
              <a:endParaRPr lang="zh-CN" altLang="en-US" sz="3000">
                <a:solidFill>
                  <a:srgbClr val="16496B"/>
                </a:solidFill>
                <a:latin typeface="思源黑体 1" panose="020B0500000000000000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5001382" y="5636933"/>
            <a:ext cx="10002764" cy="8401899"/>
            <a:chOff x="0" y="0"/>
            <a:chExt cx="13337018" cy="1120253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 rot="-4293809">
              <a:off x="5750738" y="3129354"/>
              <a:ext cx="3782026" cy="494382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1838581">
              <a:off x="668932" y="2645111"/>
              <a:ext cx="11999154" cy="5912311"/>
            </a:xfrm>
            <a:prstGeom prst="rect">
              <a:avLst/>
            </a:prstGeom>
          </p:spPr>
        </p:pic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 rot="-7507366">
            <a:off x="-1229877" y="2247585"/>
            <a:ext cx="3123880" cy="400497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-9670583" flipV="1">
            <a:off x="-1660484" y="-1604613"/>
            <a:ext cx="4697727" cy="5544528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 rot="0">
            <a:off x="14035484" y="-2720385"/>
            <a:ext cx="6005388" cy="6286112"/>
            <a:chOff x="0" y="0"/>
            <a:chExt cx="8007184" cy="8381483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9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 rot="4068957">
              <a:off x="932313" y="1306613"/>
              <a:ext cx="6142557" cy="6142557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1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>
            <a:xfrm rot="-804865">
              <a:off x="3113361" y="435226"/>
              <a:ext cx="4356786" cy="514213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0">
            <a:off x="14546833" y="7516959"/>
            <a:ext cx="5424934" cy="4641848"/>
            <a:chOff x="0" y="0"/>
            <a:chExt cx="7233245" cy="6189131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190578" cy="548640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rcRect/>
            <a:stretch>
              <a:fillRect/>
            </a:stretch>
          </p:blipFill>
          <p:spPr>
            <a:xfrm rot="2336840">
              <a:off x="4054922" y="2579198"/>
              <a:ext cx="2445399" cy="3196600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2506443" y="3375227"/>
            <a:ext cx="4643171" cy="1732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245"/>
              </a:lnSpc>
              <a:spcBef>
                <a:spcPct val="0"/>
              </a:spcBef>
            </a:pPr>
            <a:r>
              <a:rPr lang="en-US" sz="10175">
                <a:solidFill>
                  <a:srgbClr val="16496B"/>
                </a:solidFill>
                <a:ea typeface="思源黑体-粗体 Bold" panose="020B0800000000000000" charset="-122"/>
              </a:rPr>
              <a:t>目录</a:t>
            </a:r>
            <a:endParaRPr lang="en-US" sz="10175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506443" y="5363896"/>
            <a:ext cx="4643171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lang="en-US" sz="5100" spc="102">
                <a:solidFill>
                  <a:srgbClr val="16496B"/>
                </a:solidFill>
                <a:latin typeface="Aileron Heavy" panose="00000A00000000000000"/>
              </a:rPr>
              <a:t>CONTENTS</a:t>
            </a:r>
            <a:endParaRPr lang="en-US" sz="5100" spc="102">
              <a:solidFill>
                <a:srgbClr val="16496B"/>
              </a:solidFill>
              <a:latin typeface="Aileron Heavy" panose="00000A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0734725" y="3086339"/>
            <a:ext cx="567267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20"/>
              </a:lnSpc>
              <a:spcBef>
                <a:spcPct val="0"/>
              </a:spcBef>
            </a:pPr>
            <a:r>
              <a:rPr lang="zh-CN" altLang="en-US" sz="4300" spc="576">
                <a:solidFill>
                  <a:srgbClr val="737373"/>
                </a:solidFill>
                <a:ea typeface="思源黑体 1" panose="020B0500000000000000" charset="-122"/>
              </a:rPr>
              <a:t>项目简介</a:t>
            </a:r>
            <a:endParaRPr lang="zh-CN" altLang="en-US" sz="4300" spc="576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9210040" y="3009900"/>
            <a:ext cx="1606550" cy="4737100"/>
            <a:chOff x="13724" y="3527"/>
            <a:chExt cx="2530" cy="7460"/>
          </a:xfrm>
        </p:grpSpPr>
        <p:grpSp>
          <p:nvGrpSpPr>
            <p:cNvPr id="15" name="Group 15"/>
            <p:cNvGrpSpPr/>
            <p:nvPr/>
          </p:nvGrpSpPr>
          <p:grpSpPr>
            <a:xfrm rot="0">
              <a:off x="14203" y="3527"/>
              <a:ext cx="1573" cy="1573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6B99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0">
              <a:off x="14203" y="6579"/>
              <a:ext cx="1573" cy="1573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6B99D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id="41" name="组合 40"/>
            <p:cNvGrpSpPr/>
            <p:nvPr/>
          </p:nvGrpSpPr>
          <p:grpSpPr>
            <a:xfrm>
              <a:off x="13724" y="3613"/>
              <a:ext cx="2530" cy="7375"/>
              <a:chOff x="13724" y="3613"/>
              <a:chExt cx="2530" cy="7375"/>
            </a:xfrm>
          </p:grpSpPr>
          <p:grpSp>
            <p:nvGrpSpPr>
              <p:cNvPr id="23" name="Group 23"/>
              <p:cNvGrpSpPr/>
              <p:nvPr/>
            </p:nvGrpSpPr>
            <p:grpSpPr>
              <a:xfrm rot="0">
                <a:off x="14203" y="9416"/>
                <a:ext cx="1573" cy="1573"/>
                <a:chOff x="0" y="0"/>
                <a:chExt cx="812800" cy="81280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813" y="0"/>
                  <a:ext cx="809173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173" h="812800">
                      <a:moveTo>
                        <a:pt x="404587" y="0"/>
                      </a:moveTo>
                      <a:cubicBezTo>
                        <a:pt x="628326" y="1001"/>
                        <a:pt x="809174" y="182659"/>
                        <a:pt x="809174" y="406400"/>
                      </a:cubicBezTo>
                      <a:cubicBezTo>
                        <a:pt x="809174" y="630141"/>
                        <a:pt x="628326" y="811799"/>
                        <a:pt x="404587" y="812800"/>
                      </a:cubicBezTo>
                      <a:cubicBezTo>
                        <a:pt x="180848" y="811799"/>
                        <a:pt x="0" y="630141"/>
                        <a:pt x="0" y="406400"/>
                      </a:cubicBezTo>
                      <a:cubicBezTo>
                        <a:pt x="0" y="182659"/>
                        <a:pt x="180848" y="1001"/>
                        <a:pt x="404587" y="0"/>
                      </a:cubicBezTo>
                      <a:close/>
                    </a:path>
                  </a:pathLst>
                </a:custGeom>
                <a:solidFill>
                  <a:srgbClr val="F6B99D"/>
                </a:solidFill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6200" y="28575"/>
                  <a:ext cx="660400" cy="70802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60"/>
                    </a:lnSpc>
                    <a:spcBef>
                      <a:spcPct val="0"/>
                    </a:spcBef>
                  </a:pP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 rot="0">
                <a:off x="13724" y="3613"/>
                <a:ext cx="2531" cy="7144"/>
                <a:chOff x="0" y="-95250"/>
                <a:chExt cx="2143032" cy="6048707"/>
              </a:xfrm>
            </p:grpSpPr>
            <p:sp>
              <p:nvSpPr>
                <p:cNvPr id="30" name="TextBox 30"/>
                <p:cNvSpPr txBox="1"/>
                <p:nvPr/>
              </p:nvSpPr>
              <p:spPr>
                <a:xfrm>
                  <a:off x="0" y="-95250"/>
                  <a:ext cx="2032448" cy="106299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6720"/>
                    </a:lnSpc>
                    <a:spcBef>
                      <a:spcPct val="0"/>
                    </a:spcBef>
                  </a:pPr>
                  <a:r>
                    <a:rPr lang="en-US" sz="4800" spc="383">
                      <a:solidFill>
                        <a:srgbClr val="FFFFFF"/>
                      </a:solidFill>
                      <a:latin typeface="Aileron Regular Bold" panose="00000800000000000000"/>
                    </a:rPr>
                    <a:t>01</a:t>
                  </a:r>
                  <a:endParaRPr lang="en-US" sz="4800" spc="383">
                    <a:solidFill>
                      <a:srgbClr val="FFFFFF"/>
                    </a:solidFill>
                    <a:latin typeface="Aileron Regular Bold" panose="00000800000000000000"/>
                  </a:endParaRP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10584" y="2488702"/>
                  <a:ext cx="2032448" cy="106299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6720"/>
                    </a:lnSpc>
                    <a:spcBef>
                      <a:spcPct val="0"/>
                    </a:spcBef>
                  </a:pPr>
                  <a:r>
                    <a:rPr lang="en-US" sz="4800" spc="383">
                      <a:solidFill>
                        <a:srgbClr val="FFFFFF"/>
                      </a:solidFill>
                      <a:latin typeface="Aileron Regular Bold" panose="00000800000000000000"/>
                    </a:rPr>
                    <a:t>02</a:t>
                  </a:r>
                  <a:endParaRPr lang="en-US" sz="4800" spc="383">
                    <a:solidFill>
                      <a:srgbClr val="FFFFFF"/>
                    </a:solidFill>
                    <a:latin typeface="Aileron Regular Bold" panose="00000800000000000000"/>
                  </a:endParaRPr>
                </a:p>
              </p:txBody>
            </p:sp>
            <p:sp>
              <p:nvSpPr>
                <p:cNvPr id="32" name="TextBox 32"/>
                <p:cNvSpPr txBox="1"/>
                <p:nvPr/>
              </p:nvSpPr>
              <p:spPr>
                <a:xfrm>
                  <a:off x="55292" y="4890467"/>
                  <a:ext cx="2032448" cy="1062990"/>
                </a:xfrm>
                <a:prstGeom prst="rect">
                  <a:avLst/>
                </a:prstGeom>
              </p:spPr>
              <p:txBody>
                <a:bodyPr lIns="0" tIns="0" rIns="0" bIns="0" rtlCol="0" anchor="t">
                  <a:spAutoFit/>
                </a:bodyPr>
                <a:lstStyle/>
                <a:p>
                  <a:pPr algn="ctr">
                    <a:lnSpc>
                      <a:spcPts val="6720"/>
                    </a:lnSpc>
                    <a:spcBef>
                      <a:spcPct val="0"/>
                    </a:spcBef>
                  </a:pPr>
                  <a:r>
                    <a:rPr lang="en-US" sz="4800" spc="383">
                      <a:solidFill>
                        <a:srgbClr val="FFFFFF"/>
                      </a:solidFill>
                      <a:latin typeface="Aileron Regular Bold" panose="00000800000000000000"/>
                    </a:rPr>
                    <a:t>03</a:t>
                  </a:r>
                  <a:endParaRPr lang="en-US" sz="4800" spc="383">
                    <a:solidFill>
                      <a:srgbClr val="FFFFFF"/>
                    </a:solidFill>
                    <a:latin typeface="Aileron Regular Bold" panose="00000800000000000000"/>
                  </a:endParaRPr>
                </a:p>
              </p:txBody>
            </p:sp>
          </p:grpSp>
        </p:grpSp>
      </p:grpSp>
      <p:sp>
        <p:nvSpPr>
          <p:cNvPr id="34" name="TextBox 34"/>
          <p:cNvSpPr txBox="1"/>
          <p:nvPr/>
        </p:nvSpPr>
        <p:spPr>
          <a:xfrm>
            <a:off x="10734893" y="4997030"/>
            <a:ext cx="567267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20"/>
              </a:lnSpc>
              <a:spcBef>
                <a:spcPct val="0"/>
              </a:spcBef>
            </a:pPr>
            <a:r>
              <a:rPr lang="zh-CN" altLang="en-US" sz="4300" spc="576">
                <a:solidFill>
                  <a:srgbClr val="737373"/>
                </a:solidFill>
                <a:ea typeface="思源黑体 1" panose="020B0500000000000000" charset="-122"/>
              </a:rPr>
              <a:t>物理架构</a:t>
            </a:r>
            <a:endParaRPr lang="zh-CN" altLang="en-US" sz="4300" spc="576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668050" y="6844843"/>
            <a:ext cx="5672674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20"/>
              </a:lnSpc>
              <a:spcBef>
                <a:spcPct val="0"/>
              </a:spcBef>
            </a:pPr>
            <a:r>
              <a:rPr lang="zh-CN" altLang="en-US" sz="4300" spc="576">
                <a:solidFill>
                  <a:srgbClr val="737373"/>
                </a:solidFill>
                <a:ea typeface="思源黑体 1" panose="020B0500000000000000" charset="-122"/>
              </a:rPr>
              <a:t>技术架构</a:t>
            </a:r>
            <a:endParaRPr lang="zh-CN" altLang="en-US" sz="4300" spc="576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 flipH="1">
            <a:off x="8243377" y="2911679"/>
            <a:ext cx="0" cy="5120376"/>
          </a:xfrm>
          <a:prstGeom prst="line">
            <a:avLst/>
          </a:prstGeom>
          <a:ln w="19050" cap="flat">
            <a:solidFill>
              <a:srgbClr val="F6B99D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5001382" y="5443144"/>
            <a:ext cx="10002764" cy="8401899"/>
            <a:chOff x="0" y="0"/>
            <a:chExt cx="13337018" cy="1120253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 rot="-4293809">
              <a:off x="5750738" y="3129354"/>
              <a:ext cx="3782026" cy="494382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1838581">
              <a:off x="668932" y="2645111"/>
              <a:ext cx="11999154" cy="5912311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 rot="6646896">
            <a:off x="14013497" y="-3181377"/>
            <a:ext cx="6877785" cy="7307014"/>
            <a:chOff x="0" y="0"/>
            <a:chExt cx="9170380" cy="974268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-10020101" flipV="1">
              <a:off x="1453372" y="609703"/>
              <a:ext cx="6263636" cy="7392704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8708"/>
            <a:stretch>
              <a:fillRect/>
            </a:stretch>
          </p:blipFill>
          <p:spPr>
            <a:xfrm rot="7654232">
              <a:off x="907983" y="2069484"/>
              <a:ext cx="7354414" cy="5912311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4937986">
            <a:off x="-1726090" y="-1748908"/>
            <a:ext cx="6005388" cy="6286112"/>
            <a:chOff x="0" y="0"/>
            <a:chExt cx="8007184" cy="8381483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4068957">
              <a:off x="932313" y="1306613"/>
              <a:ext cx="6142557" cy="6142557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9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 rot="-804865">
              <a:off x="3113361" y="435226"/>
              <a:ext cx="4356786" cy="514213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 rot="0">
            <a:off x="13739375" y="6499562"/>
            <a:ext cx="5424934" cy="4641848"/>
            <a:chOff x="0" y="0"/>
            <a:chExt cx="7233245" cy="618913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190578" cy="548640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>
            <a:xfrm rot="2336840">
              <a:off x="4054922" y="2579198"/>
              <a:ext cx="2445399" cy="3196600"/>
            </a:xfrm>
            <a:prstGeom prst="rect">
              <a:avLst/>
            </a:prstGeom>
          </p:spPr>
        </p:pic>
      </p:grpSp>
      <p:sp>
        <p:nvSpPr>
          <p:cNvPr id="14" name="TextBox 14"/>
          <p:cNvSpPr txBox="1"/>
          <p:nvPr/>
        </p:nvSpPr>
        <p:spPr>
          <a:xfrm>
            <a:off x="3541099" y="4840551"/>
            <a:ext cx="11205803" cy="177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70"/>
              </a:lnSpc>
              <a:spcBef>
                <a:spcPct val="0"/>
              </a:spcBef>
            </a:pPr>
            <a:r>
              <a:rPr lang="zh-CN" altLang="en-US" sz="9910">
                <a:solidFill>
                  <a:srgbClr val="16496B"/>
                </a:solidFill>
                <a:latin typeface="思源黑体-粗体 Bold" panose="020B0800000000000000" charset="-122"/>
              </a:rPr>
              <a:t>项目简介</a:t>
            </a:r>
            <a:endParaRPr lang="zh-CN" altLang="en-US" sz="9910">
              <a:solidFill>
                <a:srgbClr val="16496B"/>
              </a:solidFill>
              <a:latin typeface="思源黑体-粗体 Bold" panose="020B08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086378" y="3599065"/>
            <a:ext cx="3615701" cy="98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5"/>
              </a:lnSpc>
            </a:pPr>
            <a:r>
              <a:rPr lang="en-US" sz="6595" spc="217">
                <a:solidFill>
                  <a:srgbClr val="16496B"/>
                </a:solidFill>
                <a:latin typeface="Aileron Heavy" panose="00000A00000000000000"/>
              </a:rPr>
              <a:t>PART</a:t>
            </a:r>
            <a:endParaRPr lang="en-US" sz="6595" spc="217">
              <a:solidFill>
                <a:srgbClr val="16496B"/>
              </a:solidFill>
              <a:latin typeface="Aileron Heavy" panose="00000A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0202536" y="3589540"/>
            <a:ext cx="999086" cy="99908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6B99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02536" y="3471544"/>
            <a:ext cx="999086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Aileron Regular Bold" panose="00000800000000000000"/>
              </a:rPr>
              <a:t>1</a:t>
            </a:r>
            <a:endParaRPr lang="en-US" sz="6500">
              <a:solidFill>
                <a:srgbClr val="FFFFFF"/>
              </a:solidFill>
              <a:latin typeface="Aileron Regular Bold" panose="000008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1028700" y="2902281"/>
            <a:ext cx="16230600" cy="2899268"/>
            <a:chOff x="0" y="0"/>
            <a:chExt cx="4274726" cy="7635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763593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7495A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670643" y="6377143"/>
            <a:ext cx="9521218" cy="9999086"/>
            <a:chOff x="0" y="0"/>
            <a:chExt cx="12694958" cy="13332115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0">
            <a:off x="1028700" y="6201599"/>
            <a:ext cx="16230600" cy="2899268"/>
            <a:chOff x="0" y="0"/>
            <a:chExt cx="4274726" cy="763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763593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7495A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86150" y="787574"/>
            <a:ext cx="951591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主要功能点介绍</a:t>
            </a:r>
            <a:endParaRPr lang="zh-CN" altLang="en-US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567815" y="3141980"/>
            <a:ext cx="11090910" cy="65214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>
              <a:lnSpc>
                <a:spcPts val="4200"/>
              </a:lnSpc>
            </a:pPr>
            <a:r>
              <a:rPr lang="zh-CN" altLang="en-US" sz="3500">
                <a:solidFill>
                  <a:srgbClr val="FFFFFF"/>
                </a:solidFill>
                <a:ea typeface="思源黑体-粗体 Bold" panose="020B0800000000000000" charset="-122"/>
              </a:rPr>
              <a:t>一、</a:t>
            </a:r>
            <a:r>
              <a:rPr lang="en-US" sz="3500">
                <a:solidFill>
                  <a:srgbClr val="FFFFFF"/>
                </a:solidFill>
                <a:ea typeface="思源黑体-粗体 Bold" panose="020B0800000000000000" charset="-122"/>
              </a:rPr>
              <a:t>空闲车位探测</a:t>
            </a:r>
            <a:endParaRPr lang="en-US" sz="3500">
              <a:solidFill>
                <a:srgbClr val="FFFFFF"/>
              </a:solidFill>
              <a:ea typeface="思源黑体-粗体 Bold" panose="020B08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1568083" y="6554666"/>
            <a:ext cx="11090841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3500">
                <a:solidFill>
                  <a:srgbClr val="5A7981"/>
                </a:solidFill>
                <a:ea typeface="思源黑体-粗体 Bold" panose="020B0800000000000000" charset="-122"/>
              </a:rPr>
              <a:t>二、</a:t>
            </a:r>
            <a:r>
              <a:rPr lang="en-US" sz="3500">
                <a:solidFill>
                  <a:srgbClr val="5A7981"/>
                </a:solidFill>
                <a:ea typeface="思源黑体-粗体 Bold" panose="020B0800000000000000" charset="-122"/>
              </a:rPr>
              <a:t>停车场数据整理可视化</a:t>
            </a:r>
            <a:endParaRPr lang="en-US" sz="3500">
              <a:solidFill>
                <a:srgbClr val="5A7981"/>
              </a:solidFill>
              <a:ea typeface="思源黑体-粗体 Bold" panose="020B08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1524000" y="3794125"/>
            <a:ext cx="10583545" cy="33909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在停车场的每个车位安装</a:t>
            </a:r>
            <a:r>
              <a:rPr 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传感器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，检测车位是否被占用。传感器将通过</a:t>
            </a:r>
            <a:r>
              <a:rPr 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无线通信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与停车场的</a:t>
            </a:r>
            <a:r>
              <a:rPr 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物联网网关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连接。物联网平台实时汇总停车场的空闲车位信息，并通过API接口将数据传输给前端系统</a:t>
            </a:r>
            <a:endParaRPr lang="en-US" sz="1800" spc="44">
              <a:solidFill>
                <a:srgbClr val="FFFFFF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   车主可以实时查看停车场内的空闲车位，提高停车效率。管理人员可以通过后台监控停车位使用率，进行智能管理。</a:t>
            </a:r>
            <a:endParaRPr lang="en-US" sz="18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1600200" y="7092315"/>
            <a:ext cx="11090910" cy="3492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</a:t>
            </a:r>
            <a:r>
              <a:rPr lang="zh-CN" altLang="en-US" sz="1800" spc="44">
                <a:solidFill>
                  <a:srgbClr val="737373"/>
                </a:solidFill>
                <a:ea typeface="思源黑体 2" panose="020B0500000000000000" charset="-122"/>
              </a:rPr>
              <a:t>利用</a:t>
            </a:r>
            <a:r>
              <a:rPr lang="en-US" spc="44">
                <a:solidFill>
                  <a:srgbClr val="737373"/>
                </a:solidFill>
                <a:ea typeface="思源黑体 2" panose="020B0500000000000000" charset="-122"/>
                <a:sym typeface="+mn-ea"/>
              </a:rPr>
              <a:t>停车场的</a:t>
            </a:r>
            <a:r>
              <a:rPr lang="en-US" b="1" spc="44">
                <a:solidFill>
                  <a:srgbClr val="737373"/>
                </a:solidFill>
                <a:ea typeface="思源黑体 2" panose="020B0500000000000000" charset="-122"/>
                <a:sym typeface="+mn-ea"/>
              </a:rPr>
              <a:t>传感器、摄像头</a:t>
            </a:r>
            <a:r>
              <a:rPr lang="en-US" spc="44">
                <a:solidFill>
                  <a:srgbClr val="737373"/>
                </a:solidFill>
                <a:ea typeface="思源黑体 2" panose="020B0500000000000000" charset="-122"/>
                <a:sym typeface="+mn-ea"/>
              </a:rPr>
              <a:t>等设备</a:t>
            </a:r>
            <a:r>
              <a:rPr lang="zh-CN" altLang="en-US" spc="44">
                <a:solidFill>
                  <a:srgbClr val="737373"/>
                </a:solidFill>
                <a:ea typeface="思源黑体 2" panose="020B0500000000000000" charset="-122"/>
                <a:sym typeface="+mn-ea"/>
              </a:rPr>
              <a:t>进行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数据采集</a:t>
            </a:r>
            <a:r>
              <a:rPr lang="zh-CN" alt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并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存储</a:t>
            </a: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于云端数据库中。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通过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大数据分析平台</a:t>
            </a: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，对停车场的历史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数据进行清洗、整理和分析</a:t>
            </a:r>
            <a:r>
              <a:rPr lang="zh-CN" altLang="en-US" sz="1800" spc="44">
                <a:solidFill>
                  <a:srgbClr val="737373"/>
                </a:solidFill>
                <a:ea typeface="思源黑体 2" panose="020B0500000000000000" charset="-122"/>
              </a:rPr>
              <a:t>。</a:t>
            </a: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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    使用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图表</a:t>
            </a: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展示不同时间段的车位使用情况、车辆停留时长等关键指标</a:t>
            </a:r>
            <a:r>
              <a:rPr lang="zh-CN" altLang="en-US" sz="1800" spc="44">
                <a:solidFill>
                  <a:srgbClr val="737373"/>
                </a:solidFill>
                <a:ea typeface="思源黑体 2" panose="020B0500000000000000" charset="-122"/>
              </a:rPr>
              <a:t>。</a:t>
            </a: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帮助管理者优化车位分配，提高停车场的总体利用率。提供预测分析功能，帮助管理者提前准备高峰时段的停车安排。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</p:txBody>
      </p:sp>
      <p:pic>
        <p:nvPicPr>
          <p:cNvPr id="19" name="图片 18"/>
          <p:cNvPicPr/>
          <p:nvPr/>
        </p:nvPicPr>
        <p:blipFill>
          <a:blip r:embed="rId13"/>
          <a:stretch>
            <a:fillRect/>
          </a:stretch>
        </p:blipFill>
        <p:spPr>
          <a:xfrm>
            <a:off x="12192000" y="2895600"/>
            <a:ext cx="4686300" cy="290576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14"/>
          <a:srcRect l="75455" t="39118" b="30645"/>
          <a:stretch>
            <a:fillRect/>
          </a:stretch>
        </p:blipFill>
        <p:spPr>
          <a:xfrm>
            <a:off x="12192000" y="6202045"/>
            <a:ext cx="4686300" cy="28797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1028700" y="2902281"/>
            <a:ext cx="16230600" cy="2899268"/>
            <a:chOff x="0" y="0"/>
            <a:chExt cx="4274726" cy="7635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74726" cy="763593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7495AB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id="7" name="Group 7"/>
          <p:cNvGrpSpPr/>
          <p:nvPr/>
        </p:nvGrpSpPr>
        <p:grpSpPr>
          <a:xfrm rot="0">
            <a:off x="13670643" y="6377143"/>
            <a:ext cx="9521218" cy="9999086"/>
            <a:chOff x="0" y="0"/>
            <a:chExt cx="12694958" cy="13332115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0">
            <a:off x="1028700" y="6201599"/>
            <a:ext cx="16230600" cy="2899268"/>
            <a:chOff x="0" y="0"/>
            <a:chExt cx="4274726" cy="763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74726" cy="763593"/>
            </a:xfrm>
            <a:custGeom>
              <a:avLst/>
              <a:gdLst/>
              <a:ahLst/>
              <a:cxnLst/>
              <a:rect l="l" t="t" r="r" b="b"/>
              <a:pathLst>
                <a:path w="4274726" h="763593">
                  <a:moveTo>
                    <a:pt x="0" y="0"/>
                  </a:moveTo>
                  <a:lnTo>
                    <a:pt x="4274726" y="0"/>
                  </a:lnTo>
                  <a:lnTo>
                    <a:pt x="4274726" y="763593"/>
                  </a:lnTo>
                  <a:lnTo>
                    <a:pt x="0" y="76359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7495A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4386150" y="787574"/>
            <a:ext cx="951591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主要功能点介绍</a:t>
            </a:r>
            <a:r>
              <a:rPr lang="en-US" altLang="zh-CN" sz="5500">
                <a:solidFill>
                  <a:srgbClr val="16496B"/>
                </a:solidFill>
                <a:ea typeface="思源黑体-粗体 Bold" panose="020B0800000000000000" charset="-122"/>
              </a:rPr>
              <a:t> </a:t>
            </a:r>
            <a:endParaRPr lang="en-US" altLang="zh-CN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1568083" y="3162003"/>
            <a:ext cx="11090841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sz="3200">
                <a:solidFill>
                  <a:srgbClr val="FFFFFF"/>
                </a:solidFill>
                <a:ea typeface="思源黑体-粗体 Bold" panose="020B0800000000000000" charset="-122"/>
              </a:rPr>
              <a:t>三、车辆导航路线规划（停车场推荐）</a:t>
            </a:r>
            <a:endParaRPr sz="3200">
              <a:solidFill>
                <a:srgbClr val="FFFFFF"/>
              </a:solidFill>
              <a:ea typeface="思源黑体-粗体 Bold" panose="020B08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1568083" y="6554666"/>
            <a:ext cx="11090841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sz="3500">
                <a:solidFill>
                  <a:srgbClr val="5A7981"/>
                </a:solidFill>
                <a:ea typeface="思源黑体-粗体 Bold" panose="020B0800000000000000" charset="-122"/>
              </a:rPr>
              <a:t>四</a:t>
            </a:r>
            <a:r>
              <a:rPr lang="zh-CN" sz="3500">
                <a:solidFill>
                  <a:srgbClr val="5A7981"/>
                </a:solidFill>
                <a:ea typeface="思源黑体-粗体 Bold" panose="020B0800000000000000" charset="-122"/>
              </a:rPr>
              <a:t>、</a:t>
            </a:r>
            <a:r>
              <a:rPr sz="3500">
                <a:solidFill>
                  <a:srgbClr val="5A7981"/>
                </a:solidFill>
                <a:ea typeface="思源黑体-粗体 Bold" panose="020B0800000000000000" charset="-122"/>
              </a:rPr>
              <a:t>停车场</a:t>
            </a:r>
            <a:r>
              <a:rPr lang="zh-CN" sz="3500">
                <a:solidFill>
                  <a:srgbClr val="5A7981"/>
                </a:solidFill>
                <a:ea typeface="思源黑体-粗体 Bold" panose="020B0800000000000000" charset="-122"/>
              </a:rPr>
              <a:t>巡检员</a:t>
            </a:r>
            <a:r>
              <a:rPr sz="3500">
                <a:solidFill>
                  <a:srgbClr val="5A7981"/>
                </a:solidFill>
                <a:ea typeface="思源黑体-粗体 Bold" panose="020B0800000000000000" charset="-122"/>
              </a:rPr>
              <a:t>辅助管理</a:t>
            </a:r>
            <a:endParaRPr sz="3500">
              <a:solidFill>
                <a:srgbClr val="5A7981"/>
              </a:solidFill>
              <a:ea typeface="思源黑体-粗体 Bold" panose="020B0800000000000000" charset="-122"/>
            </a:endParaRP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1567815" y="3687445"/>
            <a:ext cx="10564495" cy="267017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通过</a:t>
            </a:r>
            <a:r>
              <a:rPr 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实时数据和智能算法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，车主能快速找到空闲车位，减少在停车场绕行的时间</a:t>
            </a:r>
            <a:r>
              <a:rPr lang="zh-CN" altLang="en-US" sz="1800" spc="44">
                <a:solidFill>
                  <a:srgbClr val="FFFFFF"/>
                </a:solidFill>
                <a:ea typeface="思源黑体 2" panose="020B0500000000000000" charset="-122"/>
              </a:rPr>
              <a:t>，提高效率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。</a:t>
            </a:r>
            <a:endParaRPr lang="en-US" sz="1800" spc="44">
              <a:solidFill>
                <a:srgbClr val="FFFFFF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</a:t>
            </a:r>
            <a:r>
              <a:rPr lang="zh-CN" altLang="en-US" sz="1800" spc="44">
                <a:solidFill>
                  <a:srgbClr val="FFFFFF"/>
                </a:solidFill>
                <a:ea typeface="思源黑体 2" panose="020B0500000000000000" charset="-122"/>
              </a:rPr>
              <a:t>利用</a:t>
            </a:r>
            <a:r>
              <a:rPr 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动态导航与智能推荐</a:t>
            </a:r>
            <a:r>
              <a:rPr lang="zh-CN" altLang="en-US" sz="1800" b="1" spc="44">
                <a:solidFill>
                  <a:srgbClr val="FFFFFF"/>
                </a:solidFill>
                <a:ea typeface="思源黑体 2" panose="020B0500000000000000" charset="-122"/>
              </a:rPr>
              <a:t>，</a:t>
            </a: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系统可根据停车场车位的变化动态调整推荐路线，保证车主到达的停车场有空余车位。</a:t>
            </a:r>
            <a:endParaRPr lang="en-US" sz="1800" spc="44">
              <a:solidFill>
                <a:srgbClr val="FFFFFF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FFFFFF"/>
                </a:solidFill>
                <a:ea typeface="思源黑体 2" panose="020B0500000000000000" charset="-122"/>
              </a:rPr>
              <a:t>改善用户体验：用户不仅能获得停车场推荐，还能通过室内导航直接找到空闲车位</a:t>
            </a:r>
            <a:r>
              <a:rPr lang="zh-CN" altLang="en-US" sz="1800" spc="44">
                <a:solidFill>
                  <a:srgbClr val="FFFFFF"/>
                </a:solidFill>
                <a:ea typeface="思源黑体 2" panose="020B0500000000000000" charset="-122"/>
              </a:rPr>
              <a:t>。</a:t>
            </a:r>
            <a:endParaRPr lang="zh-CN" altLang="en-US" sz="18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1568083" y="7348977"/>
            <a:ext cx="11090841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    </a:t>
            </a:r>
            <a:r>
              <a:rPr lang="zh-CN" altLang="en-US" sz="1800" spc="44">
                <a:solidFill>
                  <a:srgbClr val="737373"/>
                </a:solidFill>
                <a:ea typeface="思源黑体 2" panose="020B0500000000000000" charset="-122"/>
              </a:rPr>
              <a:t>利用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实时监控系统</a:t>
            </a:r>
            <a:r>
              <a:rPr lang="zh-CN" alt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、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异常检测与警报</a:t>
            </a:r>
            <a:r>
              <a:rPr lang="zh-CN" alt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、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智能调度与优化</a:t>
            </a:r>
            <a:r>
              <a:rPr lang="zh-CN" alt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、</a:t>
            </a:r>
            <a:r>
              <a:rPr lang="en-US" sz="1800" b="1" spc="44">
                <a:solidFill>
                  <a:srgbClr val="737373"/>
                </a:solidFill>
                <a:ea typeface="思源黑体 2" panose="020B0500000000000000" charset="-122"/>
              </a:rPr>
              <a:t>自动生成报告</a:t>
            </a:r>
            <a:r>
              <a:rPr lang="zh-CN" altLang="en-US" sz="1800" spc="44">
                <a:solidFill>
                  <a:srgbClr val="737373"/>
                </a:solidFill>
                <a:ea typeface="思源黑体 2" panose="020B0500000000000000" charset="-122"/>
              </a:rPr>
              <a:t>等措施来实现巡检功能。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    提升停车场管理效率，减少人工巡查和维护成本。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  <a:p>
            <a:pPr marL="388620" lvl="1" indent="-194310">
              <a:lnSpc>
                <a:spcPts val="3600"/>
              </a:lnSpc>
              <a:buFont typeface="Arial" panose="020B0604020202020204"/>
              <a:buChar char="•"/>
            </a:pPr>
            <a:r>
              <a:rPr lang="en-US" sz="1800" spc="44">
                <a:solidFill>
                  <a:srgbClr val="737373"/>
                </a:solidFill>
                <a:ea typeface="思源黑体 2" panose="020B0500000000000000" charset="-122"/>
              </a:rPr>
              <a:t>实现智能化管理，帮助管理人员通过数据和AI决策支持，做出更精准的管理决策。</a:t>
            </a:r>
            <a:endParaRPr lang="en-US" sz="1800" spc="44">
              <a:solidFill>
                <a:srgbClr val="737373"/>
              </a:solidFill>
              <a:ea typeface="思源黑体 2" panose="020B0500000000000000" charset="-122"/>
            </a:endParaRPr>
          </a:p>
        </p:txBody>
      </p:sp>
      <p:pic>
        <p:nvPicPr>
          <p:cNvPr id="24" name="图片 23"/>
          <p:cNvPicPr/>
          <p:nvPr/>
        </p:nvPicPr>
        <p:blipFill>
          <a:blip r:embed="rId13"/>
          <a:stretch>
            <a:fillRect/>
          </a:stretch>
        </p:blipFill>
        <p:spPr>
          <a:xfrm>
            <a:off x="12191365" y="2902585"/>
            <a:ext cx="4686935" cy="2894330"/>
          </a:xfrm>
          <a:prstGeom prst="rect">
            <a:avLst/>
          </a:prstGeom>
        </p:spPr>
      </p:pic>
      <p:pic>
        <p:nvPicPr>
          <p:cNvPr id="14" name="图片 13"/>
          <p:cNvPicPr/>
          <p:nvPr/>
        </p:nvPicPr>
        <p:blipFill>
          <a:blip r:embed="rId14"/>
          <a:stretch>
            <a:fillRect/>
          </a:stretch>
        </p:blipFill>
        <p:spPr>
          <a:xfrm>
            <a:off x="12192000" y="6201410"/>
            <a:ext cx="4686935" cy="2935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5001382" y="5443144"/>
            <a:ext cx="10002764" cy="8401899"/>
            <a:chOff x="0" y="0"/>
            <a:chExt cx="13337018" cy="1120253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 rot="-4293809">
              <a:off x="5750738" y="3129354"/>
              <a:ext cx="3782026" cy="4943825"/>
            </a:xfrm>
            <a:prstGeom prst="rect">
              <a:avLst/>
            </a:prstGeom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1838581">
              <a:off x="668932" y="2645111"/>
              <a:ext cx="11999154" cy="5912311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 rot="6646896">
            <a:off x="14013497" y="-3181377"/>
            <a:ext cx="6877785" cy="7307014"/>
            <a:chOff x="0" y="0"/>
            <a:chExt cx="9170380" cy="9742685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-10020101" flipV="1">
              <a:off x="1453372" y="609703"/>
              <a:ext cx="6263636" cy="7392704"/>
            </a:xfrm>
            <a:prstGeom prst="rect">
              <a:avLst/>
            </a:prstGeom>
          </p:spPr>
        </p:pic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 l="38708"/>
            <a:stretch>
              <a:fillRect/>
            </a:stretch>
          </p:blipFill>
          <p:spPr>
            <a:xfrm rot="7654232">
              <a:off x="907983" y="2069484"/>
              <a:ext cx="7354414" cy="5912311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 rot="-4937986">
            <a:off x="-1726090" y="-1748908"/>
            <a:ext cx="6005388" cy="6286112"/>
            <a:chOff x="0" y="0"/>
            <a:chExt cx="8007184" cy="8381483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7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 rot="4068957">
              <a:off x="932313" y="1306613"/>
              <a:ext cx="6142557" cy="6142557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9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>
              <a:fillRect/>
            </a:stretch>
          </p:blipFill>
          <p:spPr>
            <a:xfrm rot="-804865">
              <a:off x="3113361" y="435226"/>
              <a:ext cx="4356786" cy="514213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 rot="0">
            <a:off x="13739375" y="6499562"/>
            <a:ext cx="5424934" cy="4641848"/>
            <a:chOff x="0" y="0"/>
            <a:chExt cx="7233245" cy="6189131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190578" cy="5486400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p:blipFill>
          <p:spPr>
            <a:xfrm rot="2336840">
              <a:off x="4054922" y="2579198"/>
              <a:ext cx="2445399" cy="3196600"/>
            </a:xfrm>
            <a:prstGeom prst="rect">
              <a:avLst/>
            </a:prstGeom>
          </p:spPr>
        </p:pic>
      </p:grpSp>
      <p:sp>
        <p:nvSpPr>
          <p:cNvPr id="14" name="TextBox 14"/>
          <p:cNvSpPr txBox="1"/>
          <p:nvPr/>
        </p:nvSpPr>
        <p:spPr>
          <a:xfrm>
            <a:off x="3541099" y="4840551"/>
            <a:ext cx="11205803" cy="177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70"/>
              </a:lnSpc>
              <a:spcBef>
                <a:spcPct val="0"/>
              </a:spcBef>
            </a:pPr>
            <a:r>
              <a:rPr lang="zh-CN" altLang="en-US" sz="9910">
                <a:solidFill>
                  <a:srgbClr val="16496B"/>
                </a:solidFill>
                <a:latin typeface="思源黑体-粗体 Bold" panose="020B0800000000000000" charset="-122"/>
              </a:rPr>
              <a:t>物理架构</a:t>
            </a:r>
            <a:endParaRPr lang="zh-CN" altLang="en-US" sz="9910">
              <a:solidFill>
                <a:srgbClr val="16496B"/>
              </a:solidFill>
              <a:latin typeface="思源黑体-粗体 Bold" panose="020B08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086378" y="3599065"/>
            <a:ext cx="3615701" cy="98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5"/>
              </a:lnSpc>
            </a:pPr>
            <a:r>
              <a:rPr lang="en-US" sz="6595" spc="217">
                <a:solidFill>
                  <a:srgbClr val="16496B"/>
                </a:solidFill>
                <a:latin typeface="Aileron Heavy" panose="00000A00000000000000"/>
              </a:rPr>
              <a:t>PART</a:t>
            </a:r>
            <a:endParaRPr lang="en-US" sz="6595" spc="217">
              <a:solidFill>
                <a:srgbClr val="16496B"/>
              </a:solidFill>
              <a:latin typeface="Aileron Heavy" panose="00000A00000000000000"/>
            </a:endParaRPr>
          </a:p>
        </p:txBody>
      </p:sp>
      <p:grpSp>
        <p:nvGrpSpPr>
          <p:cNvPr id="17" name="Group 17"/>
          <p:cNvGrpSpPr/>
          <p:nvPr/>
        </p:nvGrpSpPr>
        <p:grpSpPr>
          <a:xfrm rot="0">
            <a:off x="10202536" y="3665740"/>
            <a:ext cx="999086" cy="999086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6B99D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202536" y="3471544"/>
            <a:ext cx="999086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Aileron Regular Bold" panose="00000800000000000000"/>
              </a:rPr>
              <a:t>2</a:t>
            </a:r>
            <a:endParaRPr lang="en-US" sz="6500">
              <a:solidFill>
                <a:srgbClr val="FFFFFF"/>
              </a:solidFill>
              <a:latin typeface="Aileron Regular Bold" panose="000008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 rot="0">
            <a:off x="1085850" y="3162300"/>
            <a:ext cx="3804285" cy="4812030"/>
            <a:chOff x="0" y="0"/>
            <a:chExt cx="1033540" cy="12151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33540" cy="1215130"/>
            </a:xfrm>
            <a:custGeom>
              <a:avLst/>
              <a:gdLst/>
              <a:ahLst/>
              <a:cxnLst/>
              <a:rect l="l" t="t" r="r" b="b"/>
              <a:pathLst>
                <a:path w="1033540" h="1215130">
                  <a:moveTo>
                    <a:pt x="106313" y="0"/>
                  </a:moveTo>
                  <a:lnTo>
                    <a:pt x="927227" y="0"/>
                  </a:lnTo>
                  <a:cubicBezTo>
                    <a:pt x="955423" y="0"/>
                    <a:pt x="982464" y="11201"/>
                    <a:pt x="1002401" y="31138"/>
                  </a:cubicBezTo>
                  <a:cubicBezTo>
                    <a:pt x="1022339" y="51076"/>
                    <a:pt x="1033540" y="78117"/>
                    <a:pt x="1033540" y="106313"/>
                  </a:cubicBezTo>
                  <a:lnTo>
                    <a:pt x="1033540" y="1108817"/>
                  </a:lnTo>
                  <a:cubicBezTo>
                    <a:pt x="1033540" y="1137013"/>
                    <a:pt x="1022339" y="1164054"/>
                    <a:pt x="1002401" y="1183991"/>
                  </a:cubicBezTo>
                  <a:cubicBezTo>
                    <a:pt x="982464" y="1203929"/>
                    <a:pt x="955423" y="1215130"/>
                    <a:pt x="927227" y="1215130"/>
                  </a:cubicBezTo>
                  <a:lnTo>
                    <a:pt x="106313" y="1215130"/>
                  </a:lnTo>
                  <a:cubicBezTo>
                    <a:pt x="78117" y="1215130"/>
                    <a:pt x="51076" y="1203929"/>
                    <a:pt x="31138" y="1183991"/>
                  </a:cubicBezTo>
                  <a:cubicBezTo>
                    <a:pt x="11201" y="1164054"/>
                    <a:pt x="0" y="1137013"/>
                    <a:pt x="0" y="1108817"/>
                  </a:cubicBezTo>
                  <a:lnTo>
                    <a:pt x="0" y="106313"/>
                  </a:lnTo>
                  <a:cubicBezTo>
                    <a:pt x="0" y="78117"/>
                    <a:pt x="11201" y="51076"/>
                    <a:pt x="31138" y="31138"/>
                  </a:cubicBezTo>
                  <a:cubicBezTo>
                    <a:pt x="51076" y="11201"/>
                    <a:pt x="78117" y="0"/>
                    <a:pt x="106313" y="0"/>
                  </a:cubicBezTo>
                  <a:close/>
                </a:path>
              </a:pathLst>
            </a:custGeom>
            <a:solidFill>
              <a:srgbClr val="7495AB"/>
            </a:solidFill>
            <a:ln w="19050">
              <a:solidFill>
                <a:srgbClr val="7495A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9086" tIns="49086" rIns="49086" bIns="49086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0" name="Group 10"/>
          <p:cNvGrpSpPr/>
          <p:nvPr/>
        </p:nvGrpSpPr>
        <p:grpSpPr>
          <a:xfrm rot="0">
            <a:off x="9504045" y="3162300"/>
            <a:ext cx="3804285" cy="4812030"/>
            <a:chOff x="0" y="0"/>
            <a:chExt cx="1033540" cy="121513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33540" cy="1215130"/>
            </a:xfrm>
            <a:custGeom>
              <a:avLst/>
              <a:gdLst/>
              <a:ahLst/>
              <a:cxnLst/>
              <a:rect l="l" t="t" r="r" b="b"/>
              <a:pathLst>
                <a:path w="1033540" h="1215130">
                  <a:moveTo>
                    <a:pt x="106313" y="0"/>
                  </a:moveTo>
                  <a:lnTo>
                    <a:pt x="927227" y="0"/>
                  </a:lnTo>
                  <a:cubicBezTo>
                    <a:pt x="955423" y="0"/>
                    <a:pt x="982464" y="11201"/>
                    <a:pt x="1002401" y="31138"/>
                  </a:cubicBezTo>
                  <a:cubicBezTo>
                    <a:pt x="1022339" y="51076"/>
                    <a:pt x="1033540" y="78117"/>
                    <a:pt x="1033540" y="106313"/>
                  </a:cubicBezTo>
                  <a:lnTo>
                    <a:pt x="1033540" y="1108817"/>
                  </a:lnTo>
                  <a:cubicBezTo>
                    <a:pt x="1033540" y="1137013"/>
                    <a:pt x="1022339" y="1164054"/>
                    <a:pt x="1002401" y="1183991"/>
                  </a:cubicBezTo>
                  <a:cubicBezTo>
                    <a:pt x="982464" y="1203929"/>
                    <a:pt x="955423" y="1215130"/>
                    <a:pt x="927227" y="1215130"/>
                  </a:cubicBezTo>
                  <a:lnTo>
                    <a:pt x="106313" y="1215130"/>
                  </a:lnTo>
                  <a:cubicBezTo>
                    <a:pt x="78117" y="1215130"/>
                    <a:pt x="51076" y="1203929"/>
                    <a:pt x="31138" y="1183991"/>
                  </a:cubicBezTo>
                  <a:cubicBezTo>
                    <a:pt x="11201" y="1164054"/>
                    <a:pt x="0" y="1137013"/>
                    <a:pt x="0" y="1108817"/>
                  </a:cubicBezTo>
                  <a:lnTo>
                    <a:pt x="0" y="106313"/>
                  </a:lnTo>
                  <a:cubicBezTo>
                    <a:pt x="0" y="78117"/>
                    <a:pt x="11201" y="51076"/>
                    <a:pt x="31138" y="31138"/>
                  </a:cubicBezTo>
                  <a:cubicBezTo>
                    <a:pt x="51076" y="11201"/>
                    <a:pt x="78117" y="0"/>
                    <a:pt x="106313" y="0"/>
                  </a:cubicBezTo>
                  <a:close/>
                </a:path>
              </a:pathLst>
            </a:custGeom>
            <a:solidFill>
              <a:srgbClr val="7495AB"/>
            </a:solidFill>
            <a:ln w="19050">
              <a:solidFill>
                <a:srgbClr val="7495AB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9086" tIns="49086" rIns="49086" bIns="49086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 rot="0">
            <a:off x="5184140" y="3162300"/>
            <a:ext cx="3804285" cy="4812030"/>
            <a:chOff x="0" y="0"/>
            <a:chExt cx="1033540" cy="12151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33540" cy="1215130"/>
            </a:xfrm>
            <a:custGeom>
              <a:avLst/>
              <a:gdLst/>
              <a:ahLst/>
              <a:cxnLst/>
              <a:rect l="l" t="t" r="r" b="b"/>
              <a:pathLst>
                <a:path w="1033540" h="1215130">
                  <a:moveTo>
                    <a:pt x="106313" y="0"/>
                  </a:moveTo>
                  <a:lnTo>
                    <a:pt x="927227" y="0"/>
                  </a:lnTo>
                  <a:cubicBezTo>
                    <a:pt x="955423" y="0"/>
                    <a:pt x="982464" y="11201"/>
                    <a:pt x="1002401" y="31138"/>
                  </a:cubicBezTo>
                  <a:cubicBezTo>
                    <a:pt x="1022339" y="51076"/>
                    <a:pt x="1033540" y="78117"/>
                    <a:pt x="1033540" y="106313"/>
                  </a:cubicBezTo>
                  <a:lnTo>
                    <a:pt x="1033540" y="1108817"/>
                  </a:lnTo>
                  <a:cubicBezTo>
                    <a:pt x="1033540" y="1137013"/>
                    <a:pt x="1022339" y="1164054"/>
                    <a:pt x="1002401" y="1183991"/>
                  </a:cubicBezTo>
                  <a:cubicBezTo>
                    <a:pt x="982464" y="1203929"/>
                    <a:pt x="955423" y="1215130"/>
                    <a:pt x="927227" y="1215130"/>
                  </a:cubicBezTo>
                  <a:lnTo>
                    <a:pt x="106313" y="1215130"/>
                  </a:lnTo>
                  <a:cubicBezTo>
                    <a:pt x="78117" y="1215130"/>
                    <a:pt x="51076" y="1203929"/>
                    <a:pt x="31138" y="1183991"/>
                  </a:cubicBezTo>
                  <a:cubicBezTo>
                    <a:pt x="11201" y="1164054"/>
                    <a:pt x="0" y="1137013"/>
                    <a:pt x="0" y="1108817"/>
                  </a:cubicBezTo>
                  <a:lnTo>
                    <a:pt x="0" y="106313"/>
                  </a:lnTo>
                  <a:cubicBezTo>
                    <a:pt x="0" y="78117"/>
                    <a:pt x="11201" y="51076"/>
                    <a:pt x="31138" y="31138"/>
                  </a:cubicBezTo>
                  <a:cubicBezTo>
                    <a:pt x="51076" y="11201"/>
                    <a:pt x="78117" y="0"/>
                    <a:pt x="106313" y="0"/>
                  </a:cubicBezTo>
                  <a:close/>
                </a:path>
              </a:pathLst>
            </a:custGeom>
            <a:solidFill>
              <a:srgbClr val="F6B99D"/>
            </a:solidFill>
            <a:ln w="19050">
              <a:solidFill>
                <a:srgbClr val="F6B99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9086" tIns="49086" rIns="49086" bIns="49086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6" name="Group 16"/>
          <p:cNvGrpSpPr/>
          <p:nvPr/>
        </p:nvGrpSpPr>
        <p:grpSpPr>
          <a:xfrm rot="0">
            <a:off x="13602335" y="3162300"/>
            <a:ext cx="3804285" cy="4812030"/>
            <a:chOff x="0" y="0"/>
            <a:chExt cx="1033540" cy="12151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33540" cy="1215130"/>
            </a:xfrm>
            <a:custGeom>
              <a:avLst/>
              <a:gdLst/>
              <a:ahLst/>
              <a:cxnLst/>
              <a:rect l="l" t="t" r="r" b="b"/>
              <a:pathLst>
                <a:path w="1033540" h="1215130">
                  <a:moveTo>
                    <a:pt x="106313" y="0"/>
                  </a:moveTo>
                  <a:lnTo>
                    <a:pt x="927227" y="0"/>
                  </a:lnTo>
                  <a:cubicBezTo>
                    <a:pt x="955423" y="0"/>
                    <a:pt x="982464" y="11201"/>
                    <a:pt x="1002401" y="31138"/>
                  </a:cubicBezTo>
                  <a:cubicBezTo>
                    <a:pt x="1022339" y="51076"/>
                    <a:pt x="1033540" y="78117"/>
                    <a:pt x="1033540" y="106313"/>
                  </a:cubicBezTo>
                  <a:lnTo>
                    <a:pt x="1033540" y="1108817"/>
                  </a:lnTo>
                  <a:cubicBezTo>
                    <a:pt x="1033540" y="1137013"/>
                    <a:pt x="1022339" y="1164054"/>
                    <a:pt x="1002401" y="1183991"/>
                  </a:cubicBezTo>
                  <a:cubicBezTo>
                    <a:pt x="982464" y="1203929"/>
                    <a:pt x="955423" y="1215130"/>
                    <a:pt x="927227" y="1215130"/>
                  </a:cubicBezTo>
                  <a:lnTo>
                    <a:pt x="106313" y="1215130"/>
                  </a:lnTo>
                  <a:cubicBezTo>
                    <a:pt x="78117" y="1215130"/>
                    <a:pt x="51076" y="1203929"/>
                    <a:pt x="31138" y="1183991"/>
                  </a:cubicBezTo>
                  <a:cubicBezTo>
                    <a:pt x="11201" y="1164054"/>
                    <a:pt x="0" y="1137013"/>
                    <a:pt x="0" y="1108817"/>
                  </a:cubicBezTo>
                  <a:lnTo>
                    <a:pt x="0" y="106313"/>
                  </a:lnTo>
                  <a:cubicBezTo>
                    <a:pt x="0" y="78117"/>
                    <a:pt x="11201" y="51076"/>
                    <a:pt x="31138" y="31138"/>
                  </a:cubicBezTo>
                  <a:cubicBezTo>
                    <a:pt x="51076" y="11201"/>
                    <a:pt x="78117" y="0"/>
                    <a:pt x="106313" y="0"/>
                  </a:cubicBezTo>
                  <a:close/>
                </a:path>
              </a:pathLst>
            </a:custGeom>
            <a:solidFill>
              <a:srgbClr val="F6B99D"/>
            </a:solidFill>
            <a:ln w="19050">
              <a:solidFill>
                <a:srgbClr val="F6B99D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49086" tIns="49086" rIns="49086" bIns="49086" rtlCol="0" anchor="ctr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2491199" y="2762710"/>
            <a:ext cx="841945" cy="84194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495AB"/>
            </a:solidFill>
            <a:ln w="38100">
              <a:solidFill>
                <a:srgbClr val="FFFFFF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10909706" y="2762710"/>
            <a:ext cx="841945" cy="84194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7495AB"/>
            </a:solidFill>
            <a:ln w="38100">
              <a:solidFill>
                <a:srgbClr val="FFFFFF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6589358" y="2762710"/>
            <a:ext cx="841945" cy="84194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6B99D"/>
            </a:solidFill>
            <a:ln w="38100">
              <a:solidFill>
                <a:srgbClr val="FFFFFF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15007865" y="2762710"/>
            <a:ext cx="841945" cy="84194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6B99D"/>
            </a:solidFill>
            <a:ln w="38100">
              <a:solidFill>
                <a:srgbClr val="FFFFFF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358526" y="4024087"/>
            <a:ext cx="3055456" cy="4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zh-CN" altLang="en-US" sz="2650" b="1" spc="233">
                <a:solidFill>
                  <a:srgbClr val="FFFFFF"/>
                </a:solidFill>
                <a:latin typeface="思源黑体-粗体 Bold" panose="020B0800000000000000" charset="-122"/>
              </a:rPr>
              <a:t>摄像头</a:t>
            </a:r>
            <a:endParaRPr lang="zh-CN" altLang="en-US" sz="2650" b="1" spc="233">
              <a:solidFill>
                <a:srgbClr val="FFFFFF"/>
              </a:solidFill>
              <a:latin typeface="思源黑体-粗体 Bold" panose="020B08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5482603" y="4024087"/>
            <a:ext cx="3055456" cy="4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zh-CN" altLang="en-US" sz="2650" b="1" spc="233">
                <a:solidFill>
                  <a:srgbClr val="FFFFFF"/>
                </a:solidFill>
                <a:latin typeface="思源黑体-粗体 Bold" panose="020B0800000000000000" charset="-122"/>
              </a:rPr>
              <a:t>显示屏</a:t>
            </a:r>
            <a:endParaRPr lang="zh-CN" altLang="en-US" sz="2650" b="1" spc="233">
              <a:solidFill>
                <a:srgbClr val="FFFFFF"/>
              </a:solidFill>
              <a:latin typeface="思源黑体-粗体 Bold" panose="020B08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802950" y="4024087"/>
            <a:ext cx="3055456" cy="4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zh-CN" altLang="en-US" sz="2650" b="1" spc="233">
                <a:solidFill>
                  <a:srgbClr val="FFFFFF"/>
                </a:solidFill>
                <a:latin typeface="思源黑体-粗体 Bold" panose="020B0800000000000000" charset="-122"/>
              </a:rPr>
              <a:t>信号灯</a:t>
            </a:r>
            <a:endParaRPr lang="zh-CN" altLang="en-US" sz="2650" b="1" spc="233">
              <a:solidFill>
                <a:srgbClr val="FFFFFF"/>
              </a:solidFill>
              <a:latin typeface="思源黑体-粗体 Bold" panose="020B08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3901109" y="4024087"/>
            <a:ext cx="3055456" cy="4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0"/>
              </a:lnSpc>
              <a:spcBef>
                <a:spcPct val="0"/>
              </a:spcBef>
            </a:pPr>
            <a:r>
              <a:rPr lang="zh-CN" altLang="en-US" sz="2650" b="1" spc="233">
                <a:solidFill>
                  <a:srgbClr val="FFFFFF"/>
                </a:solidFill>
                <a:latin typeface="思源黑体-粗体 Bold" panose="020B0800000000000000" charset="-122"/>
              </a:rPr>
              <a:t>网关设备</a:t>
            </a:r>
            <a:endParaRPr lang="zh-CN" altLang="en-US" sz="2650" b="1" spc="233">
              <a:solidFill>
                <a:srgbClr val="FFFFFF"/>
              </a:solidFill>
              <a:latin typeface="思源黑体-粗体 Bold" panose="020B08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353185" y="4606925"/>
            <a:ext cx="3176905" cy="27698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高清摄像头：安装在停车场入口、出口和关键区域，用于车辆进出监控和车牌识别（如自动缴费）。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全景摄像头：用于覆盖大面积区域，辅助监控车位情况及安全性​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5482603" y="4606620"/>
            <a:ext cx="3055456" cy="2077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车位信息显示屏：安装在停车场入口或内部，实时显示空闲车位数量、位置等信息，帮助车主快速找到空车位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802950" y="4606620"/>
            <a:ext cx="3055456" cy="276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车位占用指示灯：每个车位配备红绿信号灯，显示该车位的占用状态，红灯表示占用，绿灯表示空闲。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交通信号灯：用于引导车辆在停车场内的流动和停车操作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901109" y="4606620"/>
            <a:ext cx="3055456" cy="1384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400" spc="44">
                <a:solidFill>
                  <a:srgbClr val="FFFFFF"/>
                </a:solidFill>
                <a:ea typeface="思源黑体 2" panose="020B0500000000000000" charset="-122"/>
              </a:rPr>
              <a:t>LoRa网关或NB-IoT网关：负责将传感器采集的数据传输到云端，连接物联网平台</a:t>
            </a:r>
            <a:endParaRPr lang="en-US" sz="2400" spc="44">
              <a:solidFill>
                <a:srgbClr val="FFFFFF"/>
              </a:solidFill>
              <a:ea typeface="思源黑体 2" panose="020B05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550098" y="2733439"/>
            <a:ext cx="724147" cy="81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sz="4790" spc="201">
                <a:solidFill>
                  <a:srgbClr val="FFFFFF"/>
                </a:solidFill>
                <a:latin typeface="Open Sans" panose="020B0606030504020204"/>
              </a:rPr>
              <a:t>1</a:t>
            </a:r>
            <a:endParaRPr lang="en-US" sz="4790" spc="201">
              <a:solidFill>
                <a:srgbClr val="FFFFFF"/>
              </a:solidFill>
              <a:latin typeface="Open Sans" panose="020B0606030504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968605" y="2733439"/>
            <a:ext cx="724147" cy="81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sz="4790" spc="201">
                <a:solidFill>
                  <a:srgbClr val="FFFFFF"/>
                </a:solidFill>
                <a:latin typeface="Open Sans" panose="020B0606030504020204"/>
              </a:rPr>
              <a:t>3</a:t>
            </a:r>
            <a:endParaRPr lang="en-US" sz="4790" spc="201">
              <a:solidFill>
                <a:srgbClr val="FFFFFF"/>
              </a:solidFill>
              <a:latin typeface="Open Sans" panose="020B0606030504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648257" y="2733439"/>
            <a:ext cx="724147" cy="81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sz="4790" spc="201">
                <a:solidFill>
                  <a:srgbClr val="FFFFFF"/>
                </a:solidFill>
                <a:latin typeface="Open Sans" panose="020B0606030504020204"/>
              </a:rPr>
              <a:t>2</a:t>
            </a:r>
            <a:endParaRPr lang="en-US" sz="4790" spc="201">
              <a:solidFill>
                <a:srgbClr val="FFFFFF"/>
              </a:solidFill>
              <a:latin typeface="Open Sans" panose="020B0606030504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5066764" y="2733439"/>
            <a:ext cx="724147" cy="814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0"/>
              </a:lnSpc>
              <a:spcBef>
                <a:spcPct val="0"/>
              </a:spcBef>
            </a:pPr>
            <a:r>
              <a:rPr lang="en-US" sz="4790" spc="201">
                <a:solidFill>
                  <a:srgbClr val="FFFFFF"/>
                </a:solidFill>
                <a:latin typeface="Open Sans" panose="020B0606030504020204"/>
              </a:rPr>
              <a:t>4</a:t>
            </a:r>
            <a:endParaRPr lang="en-US" sz="4790" spc="201">
              <a:solidFill>
                <a:srgbClr val="FFFFFF"/>
              </a:solidFill>
              <a:latin typeface="Open Sans" panose="020B0606030504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4419805" y="1181274"/>
            <a:ext cx="951591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主要物理设备</a:t>
            </a:r>
            <a:endParaRPr lang="zh-CN" altLang="en-US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 rot="20580000">
            <a:off x="2421255" y="2989580"/>
            <a:ext cx="3982085" cy="5693410"/>
            <a:chOff x="0" y="0"/>
            <a:chExt cx="844744" cy="812800"/>
          </a:xfrm>
        </p:grpSpPr>
        <p:sp>
          <p:nvSpPr>
            <p:cNvPr id="8" name="Freeform 8"/>
            <p:cNvSpPr/>
            <p:nvPr/>
          </p:nvSpPr>
          <p:spPr>
            <a:xfrm>
              <a:off x="17786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6" y="0"/>
                  </a:moveTo>
                  <a:cubicBezTo>
                    <a:pt x="628325" y="1001"/>
                    <a:pt x="809173" y="182659"/>
                    <a:pt x="809173" y="406400"/>
                  </a:cubicBezTo>
                  <a:cubicBezTo>
                    <a:pt x="809173" y="630141"/>
                    <a:pt x="628325" y="811799"/>
                    <a:pt x="404586" y="812800"/>
                  </a:cubicBezTo>
                  <a:cubicBezTo>
                    <a:pt x="180847" y="811799"/>
                    <a:pt x="0" y="630141"/>
                    <a:pt x="0" y="406400"/>
                  </a:cubicBezTo>
                  <a:cubicBezTo>
                    <a:pt x="0" y="182659"/>
                    <a:pt x="180847" y="1001"/>
                    <a:pt x="4045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>
              <a:solidFill>
                <a:srgbClr val="7495A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b="1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4648405" y="1028874"/>
            <a:ext cx="951591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传感器</a:t>
            </a:r>
            <a:endParaRPr lang="zh-CN" altLang="en-US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576037" y="2910840"/>
            <a:ext cx="10622053" cy="935990"/>
            <a:chOff x="10108" y="4980"/>
            <a:chExt cx="16728" cy="1474"/>
          </a:xfrm>
        </p:grpSpPr>
        <p:grpSp>
          <p:nvGrpSpPr>
            <p:cNvPr id="12" name="Group 12"/>
            <p:cNvGrpSpPr/>
            <p:nvPr/>
          </p:nvGrpSpPr>
          <p:grpSpPr>
            <a:xfrm rot="0">
              <a:off x="10108" y="5004"/>
              <a:ext cx="1364" cy="1364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495AB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2" name="组合 31"/>
            <p:cNvGrpSpPr/>
            <p:nvPr/>
          </p:nvGrpSpPr>
          <p:grpSpPr>
            <a:xfrm>
              <a:off x="10108" y="4980"/>
              <a:ext cx="16728" cy="1474"/>
              <a:chOff x="10108" y="4980"/>
              <a:chExt cx="16728" cy="147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1999" y="4980"/>
                <a:ext cx="10887" cy="78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900"/>
                  </a:lnSpc>
                </a:pPr>
                <a:r>
                  <a:rPr lang="en-US" sz="3365">
                    <a:solidFill>
                      <a:srgbClr val="16496B"/>
                    </a:solidFill>
                    <a:ea typeface="思源黑体-粗体 Bold" panose="020B0800000000000000" charset="-122"/>
                    <a:sym typeface="+mn-ea"/>
                  </a:rPr>
                  <a:t>超声波传感器：</a:t>
                </a:r>
                <a:endParaRPr lang="en-US" sz="3365">
                  <a:solidFill>
                    <a:srgbClr val="16496B"/>
                  </a:solidFill>
                  <a:ea typeface="思源黑体-粗体 Bold" panose="020B0800000000000000" charset="-122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064" y="5930"/>
                <a:ext cx="14772" cy="5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2595"/>
                  </a:lnSpc>
                </a:pPr>
                <a:r>
                  <a:rPr lang="en-US" sz="2800" spc="43">
                    <a:solidFill>
                      <a:srgbClr val="737373"/>
                    </a:solidFill>
                    <a:ea typeface="思源黑体 1" panose="020B0500000000000000" charset="-122"/>
                  </a:rPr>
                  <a:t>用于探测车位上方的车辆是否存在，适用于地上车位检测</a:t>
                </a:r>
                <a:endParaRPr lang="en-US" sz="2800" spc="43">
                  <a:solidFill>
                    <a:srgbClr val="737373"/>
                  </a:solidFill>
                  <a:ea typeface="思源黑体 1" panose="020B0500000000000000" charset="-122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108" y="5000"/>
                <a:ext cx="1364" cy="12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445"/>
                  </a:lnSpc>
                  <a:spcBef>
                    <a:spcPct val="0"/>
                  </a:spcBef>
                </a:pPr>
                <a:r>
                  <a:rPr lang="en-US" sz="4605" spc="193">
                    <a:solidFill>
                      <a:srgbClr val="FFFFFF"/>
                    </a:solidFill>
                    <a:latin typeface="Open Sans" panose="020B0606030504020204"/>
                  </a:rPr>
                  <a:t>1</a:t>
                </a:r>
                <a:endParaRPr lang="en-US" sz="4605" spc="193">
                  <a:solidFill>
                    <a:srgbClr val="FFFFFF"/>
                  </a:solidFill>
                  <a:latin typeface="Open Sans" panose="020B0606030504020204"/>
                </a:endParaRPr>
              </a:p>
            </p:txBody>
          </p:sp>
        </p:grpSp>
      </p:grpSp>
      <p:grpSp>
        <p:nvGrpSpPr>
          <p:cNvPr id="37" name="组合 36"/>
          <p:cNvGrpSpPr/>
          <p:nvPr/>
        </p:nvGrpSpPr>
        <p:grpSpPr>
          <a:xfrm>
            <a:off x="6103847" y="6313949"/>
            <a:ext cx="9742578" cy="991091"/>
            <a:chOff x="10108" y="12333"/>
            <a:chExt cx="15343" cy="1561"/>
          </a:xfrm>
        </p:grpSpPr>
        <p:grpSp>
          <p:nvGrpSpPr>
            <p:cNvPr id="15" name="Group 15"/>
            <p:cNvGrpSpPr/>
            <p:nvPr/>
          </p:nvGrpSpPr>
          <p:grpSpPr>
            <a:xfrm rot="0">
              <a:off x="10108" y="12338"/>
              <a:ext cx="1364" cy="1364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495AB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4" name="组合 33"/>
            <p:cNvGrpSpPr/>
            <p:nvPr/>
          </p:nvGrpSpPr>
          <p:grpSpPr>
            <a:xfrm>
              <a:off x="10108" y="12333"/>
              <a:ext cx="15343" cy="1561"/>
              <a:chOff x="10108" y="12333"/>
              <a:chExt cx="15343" cy="1561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11744" y="12338"/>
                <a:ext cx="10887" cy="78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900"/>
                  </a:lnSpc>
                </a:pPr>
                <a:r>
                  <a:rPr lang="zh-CN" altLang="en-US" sz="3365">
                    <a:solidFill>
                      <a:srgbClr val="16496B"/>
                    </a:solidFill>
                    <a:ea typeface="思源黑体-粗体 Bold" panose="020B0800000000000000" charset="-122"/>
                  </a:rPr>
                  <a:t>红外传感器：</a:t>
                </a:r>
                <a:endParaRPr lang="zh-CN" altLang="en-US" sz="3365">
                  <a:solidFill>
                    <a:srgbClr val="16496B"/>
                  </a:solidFill>
                  <a:ea typeface="思源黑体-粗体 Bold" panose="020B0800000000000000" charset="-122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1776" y="13370"/>
                <a:ext cx="13675" cy="52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2595"/>
                  </a:lnSpc>
                </a:pPr>
                <a:r>
                  <a:rPr lang="en-US" sz="2800" spc="43">
                    <a:solidFill>
                      <a:srgbClr val="737373"/>
                    </a:solidFill>
                    <a:ea typeface="思源黑体 1" panose="020B0500000000000000" charset="-122"/>
                  </a:rPr>
                  <a:t>通过检测车辆红外线信号的遮挡来判断车位的占用状态。</a:t>
                </a:r>
                <a:endParaRPr lang="en-US" sz="1730" spc="43">
                  <a:solidFill>
                    <a:srgbClr val="737373"/>
                  </a:solidFill>
                  <a:ea typeface="思源黑体 1" panose="020B0500000000000000" charset="-122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108" y="12333"/>
                <a:ext cx="1364" cy="12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445"/>
                  </a:lnSpc>
                  <a:spcBef>
                    <a:spcPct val="0"/>
                  </a:spcBef>
                </a:pPr>
                <a:r>
                  <a:rPr lang="en-US" sz="4605" spc="193">
                    <a:solidFill>
                      <a:srgbClr val="FFFFFF"/>
                    </a:solidFill>
                    <a:latin typeface="Open Sans" panose="020B0606030504020204"/>
                  </a:rPr>
                  <a:t>3</a:t>
                </a:r>
                <a:endParaRPr lang="en-US" sz="4605" spc="193">
                  <a:solidFill>
                    <a:srgbClr val="FFFFFF"/>
                  </a:solidFill>
                  <a:latin typeface="Open Sans" panose="020B0606030504020204"/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5817844" y="4394835"/>
            <a:ext cx="9984766" cy="1384935"/>
            <a:chOff x="11820" y="8153"/>
            <a:chExt cx="15724" cy="2181"/>
          </a:xfrm>
        </p:grpSpPr>
        <p:grpSp>
          <p:nvGrpSpPr>
            <p:cNvPr id="18" name="Group 18"/>
            <p:cNvGrpSpPr/>
            <p:nvPr/>
          </p:nvGrpSpPr>
          <p:grpSpPr>
            <a:xfrm rot="0">
              <a:off x="11820" y="8618"/>
              <a:ext cx="1364" cy="1364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6B99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1820" y="8153"/>
              <a:ext cx="15724" cy="2181"/>
              <a:chOff x="11820" y="8153"/>
              <a:chExt cx="15724" cy="218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13824" y="8153"/>
                <a:ext cx="10887" cy="78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3900"/>
                  </a:lnSpc>
                </a:pPr>
                <a:r>
                  <a:rPr lang="en-US" sz="3365">
                    <a:solidFill>
                      <a:srgbClr val="F6B99D"/>
                    </a:solidFill>
                    <a:ea typeface="思源黑体-粗体 Bold" panose="020B0800000000000000" charset="-122"/>
                  </a:rPr>
                  <a:t>地磁传</a:t>
                </a:r>
                <a:r>
                  <a:rPr lang="en-US" sz="3365">
                    <a:solidFill>
                      <a:srgbClr val="F6B99D"/>
                    </a:solidFill>
                    <a:ea typeface="思源黑体-粗体 Bold" panose="020B0800000000000000" charset="-122"/>
                    <a:sym typeface="+mn-ea"/>
                  </a:rPr>
                  <a:t>感器：</a:t>
                </a:r>
                <a:endParaRPr lang="en-US" sz="3365">
                  <a:solidFill>
                    <a:srgbClr val="F6B99D"/>
                  </a:solidFill>
                  <a:ea typeface="思源黑体-粗体 Bold" panose="020B0800000000000000" charset="-122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3824" y="9084"/>
                <a:ext cx="13720" cy="12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indent="0" fontAlgn="auto">
                  <a:lnSpc>
                    <a:spcPts val="3095"/>
                  </a:lnSpc>
                </a:pPr>
                <a:r>
                  <a:rPr lang="en-US" sz="2800" spc="43">
                    <a:solidFill>
                      <a:srgbClr val="737373"/>
                    </a:solidFill>
                    <a:ea typeface="思源黑体 1" panose="020B0500000000000000" charset="-122"/>
                  </a:rPr>
                  <a:t>安装在车位上，检测磁场变化来判断车位是否被占用，常用于地下或室外停车场</a:t>
                </a:r>
                <a:endParaRPr lang="en-US" sz="1730" spc="43">
                  <a:solidFill>
                    <a:srgbClr val="737373"/>
                  </a:solidFill>
                  <a:ea typeface="思源黑体 1" panose="020B0500000000000000" charset="-122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1820" y="8614"/>
                <a:ext cx="1364" cy="1238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6445"/>
                  </a:lnSpc>
                  <a:spcBef>
                    <a:spcPct val="0"/>
                  </a:spcBef>
                </a:pPr>
                <a:r>
                  <a:rPr lang="en-US" sz="4605" spc="193">
                    <a:solidFill>
                      <a:srgbClr val="FFFFFF"/>
                    </a:solidFill>
                    <a:latin typeface="Open Sans" panose="020B0606030504020204"/>
                  </a:rPr>
                  <a:t>2</a:t>
                </a:r>
                <a:endParaRPr lang="en-US" sz="4605" spc="193">
                  <a:solidFill>
                    <a:srgbClr val="FFFFFF"/>
                  </a:solidFill>
                  <a:latin typeface="Open Sans" panose="020B0606030504020204"/>
                </a:endParaRPr>
              </a:p>
            </p:txBody>
          </p:sp>
        </p:grpSp>
      </p:grpSp>
      <p:grpSp>
        <p:nvGrpSpPr>
          <p:cNvPr id="39" name="Group 7"/>
          <p:cNvGrpSpPr/>
          <p:nvPr/>
        </p:nvGrpSpPr>
        <p:grpSpPr>
          <a:xfrm rot="20700000">
            <a:off x="2632710" y="3867785"/>
            <a:ext cx="2950210" cy="4136390"/>
            <a:chOff x="0" y="0"/>
            <a:chExt cx="844744" cy="812800"/>
          </a:xfrm>
        </p:grpSpPr>
        <p:sp>
          <p:nvSpPr>
            <p:cNvPr id="40" name="Freeform 8"/>
            <p:cNvSpPr/>
            <p:nvPr/>
          </p:nvSpPr>
          <p:spPr>
            <a:xfrm>
              <a:off x="17786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6" y="0"/>
                  </a:moveTo>
                  <a:cubicBezTo>
                    <a:pt x="628325" y="1001"/>
                    <a:pt x="809173" y="182659"/>
                    <a:pt x="809173" y="406400"/>
                  </a:cubicBezTo>
                  <a:cubicBezTo>
                    <a:pt x="809173" y="630141"/>
                    <a:pt x="628325" y="811799"/>
                    <a:pt x="404586" y="812800"/>
                  </a:cubicBezTo>
                  <a:cubicBezTo>
                    <a:pt x="180847" y="811799"/>
                    <a:pt x="0" y="630141"/>
                    <a:pt x="0" y="406400"/>
                  </a:cubicBezTo>
                  <a:cubicBezTo>
                    <a:pt x="0" y="182659"/>
                    <a:pt x="180847" y="1001"/>
                    <a:pt x="40458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>
              <a:solidFill>
                <a:srgbClr val="7495AB"/>
              </a:solidFill>
            </a:ln>
          </p:spPr>
        </p:sp>
        <p:sp>
          <p:nvSpPr>
            <p:cNvPr id="41" name="TextBox 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p>
              <a:pPr algn="ctr">
                <a:lnSpc>
                  <a:spcPts val="2660"/>
                </a:lnSpc>
              </a:pPr>
              <a:endParaRPr b="1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912360" y="8039100"/>
            <a:ext cx="8106410" cy="1033780"/>
            <a:chOff x="11820" y="8495"/>
            <a:chExt cx="12766" cy="1628"/>
          </a:xfrm>
        </p:grpSpPr>
        <p:grpSp>
          <p:nvGrpSpPr>
            <p:cNvPr id="43" name="Group 18"/>
            <p:cNvGrpSpPr/>
            <p:nvPr/>
          </p:nvGrpSpPr>
          <p:grpSpPr>
            <a:xfrm rot="0">
              <a:off x="11820" y="8618"/>
              <a:ext cx="1364" cy="1364"/>
              <a:chOff x="0" y="0"/>
              <a:chExt cx="812800" cy="812800"/>
            </a:xfrm>
          </p:grpSpPr>
          <p:sp>
            <p:nvSpPr>
              <p:cNvPr id="44" name="Freeform 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6B99D"/>
              </a:solidFill>
            </p:spPr>
          </p:sp>
          <p:sp>
            <p:nvSpPr>
              <p:cNvPr id="45" name="TextBox 20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11820" y="8495"/>
              <a:ext cx="12766" cy="1628"/>
              <a:chOff x="11820" y="8495"/>
              <a:chExt cx="12766" cy="1628"/>
            </a:xfrm>
          </p:grpSpPr>
          <p:sp>
            <p:nvSpPr>
              <p:cNvPr id="47" name="TextBox 23"/>
              <p:cNvSpPr txBox="1"/>
              <p:nvPr/>
            </p:nvSpPr>
            <p:spPr>
              <a:xfrm>
                <a:off x="13699" y="8495"/>
                <a:ext cx="10887" cy="787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p>
                <a:pPr>
                  <a:lnSpc>
                    <a:spcPts val="3900"/>
                  </a:lnSpc>
                </a:pPr>
                <a:r>
                  <a:rPr lang="zh-CN" altLang="en-US" sz="3365">
                    <a:solidFill>
                      <a:srgbClr val="F6B99D"/>
                    </a:solidFill>
                    <a:ea typeface="思源黑体-粗体 Bold" panose="020B0800000000000000" charset="-122"/>
                  </a:rPr>
                  <a:t>压力传感器：</a:t>
                </a:r>
                <a:endParaRPr lang="zh-CN" altLang="en-US" sz="3365">
                  <a:solidFill>
                    <a:srgbClr val="F6B99D"/>
                  </a:solidFill>
                  <a:ea typeface="思源黑体-粗体 Bold" panose="020B0800000000000000" charset="-122"/>
                </a:endParaRPr>
              </a:p>
            </p:txBody>
          </p:sp>
          <p:sp>
            <p:nvSpPr>
              <p:cNvPr id="48" name="TextBox 26"/>
              <p:cNvSpPr txBox="1"/>
              <p:nvPr/>
            </p:nvSpPr>
            <p:spPr>
              <a:xfrm>
                <a:off x="13699" y="9599"/>
                <a:ext cx="10887" cy="52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p>
                <a:pPr>
                  <a:lnSpc>
                    <a:spcPts val="2595"/>
                  </a:lnSpc>
                </a:pPr>
                <a:r>
                  <a:rPr lang="en-US" sz="2800" spc="43">
                    <a:solidFill>
                      <a:srgbClr val="737373"/>
                    </a:solidFill>
                    <a:ea typeface="思源黑体 1" panose="020B0500000000000000" charset="-122"/>
                  </a:rPr>
                  <a:t>通过测量车辆重量来判断车位占用情况</a:t>
                </a:r>
                <a:endParaRPr lang="en-US" sz="2800" spc="43">
                  <a:solidFill>
                    <a:srgbClr val="737373"/>
                  </a:solidFill>
                  <a:ea typeface="思源黑体 1" panose="020B0500000000000000" charset="-122"/>
                </a:endParaRPr>
              </a:p>
            </p:txBody>
          </p:sp>
          <p:sp>
            <p:nvSpPr>
              <p:cNvPr id="49" name="TextBox 31"/>
              <p:cNvSpPr txBox="1"/>
              <p:nvPr/>
            </p:nvSpPr>
            <p:spPr>
              <a:xfrm>
                <a:off x="11820" y="8614"/>
                <a:ext cx="1364" cy="1301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p>
                <a:pPr algn="ctr">
                  <a:lnSpc>
                    <a:spcPts val="6445"/>
                  </a:lnSpc>
                  <a:spcBef>
                    <a:spcPct val="0"/>
                  </a:spcBef>
                </a:pPr>
                <a:r>
                  <a:rPr lang="en-US" sz="4605" spc="193">
                    <a:solidFill>
                      <a:srgbClr val="FFFFFF"/>
                    </a:solidFill>
                    <a:latin typeface="Open Sans" panose="020B0606030504020204"/>
                  </a:rPr>
                  <a:t>4</a:t>
                </a:r>
                <a:endParaRPr lang="en-US" sz="4605" spc="193">
                  <a:solidFill>
                    <a:srgbClr val="FFFFFF"/>
                  </a:solidFill>
                  <a:latin typeface="Open Sans" panose="020B0606030504020204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4293809">
            <a:off x="-688329" y="7790159"/>
            <a:ext cx="2836519" cy="370786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8581">
            <a:off x="-4499683" y="7426977"/>
            <a:ext cx="8999366" cy="4434233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6646896">
            <a:off x="14013497" y="-3181377"/>
            <a:ext cx="6877785" cy="7307014"/>
            <a:chOff x="0" y="0"/>
            <a:chExt cx="9170380" cy="974268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0020101" flipV="1">
              <a:off x="1453372" y="609703"/>
              <a:ext cx="6263636" cy="7392704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708"/>
            <a:stretch>
              <a:fillRect/>
            </a:stretch>
          </p:blipFill>
          <p:spPr>
            <a:xfrm rot="7654232">
              <a:off x="907983" y="2069484"/>
              <a:ext cx="7354414" cy="5912311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 rot="-4937986">
            <a:off x="-1726090" y="-1748908"/>
            <a:ext cx="6005388" cy="6286112"/>
            <a:chOff x="0" y="0"/>
            <a:chExt cx="8007184" cy="8381483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alphaModFix amt="7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4068957">
              <a:off x="932313" y="1306613"/>
              <a:ext cx="6142557" cy="6142557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804865">
              <a:off x="3113361" y="435226"/>
              <a:ext cx="4356786" cy="514213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 rot="0">
            <a:off x="13739375" y="6499562"/>
            <a:ext cx="5424934" cy="4641848"/>
            <a:chOff x="0" y="0"/>
            <a:chExt cx="7233245" cy="6189131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6190578" cy="548640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2336840">
              <a:off x="4054922" y="2579198"/>
              <a:ext cx="2445399" cy="3196600"/>
            </a:xfrm>
            <a:prstGeom prst="rect">
              <a:avLst/>
            </a:prstGeom>
          </p:spPr>
        </p:pic>
      </p:grpSp>
      <p:sp>
        <p:nvSpPr>
          <p:cNvPr id="13" name="TextBox 13"/>
          <p:cNvSpPr txBox="1"/>
          <p:nvPr/>
        </p:nvSpPr>
        <p:spPr>
          <a:xfrm>
            <a:off x="3541099" y="4992951"/>
            <a:ext cx="11205803" cy="1778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70"/>
              </a:lnSpc>
              <a:spcBef>
                <a:spcPct val="0"/>
              </a:spcBef>
            </a:pPr>
            <a:r>
              <a:rPr lang="zh-CN" altLang="en-US" sz="9910">
                <a:solidFill>
                  <a:srgbClr val="16496B"/>
                </a:solidFill>
                <a:latin typeface="思源黑体-粗体 Bold" panose="020B0800000000000000" charset="-122"/>
              </a:rPr>
              <a:t>技术架构</a:t>
            </a:r>
            <a:endParaRPr lang="zh-CN" altLang="en-US" sz="9910">
              <a:solidFill>
                <a:srgbClr val="16496B"/>
              </a:solidFill>
              <a:latin typeface="思源黑体-粗体 Bold" panose="020B08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086378" y="3751465"/>
            <a:ext cx="3615701" cy="98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15"/>
              </a:lnSpc>
            </a:pPr>
            <a:r>
              <a:rPr lang="en-US" sz="6595" spc="217">
                <a:solidFill>
                  <a:srgbClr val="16496B"/>
                </a:solidFill>
                <a:latin typeface="Aileron Heavy" panose="00000A00000000000000"/>
              </a:rPr>
              <a:t>PART</a:t>
            </a:r>
            <a:endParaRPr lang="en-US" sz="6595" spc="217">
              <a:solidFill>
                <a:srgbClr val="16496B"/>
              </a:solidFill>
              <a:latin typeface="Aileron Heavy" panose="00000A00000000000000"/>
            </a:endParaRPr>
          </a:p>
        </p:txBody>
      </p:sp>
      <p:grpSp>
        <p:nvGrpSpPr>
          <p:cNvPr id="16" name="Group 16"/>
          <p:cNvGrpSpPr/>
          <p:nvPr/>
        </p:nvGrpSpPr>
        <p:grpSpPr>
          <a:xfrm rot="0">
            <a:off x="10202536" y="3741940"/>
            <a:ext cx="999086" cy="99908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6B99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02536" y="3623944"/>
            <a:ext cx="999086" cy="1111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>
                <a:solidFill>
                  <a:srgbClr val="FFFFFF"/>
                </a:solidFill>
                <a:latin typeface="Aileron Regular Bold" panose="00000800000000000000"/>
              </a:rPr>
              <a:t>3</a:t>
            </a:r>
            <a:endParaRPr lang="en-US" sz="6500">
              <a:solidFill>
                <a:srgbClr val="FFFFFF"/>
              </a:solidFill>
              <a:latin typeface="Aileron Regular Bold" panose="000008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812167">
            <a:off x="-1961250" y="5384761"/>
            <a:ext cx="21433519" cy="2057617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446166" y="3174811"/>
            <a:ext cx="4834077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500">
                <a:solidFill>
                  <a:srgbClr val="FFFFFF"/>
                </a:solidFill>
                <a:ea typeface="思源黑体-粗体 Bold" panose="020B0800000000000000" charset="-122"/>
              </a:rPr>
              <a:t>不足之处</a:t>
            </a:r>
            <a:endParaRPr lang="en-US" sz="3500">
              <a:solidFill>
                <a:srgbClr val="FFFFFF"/>
              </a:solidFill>
              <a:ea typeface="思源黑体-粗体 Bold" panose="020B0800000000000000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723900"/>
            <a:ext cx="9677400" cy="916686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476500" y="2186940"/>
            <a:ext cx="1028700" cy="64617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系统的应用架构图</a:t>
            </a:r>
            <a:endParaRPr lang="zh-CN" altLang="en-US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4188315">
            <a:off x="-3517084" y="-4769368"/>
            <a:ext cx="7773009" cy="7462089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13634448" y="6377143"/>
            <a:ext cx="9521218" cy="9999086"/>
            <a:chOff x="0" y="0"/>
            <a:chExt cx="12694958" cy="1333211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/>
            </a:stretch>
          </p:blipFill>
          <p:spPr>
            <a:xfrm rot="-1299492">
              <a:off x="1908412" y="1423094"/>
              <a:ext cx="9446518" cy="9068657"/>
            </a:xfrm>
            <a:prstGeom prst="rect">
              <a:avLst/>
            </a:prstGeom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 rot="812167">
              <a:off x="930097" y="3283892"/>
              <a:ext cx="9446518" cy="9068657"/>
            </a:xfrm>
            <a:prstGeom prst="rect">
              <a:avLst/>
            </a:prstGeom>
          </p:spPr>
        </p:pic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 rot="2534271">
            <a:off x="-4337359" y="-3575806"/>
            <a:ext cx="6599853" cy="6335859"/>
          </a:xfrm>
          <a:prstGeom prst="rect">
            <a:avLst/>
          </a:prstGeom>
        </p:spPr>
      </p:pic>
      <p:grpSp>
        <p:nvGrpSpPr>
          <p:cNvPr id="7" name="Group 7"/>
          <p:cNvGrpSpPr/>
          <p:nvPr>
            <p:custDataLst>
              <p:tags r:id="rId9"/>
            </p:custDataLst>
          </p:nvPr>
        </p:nvGrpSpPr>
        <p:grpSpPr>
          <a:xfrm rot="0">
            <a:off x="1028700" y="5335764"/>
            <a:ext cx="4252135" cy="1236708"/>
            <a:chOff x="0" y="0"/>
            <a:chExt cx="1397313" cy="406400"/>
          </a:xfrm>
        </p:grpSpPr>
        <p:sp>
          <p:nvSpPr>
            <p:cNvPr id="8" name="Freeform 8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397313" cy="406400"/>
            </a:xfrm>
            <a:custGeom>
              <a:avLst/>
              <a:gdLst/>
              <a:ahLst/>
              <a:cxnLst/>
              <a:rect l="l" t="t" r="r" b="b"/>
              <a:pathLst>
                <a:path w="1397313" h="406400">
                  <a:moveTo>
                    <a:pt x="0" y="0"/>
                  </a:moveTo>
                  <a:lnTo>
                    <a:pt x="1194113" y="0"/>
                  </a:lnTo>
                  <a:lnTo>
                    <a:pt x="1397313" y="203200"/>
                  </a:lnTo>
                  <a:lnTo>
                    <a:pt x="119411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5A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0" name="Group 10"/>
          <p:cNvGrpSpPr/>
          <p:nvPr>
            <p:custDataLst>
              <p:tags r:id="rId11"/>
            </p:custDataLst>
          </p:nvPr>
        </p:nvGrpSpPr>
        <p:grpSpPr>
          <a:xfrm rot="0">
            <a:off x="5021522" y="5335764"/>
            <a:ext cx="4252135" cy="1236708"/>
            <a:chOff x="0" y="0"/>
            <a:chExt cx="1397313" cy="406400"/>
          </a:xfrm>
        </p:grpSpPr>
        <p:sp>
          <p:nvSpPr>
            <p:cNvPr id="11" name="Freeform 11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397313" cy="406400"/>
            </a:xfrm>
            <a:custGeom>
              <a:avLst/>
              <a:gdLst/>
              <a:ahLst/>
              <a:cxnLst/>
              <a:rect l="l" t="t" r="r" b="b"/>
              <a:pathLst>
                <a:path w="1397313" h="406400">
                  <a:moveTo>
                    <a:pt x="0" y="0"/>
                  </a:moveTo>
                  <a:lnTo>
                    <a:pt x="1194113" y="0"/>
                  </a:lnTo>
                  <a:lnTo>
                    <a:pt x="1397313" y="203200"/>
                  </a:lnTo>
                  <a:lnTo>
                    <a:pt x="119411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99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3" name="Group 13"/>
          <p:cNvGrpSpPr/>
          <p:nvPr>
            <p:custDataLst>
              <p:tags r:id="rId13"/>
            </p:custDataLst>
          </p:nvPr>
        </p:nvGrpSpPr>
        <p:grpSpPr>
          <a:xfrm rot="0">
            <a:off x="9014343" y="5335764"/>
            <a:ext cx="4252135" cy="1236708"/>
            <a:chOff x="0" y="0"/>
            <a:chExt cx="1397313" cy="406400"/>
          </a:xfrm>
        </p:grpSpPr>
        <p:sp>
          <p:nvSpPr>
            <p:cNvPr id="14" name="Freeform 14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397313" cy="406400"/>
            </a:xfrm>
            <a:custGeom>
              <a:avLst/>
              <a:gdLst/>
              <a:ahLst/>
              <a:cxnLst/>
              <a:rect l="l" t="t" r="r" b="b"/>
              <a:pathLst>
                <a:path w="1397313" h="406400">
                  <a:moveTo>
                    <a:pt x="0" y="0"/>
                  </a:moveTo>
                  <a:lnTo>
                    <a:pt x="1194113" y="0"/>
                  </a:lnTo>
                  <a:lnTo>
                    <a:pt x="1397313" y="203200"/>
                  </a:lnTo>
                  <a:lnTo>
                    <a:pt x="119411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495A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16" name="Group 16"/>
          <p:cNvGrpSpPr/>
          <p:nvPr>
            <p:custDataLst>
              <p:tags r:id="rId15"/>
            </p:custDataLst>
          </p:nvPr>
        </p:nvGrpSpPr>
        <p:grpSpPr>
          <a:xfrm rot="0">
            <a:off x="13007165" y="5335764"/>
            <a:ext cx="4252135" cy="1236708"/>
            <a:chOff x="0" y="0"/>
            <a:chExt cx="1397313" cy="406400"/>
          </a:xfrm>
        </p:grpSpPr>
        <p:sp>
          <p:nvSpPr>
            <p:cNvPr id="17" name="Freeform 17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397313" cy="406400"/>
            </a:xfrm>
            <a:custGeom>
              <a:avLst/>
              <a:gdLst/>
              <a:ahLst/>
              <a:cxnLst/>
              <a:rect l="l" t="t" r="r" b="b"/>
              <a:pathLst>
                <a:path w="1397313" h="406400">
                  <a:moveTo>
                    <a:pt x="0" y="0"/>
                  </a:moveTo>
                  <a:lnTo>
                    <a:pt x="1194113" y="0"/>
                  </a:lnTo>
                  <a:lnTo>
                    <a:pt x="1397313" y="203200"/>
                  </a:lnTo>
                  <a:lnTo>
                    <a:pt x="1194113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99D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4386150" y="787574"/>
            <a:ext cx="9515917" cy="987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系统应用架构</a:t>
            </a:r>
            <a:r>
              <a:rPr lang="zh-CN" altLang="en-US" sz="5500">
                <a:solidFill>
                  <a:srgbClr val="16496B"/>
                </a:solidFill>
                <a:ea typeface="思源黑体-粗体 Bold" panose="020B0800000000000000" charset="-122"/>
              </a:rPr>
              <a:t>说明</a:t>
            </a:r>
            <a:endParaRPr lang="zh-CN" altLang="en-US" sz="5500">
              <a:solidFill>
                <a:srgbClr val="16496B"/>
              </a:solidFill>
              <a:ea typeface="思源黑体-粗体 Bold" panose="020B0800000000000000" charset="-122"/>
            </a:endParaRPr>
          </a:p>
        </p:txBody>
      </p:sp>
      <p:sp>
        <p:nvSpPr>
          <p:cNvPr id="21" name="TextBox 21"/>
          <p:cNvSpPr txBox="1"/>
          <p:nvPr>
            <p:custDataLst>
              <p:tags r:id="rId17"/>
            </p:custDataLst>
          </p:nvPr>
        </p:nvSpPr>
        <p:spPr>
          <a:xfrm>
            <a:off x="1315268" y="5653185"/>
            <a:ext cx="3679000" cy="61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感知层</a:t>
            </a:r>
            <a:endParaRPr lang="zh-CN" altLang="en-US" sz="4100">
              <a:solidFill>
                <a:srgbClr val="FFFFFF"/>
              </a:solidFill>
              <a:latin typeface="Aileron Regular" panose="00000500000000000000"/>
            </a:endParaRPr>
          </a:p>
        </p:txBody>
      </p:sp>
      <p:sp>
        <p:nvSpPr>
          <p:cNvPr id="22" name="TextBox 22"/>
          <p:cNvSpPr txBox="1"/>
          <p:nvPr>
            <p:custDataLst>
              <p:tags r:id="rId18"/>
            </p:custDataLst>
          </p:nvPr>
        </p:nvSpPr>
        <p:spPr>
          <a:xfrm>
            <a:off x="5308089" y="5653185"/>
            <a:ext cx="3679000" cy="61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网络层</a:t>
            </a:r>
            <a:endParaRPr lang="zh-CN" altLang="en-US" sz="4100">
              <a:solidFill>
                <a:srgbClr val="FFFFFF"/>
              </a:solidFill>
              <a:latin typeface="Aileron Regular" panose="00000500000000000000"/>
            </a:endParaRPr>
          </a:p>
        </p:txBody>
      </p:sp>
      <p:sp>
        <p:nvSpPr>
          <p:cNvPr id="23" name="TextBox 23"/>
          <p:cNvSpPr txBox="1"/>
          <p:nvPr>
            <p:custDataLst>
              <p:tags r:id="rId19"/>
            </p:custDataLst>
          </p:nvPr>
        </p:nvSpPr>
        <p:spPr>
          <a:xfrm>
            <a:off x="9300911" y="5653185"/>
            <a:ext cx="3679000" cy="61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平台</a:t>
            </a: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层</a:t>
            </a:r>
            <a:endParaRPr lang="zh-CN" altLang="en-US" sz="4100">
              <a:solidFill>
                <a:srgbClr val="FFFFFF"/>
              </a:solidFill>
              <a:latin typeface="Aileron Regular" panose="00000500000000000000"/>
            </a:endParaRPr>
          </a:p>
        </p:txBody>
      </p:sp>
      <p:sp>
        <p:nvSpPr>
          <p:cNvPr id="24" name="TextBox 24"/>
          <p:cNvSpPr txBox="1"/>
          <p:nvPr>
            <p:custDataLst>
              <p:tags r:id="rId20"/>
            </p:custDataLst>
          </p:nvPr>
        </p:nvSpPr>
        <p:spPr>
          <a:xfrm>
            <a:off x="13293733" y="5653185"/>
            <a:ext cx="3679000" cy="610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应用</a:t>
            </a:r>
            <a:r>
              <a:rPr lang="zh-CN" altLang="en-US" sz="4100">
                <a:solidFill>
                  <a:srgbClr val="FFFFFF"/>
                </a:solidFill>
                <a:latin typeface="Aileron Regular" panose="00000500000000000000"/>
              </a:rPr>
              <a:t>层</a:t>
            </a:r>
            <a:endParaRPr lang="zh-CN" altLang="en-US" sz="4100">
              <a:solidFill>
                <a:srgbClr val="FFFFFF"/>
              </a:solidFill>
              <a:latin typeface="Aileron Regular" panose="00000500000000000000"/>
            </a:endParaRPr>
          </a:p>
        </p:txBody>
      </p:sp>
      <p:sp>
        <p:nvSpPr>
          <p:cNvPr id="29" name="TextBox 29"/>
          <p:cNvSpPr txBox="1"/>
          <p:nvPr>
            <p:custDataLst>
              <p:tags r:id="rId21"/>
            </p:custDataLst>
          </p:nvPr>
        </p:nvSpPr>
        <p:spPr>
          <a:xfrm>
            <a:off x="1408971" y="3332658"/>
            <a:ext cx="3491594" cy="173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传感器和摄像头等硬件设备在停车场中安装，获取停车场的实时数据，包括车辆的出入、车位的空闲状态等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，收集到的所有数据通过物联网网关发送到网络层。</a:t>
            </a:r>
            <a:endParaRPr lang="zh-CN" altLang="en-US" sz="1800" spc="45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sp>
        <p:nvSpPr>
          <p:cNvPr id="30" name="TextBox 30"/>
          <p:cNvSpPr txBox="1"/>
          <p:nvPr>
            <p:custDataLst>
              <p:tags r:id="rId22"/>
            </p:custDataLst>
          </p:nvPr>
        </p:nvSpPr>
        <p:spPr>
          <a:xfrm>
            <a:off x="9394614" y="3332658"/>
            <a:ext cx="3491594" cy="173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在云端进行数据存储、处理和分析，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云端数据库存储停车数据，大数据分析与</a:t>
            </a:r>
            <a:r>
              <a:rPr lang="en-US" altLang="zh-CN" sz="1800" spc="45">
                <a:solidFill>
                  <a:srgbClr val="737373"/>
                </a:solidFill>
                <a:ea typeface="思源黑体 1" panose="020B0500000000000000" charset="-122"/>
              </a:rPr>
              <a:t>AI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算法则提供路径规划和车位推荐服务，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最终通过</a:t>
            </a:r>
            <a:r>
              <a:rPr lang="en-US" altLang="zh-CN" sz="1800" spc="45">
                <a:solidFill>
                  <a:srgbClr val="737373"/>
                </a:solidFill>
                <a:ea typeface="思源黑体 1" panose="020B0500000000000000" charset="-122"/>
              </a:rPr>
              <a:t>API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接口连接云端平台与前端应用。</a:t>
            </a:r>
            <a:endParaRPr lang="zh-CN" altLang="en-US" sz="1800" spc="45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sp>
        <p:nvSpPr>
          <p:cNvPr id="31" name="TextBox 31"/>
          <p:cNvSpPr txBox="1"/>
          <p:nvPr>
            <p:custDataLst>
              <p:tags r:id="rId23"/>
            </p:custDataLst>
          </p:nvPr>
        </p:nvSpPr>
        <p:spPr>
          <a:xfrm>
            <a:off x="5401792" y="6869430"/>
            <a:ext cx="3491594" cy="1731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LoRa/NB-IoT等低功耗广域网，负责将感知层的数据传输到云端。LoT网关作为传感器与平台层的通信桥梁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，则</a:t>
            </a: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负责协调感知设备和云端的数据传输。</a:t>
            </a:r>
            <a:endParaRPr lang="en-US" sz="1800" spc="45">
              <a:solidFill>
                <a:srgbClr val="737373"/>
              </a:solidFill>
              <a:ea typeface="思源黑体 1" panose="020B0500000000000000" charset="-122"/>
            </a:endParaRPr>
          </a:p>
        </p:txBody>
      </p:sp>
      <p:sp>
        <p:nvSpPr>
          <p:cNvPr id="32" name="TextBox 32"/>
          <p:cNvSpPr txBox="1"/>
          <p:nvPr>
            <p:custDataLst>
              <p:tags r:id="rId24"/>
            </p:custDataLst>
          </p:nvPr>
        </p:nvSpPr>
        <p:spPr>
          <a:xfrm>
            <a:off x="13387435" y="6869430"/>
            <a:ext cx="3491594" cy="2423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为用户和管理员提供交互界面，用户可以通过App实时查询空闲车位、导航到停车场、支付停车费用，预定车位等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；</a:t>
            </a: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管理员通过后台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获取停</a:t>
            </a:r>
            <a:r>
              <a:rPr lang="en-US" sz="1800" spc="45">
                <a:solidFill>
                  <a:srgbClr val="737373"/>
                </a:solidFill>
                <a:ea typeface="思源黑体 1" panose="020B0500000000000000" charset="-122"/>
              </a:rPr>
              <a:t>车场的实时数据展示、车位使用情况可视化、停车流量数据分析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等管理</a:t>
            </a:r>
            <a:r>
              <a:rPr lang="zh-CN" altLang="en-US" sz="1800" spc="45">
                <a:solidFill>
                  <a:srgbClr val="737373"/>
                </a:solidFill>
                <a:ea typeface="思源黑体 1" panose="020B0500000000000000" charset="-122"/>
              </a:rPr>
              <a:t>功能。</a:t>
            </a:r>
            <a:endParaRPr lang="zh-CN" altLang="en-US" sz="1800" spc="45">
              <a:solidFill>
                <a:srgbClr val="737373"/>
              </a:solidFill>
              <a:ea typeface="思源黑体 1" panose="020B05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951900" y="6655063"/>
            <a:ext cx="4642934" cy="4114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2336840">
            <a:off x="16993092" y="8589462"/>
            <a:ext cx="1834049" cy="2397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4293809">
            <a:off x="61378" y="7666867"/>
            <a:ext cx="2836519" cy="3707869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7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4068957">
            <a:off x="14760886" y="-1274759"/>
            <a:ext cx="4606918" cy="46069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5326128">
            <a:off x="202301" y="-1136176"/>
            <a:ext cx="2784670" cy="357009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7124576">
            <a:off x="-1159846" y="-293030"/>
            <a:ext cx="2908298" cy="343254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-804865">
            <a:off x="16396672" y="-1928299"/>
            <a:ext cx="3267590" cy="3856597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61205" y="2080213"/>
            <a:ext cx="1565591" cy="1281827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838581">
            <a:off x="-3749976" y="7303685"/>
            <a:ext cx="8999366" cy="443423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844602" y="3333039"/>
            <a:ext cx="14598797" cy="1795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</a:pPr>
            <a:r>
              <a:rPr lang="en-US" sz="10000">
                <a:solidFill>
                  <a:srgbClr val="16496B"/>
                </a:solidFill>
                <a:latin typeface="思源黑体-粗体 Bold" panose="020B0800000000000000" charset="-122"/>
              </a:rPr>
              <a:t> </a:t>
            </a:r>
            <a:r>
              <a:rPr lang="en-US" sz="10000">
                <a:solidFill>
                  <a:srgbClr val="16496B"/>
                </a:solidFill>
                <a:latin typeface="思源黑体-粗体 Bold" panose="020B0800000000000000" charset="-122"/>
                <a:sym typeface="+mn-ea"/>
              </a:rPr>
              <a:t>请</a:t>
            </a:r>
            <a:r>
              <a:rPr lang="en-US" sz="10000">
                <a:solidFill>
                  <a:srgbClr val="16496B"/>
                </a:solidFill>
                <a:latin typeface="思源黑体-粗体 Bold" panose="020B0800000000000000" charset="-122"/>
              </a:rPr>
              <a:t>老师批评指正</a:t>
            </a:r>
            <a:endParaRPr lang="en-US" sz="10000">
              <a:solidFill>
                <a:srgbClr val="16496B"/>
              </a:solidFill>
              <a:latin typeface="思源黑体-粗体 Bold" panose="020B08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97880" y="5648192"/>
            <a:ext cx="6492240" cy="0"/>
          </a:xfrm>
          <a:prstGeom prst="line">
            <a:avLst/>
          </a:prstGeom>
          <a:ln w="19050" cap="flat">
            <a:solidFill>
              <a:srgbClr val="F6B99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5334000" y="6515100"/>
            <a:ext cx="9166860" cy="538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zh-CN" altLang="en-US" sz="3000">
                <a:solidFill>
                  <a:srgbClr val="16496B"/>
                </a:solidFill>
                <a:latin typeface="思源黑体 1" panose="020B0500000000000000" charset="-122"/>
              </a:rPr>
              <a:t>第六组：毕雅琳</a:t>
            </a:r>
            <a:r>
              <a:rPr lang="en-US" altLang="zh-CN" sz="3000">
                <a:solidFill>
                  <a:srgbClr val="16496B"/>
                </a:solidFill>
                <a:latin typeface="思源黑体 1" panose="020B0500000000000000" charset="-122"/>
              </a:rPr>
              <a:t> </a:t>
            </a:r>
            <a:r>
              <a:rPr lang="zh-CN" altLang="en-US" sz="3000">
                <a:solidFill>
                  <a:srgbClr val="16496B"/>
                </a:solidFill>
                <a:latin typeface="思源黑体 1" panose="020B0500000000000000" charset="-122"/>
              </a:rPr>
              <a:t>黄子迅</a:t>
            </a:r>
            <a:r>
              <a:rPr lang="en-US" altLang="zh-CN" sz="3000">
                <a:solidFill>
                  <a:srgbClr val="16496B"/>
                </a:solidFill>
                <a:latin typeface="思源黑体 1" panose="020B0500000000000000" charset="-122"/>
              </a:rPr>
              <a:t> </a:t>
            </a:r>
            <a:r>
              <a:rPr lang="zh-CN" altLang="en-US" sz="3000">
                <a:solidFill>
                  <a:srgbClr val="16496B"/>
                </a:solidFill>
                <a:latin typeface="思源黑体 1" panose="020B0500000000000000" charset="-122"/>
              </a:rPr>
              <a:t>付宝莹</a:t>
            </a:r>
            <a:r>
              <a:rPr lang="en-US" altLang="zh-CN" sz="3000">
                <a:solidFill>
                  <a:srgbClr val="16496B"/>
                </a:solidFill>
                <a:latin typeface="思源黑体 1" panose="020B0500000000000000" charset="-122"/>
              </a:rPr>
              <a:t> </a:t>
            </a:r>
            <a:r>
              <a:rPr lang="zh-CN" altLang="en-US" sz="3000">
                <a:solidFill>
                  <a:srgbClr val="16496B"/>
                </a:solidFill>
                <a:latin typeface="思源黑体 1" panose="020B0500000000000000" charset="-122"/>
              </a:rPr>
              <a:t>罗诗雨</a:t>
            </a:r>
            <a:r>
              <a:rPr lang="en-US" altLang="zh-CN" sz="3000">
                <a:solidFill>
                  <a:srgbClr val="16496B"/>
                </a:solidFill>
                <a:latin typeface="思源黑体 1" panose="020B0500000000000000" charset="-122"/>
              </a:rPr>
              <a:t> </a:t>
            </a:r>
            <a:r>
              <a:rPr lang="zh-CN" altLang="en-US" sz="3000">
                <a:solidFill>
                  <a:srgbClr val="16496B"/>
                </a:solidFill>
                <a:latin typeface="思源黑体 1" panose="020B0500000000000000" charset="-122"/>
              </a:rPr>
              <a:t>文彧婕</a:t>
            </a:r>
            <a:r>
              <a:rPr lang="en-US" altLang="zh-CN" sz="3000">
                <a:solidFill>
                  <a:srgbClr val="16496B"/>
                </a:solidFill>
                <a:latin typeface="思源黑体 1" panose="020B0500000000000000" charset="-122"/>
              </a:rPr>
              <a:t> </a:t>
            </a:r>
            <a:endParaRPr lang="en-US" altLang="zh-CN" sz="3000">
              <a:solidFill>
                <a:srgbClr val="16496B"/>
              </a:solidFill>
              <a:latin typeface="思源黑体 1" panose="020B05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27.18299212598424,&quot;left&quot;:123.47110236220469,&quot;top&quot;:256.32661417322834,&quot;width&quot;:873.2945669291339}"/>
</p:tagLst>
</file>

<file path=ppt/tags/tag2.xml><?xml version="1.0" encoding="utf-8"?>
<p:tagLst xmlns:p="http://schemas.openxmlformats.org/presentationml/2006/main">
  <p:tag name="KSO_WM_DIAGRAM_VIRTUALLY_FRAME" val="{&quot;height&quot;:427.18299212598424,&quot;left&quot;:123.47110236220469,&quot;top&quot;:256.32661417322834,&quot;width&quot;:873.2945669291339}"/>
</p:tagLst>
</file>

<file path=ppt/tags/tag3.xml><?xml version="1.0" encoding="utf-8"?>
<p:tagLst xmlns:p="http://schemas.openxmlformats.org/presentationml/2006/main">
  <p:tag name="KSO_WM_DIAGRAM_VIRTUALLY_FRAME" val="{&quot;height&quot;:427.18299212598424,&quot;left&quot;:123.47110236220469,&quot;top&quot;:256.32661417322834,&quot;width&quot;:873.2945669291339}"/>
</p:tagLst>
</file>

<file path=ppt/tags/tag4.xml><?xml version="1.0" encoding="utf-8"?>
<p:tagLst xmlns:p="http://schemas.openxmlformats.org/presentationml/2006/main">
  <p:tag name="KSO_WM_DIAGRAM_VIRTUALLY_FRAME" val="{&quot;height&quot;:427.18299212598424,&quot;left&quot;:123.47110236220469,&quot;top&quot;:256.32661417322834,&quot;width&quot;:873.2945669291339}"/>
</p:tagLst>
</file>

<file path=ppt/tags/tag5.xml><?xml version="1.0" encoding="utf-8"?>
<p:tagLst xmlns:p="http://schemas.openxmlformats.org/presentationml/2006/main">
  <p:tag name="KSO_WM_DIAGRAM_VIRTUALLY_FRAME" val="{&quot;height&quot;:427.18299212598424,&quot;left&quot;:123.45,&quot;top&quot;:256.32661417322834,&quot;width&quot;:873.3156692913386}"/>
</p:tagLst>
</file>

<file path=ppt/tags/tag6.xml><?xml version="1.0" encoding="utf-8"?>
<p:tagLst xmlns:p="http://schemas.openxmlformats.org/presentationml/2006/main">
  <p:tag name="KSO_WM_DIAGRAM_VIRTUALLY_FRAME" val="{&quot;height&quot;:427.18299212598424,&quot;left&quot;:123.45,&quot;top&quot;:256.32661417322834,&quot;width&quot;:873.3156692913386}"/>
</p:tagLst>
</file>

<file path=ppt/tags/tag7.xml><?xml version="1.0" encoding="utf-8"?>
<p:tagLst xmlns:p="http://schemas.openxmlformats.org/presentationml/2006/main">
  <p:tag name="KSO_WM_DIAGRAM_VIRTUALLY_FRAME" val="{&quot;height&quot;:427.18299212598424,&quot;left&quot;:123.45,&quot;top&quot;:256.32661417322834,&quot;width&quot;:873.3156692913386}"/>
</p:tagLst>
</file>

<file path=ppt/tags/tag8.xml><?xml version="1.0" encoding="utf-8"?>
<p:tagLst xmlns:p="http://schemas.openxmlformats.org/presentationml/2006/main">
  <p:tag name="KSO_WM_DIAGRAM_VIRTUALLY_FRAME" val="{&quot;height&quot;:427.18299212598424,&quot;left&quot;:123.45,&quot;top&quot;:256.32661417322834,&quot;width&quot;:873.3156692913386}"/>
</p:tagLst>
</file>

<file path=ppt/tags/tag9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0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1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2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3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4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5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6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7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8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19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0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1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2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3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4.xml><?xml version="1.0" encoding="utf-8"?>
<p:tagLst xmlns:p="http://schemas.openxmlformats.org/presentationml/2006/main">
  <p:tag name="KSO_WM_DIAGRAM_VIRTUALLY_FRAME" val="{&quot;height&quot;:520.618188976378,&quot;left&quot;:81,&quot;top&quot;:211.13181102362205,&quot;width&quot;:1278}"/>
</p:tagLst>
</file>

<file path=ppt/tags/tag25.xml><?xml version="1.0" encoding="utf-8"?>
<p:tagLst xmlns:p="http://schemas.openxmlformats.org/presentationml/2006/main">
  <p:tag name="KSO_WPP_MARK_KEY" val="072db217-af38-49b9-98e0-1a06d5a1749b"/>
  <p:tag name="COMMONDATA" val="eyJoZGlkIjoiODM5MTNjZTQyOWQxNzdjMTkyMmVhYWQ1OTA5OTI2NmMifQ=="/>
  <p:tag name="commondata" val="eyJoZGlkIjoiZTM4NzlmYmEzOTBkZDkxMTZiYWQwODVlZTAzZTlkODA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1460</Words>
  <Application>WPS 演示</Application>
  <PresentationFormat>On-screen Show (4:3)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思源黑体-粗体 Bold</vt:lpstr>
      <vt:lpstr>黑体</vt:lpstr>
      <vt:lpstr>思源黑体 1</vt:lpstr>
      <vt:lpstr>Aileron Heavy</vt:lpstr>
      <vt:lpstr>Aileron Regular Bold</vt:lpstr>
      <vt:lpstr>Arial</vt:lpstr>
      <vt:lpstr>思源黑体 2</vt:lpstr>
      <vt:lpstr>Open Sans</vt:lpstr>
      <vt:lpstr>Calibri</vt:lpstr>
      <vt:lpstr>微软雅黑</vt:lpstr>
      <vt:lpstr>Arial Unicode MS</vt:lpstr>
      <vt:lpstr>Segoe Print</vt:lpstr>
      <vt:lpstr>Aileron Regular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多彩莫兰迪风答辩PPT演示文稿</dc:title>
  <dc:creator/>
  <cp:lastModifiedBy>小付小付，只想暴富</cp:lastModifiedBy>
  <cp:revision>7</cp:revision>
  <dcterms:created xsi:type="dcterms:W3CDTF">2006-08-16T00:00:00Z</dcterms:created>
  <dcterms:modified xsi:type="dcterms:W3CDTF">2024-09-22T08:57:12Z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075A7D9ACDE44CBD8D0820A933686EFF_12</vt:lpwstr>
  </property>
  <property fmtid="{D5CDD505-2E9C-101B-9397-08002B2CF9AE}" pid="3" name="KSOProductBuildVer">
    <vt:lpwstr>2052-12.1.0.17857</vt:lpwstr>
  </property>
</Properties>
</file>