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4.svg" ContentType="image/svg+xml"/>
  <Override PartName="/ppt/media/image47.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27"/>
  </p:handoutMasterIdLst>
  <p:sldIdLst>
    <p:sldId id="276" r:id="rId3"/>
    <p:sldId id="277" r:id="rId5"/>
    <p:sldId id="278" r:id="rId6"/>
    <p:sldId id="260" r:id="rId7"/>
    <p:sldId id="286" r:id="rId8"/>
    <p:sldId id="287" r:id="rId9"/>
    <p:sldId id="288" r:id="rId10"/>
    <p:sldId id="289" r:id="rId11"/>
    <p:sldId id="290" r:id="rId12"/>
    <p:sldId id="291" r:id="rId13"/>
    <p:sldId id="280" r:id="rId14"/>
    <p:sldId id="281" r:id="rId15"/>
    <p:sldId id="282" r:id="rId16"/>
    <p:sldId id="283" r:id="rId17"/>
    <p:sldId id="292" r:id="rId18"/>
    <p:sldId id="293" r:id="rId19"/>
    <p:sldId id="294" r:id="rId20"/>
    <p:sldId id="295" r:id="rId21"/>
    <p:sldId id="296" r:id="rId22"/>
    <p:sldId id="284" r:id="rId23"/>
    <p:sldId id="285" r:id="rId24"/>
    <p:sldId id="297" r:id="rId25"/>
    <p:sldId id="298" r:id="rId26"/>
  </p:sldIdLst>
  <p:sldSz cx="18288000" cy="10287000"/>
  <p:notesSz cx="6858000" cy="9144000"/>
  <p:embeddedFontLst>
    <p:embeddedFont>
      <p:font typeface="造字工房尚黑体 粗体" charset="-122"/>
      <p:regular r:id="rId32"/>
    </p:embeddedFont>
    <p:embeddedFont>
      <p:font typeface="华康黑体W7宽汉音上1L" panose="020B0700000000000000" charset="-122"/>
      <p:regular r:id="rId33"/>
    </p:embeddedFont>
    <p:embeddedFont>
      <p:font typeface="Arial Rounded MT Bold" panose="020F0704030504030204" charset="0"/>
      <p:regular r:id="rId34"/>
    </p:embeddedFont>
    <p:embeddedFont>
      <p:font typeface="隶书2万字" panose="02010600010101010101" charset="-122"/>
      <p:regular r:id="rId35"/>
    </p:embeddedFont>
    <p:embeddedFont>
      <p:font typeface="Calibri" panose="020F0502020204030204" charset="0"/>
      <p:regular r:id="rId36"/>
      <p:bold r:id="rId37"/>
      <p:italic r:id="rId38"/>
      <p:boldItalic r:id="rId39"/>
    </p:embeddedFont>
    <p:embeddedFont>
      <p:font typeface="造字工房形黑体 粗体" charset="-122"/>
      <p:regular r:id="rId40"/>
    </p:embeddedFont>
    <p:embeddedFont>
      <p:font typeface="Microsoft Sans Serif" panose="020B0604020202020204" charset="0"/>
      <p:regular r:id="rId41"/>
    </p:embeddedFont>
  </p:embeddedFontLst>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7" userDrawn="1">
          <p15:clr>
            <a:srgbClr val="A4A3A4"/>
          </p15:clr>
        </p15:guide>
        <p15:guide id="2" pos="292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ubaoying" initials="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17"/>
        <p:guide pos="292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gs" Target="tags/tag15.xml"/><Relationship Id="rId41" Type="http://schemas.openxmlformats.org/officeDocument/2006/relationships/font" Target="fonts/font10.fntdata"/><Relationship Id="rId40" Type="http://schemas.openxmlformats.org/officeDocument/2006/relationships/font" Target="fonts/font9.fntdata"/><Relationship Id="rId4" Type="http://schemas.openxmlformats.org/officeDocument/2006/relationships/notesMaster" Target="notesMasters/notesMaster1.xml"/><Relationship Id="rId39" Type="http://schemas.openxmlformats.org/officeDocument/2006/relationships/font" Target="fonts/font8.fntdata"/><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In object-oriented programming, conditional statements (such as if and switch sentences) are often used to handle logic for different cases. As the code expands, these conditionals can become lengthy, complex, and difficult to maintain. So common problems are arised，</a:t>
            </a:r>
            <a:r>
              <a:rPr lang="en-US" altLang="zh-CN">
                <a:sym typeface="+mn-ea"/>
              </a:rPr>
              <a:t>now in part 1</a:t>
            </a:r>
            <a:r>
              <a:rPr lang="zh-CN" altLang="en-US">
                <a:sym typeface="+mn-ea"/>
              </a:rPr>
              <a:t>，</a:t>
            </a:r>
            <a:r>
              <a:rPr lang="en-US" altLang="zh-CN">
                <a:sym typeface="+mn-ea"/>
              </a:rPr>
              <a:t>I will introduce them</a:t>
            </a:r>
            <a:r>
              <a:rPr lang="zh-CN" altLang="en-US">
                <a:sym typeface="+mn-ea"/>
              </a:rPr>
              <a:t>。</a:t>
            </a:r>
            <a:endParaRPr lang="zh-CN" altLang="en-US">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Here are four main problems:</a:t>
            </a:r>
            <a:endParaRPr lang="zh-CN" altLang="en-US"/>
          </a:p>
          <a:p>
            <a:endParaRPr lang="zh-CN" altLang="en-US"/>
          </a:p>
          <a:p>
            <a:r>
              <a:rPr lang="zh-CN" altLang="en-US"/>
              <a:t>PPT片段+A large number of if-else or switch statements can make the code structure unclear, and the logic scattered across multiple places makes it more difficult to comprehend and modify.</a:t>
            </a:r>
            <a:endParaRPr lang="zh-CN" altLang="en-US"/>
          </a:p>
          <a:p>
            <a:endParaRPr lang="zh-CN" altLang="en-US"/>
          </a:p>
          <a:p>
            <a:endParaRPr lang="zh-CN" altLang="en-US"/>
          </a:p>
          <a:p>
            <a:r>
              <a:rPr lang="zh-CN" altLang="en-US"/>
              <a:t>AS we all know, the Open-Closed Principle states that software should be open for extension but closed for modification. However,+PPT文字</a:t>
            </a:r>
            <a:endParaRPr lang="zh-CN" altLang="en-US"/>
          </a:p>
          <a:p>
            <a:endParaRPr lang="zh-CN" altLang="en-US"/>
          </a:p>
          <a:p>
            <a:endParaRPr lang="zh-CN" altLang="en-US"/>
          </a:p>
          <a:p>
            <a:r>
              <a:rPr lang="zh-CN" altLang="en-US"/>
              <a:t>As business requirements evolve, new types and behaviors may need to be introduced. +PPT文字</a:t>
            </a:r>
            <a:endParaRPr lang="zh-CN" altLang="en-US"/>
          </a:p>
          <a:p>
            <a:endParaRPr lang="zh-CN" altLang="en-US"/>
          </a:p>
          <a:p>
            <a:r>
              <a:rPr lang="zh-CN" altLang="en-US"/>
              <a:t>When a method contains multiple conditional checks, each with different logic, the method takes on multiple responsibilities. +PPT文字</a:t>
            </a:r>
            <a:endParaRPr lang="zh-CN" altLang="en-US"/>
          </a:p>
          <a:p>
            <a:endParaRPr lang="zh-CN" altLang="en-US"/>
          </a:p>
          <a:p>
            <a:r>
              <a:rPr lang="zh-CN" altLang="en-US"/>
              <a:t>To address these problems, we need to refactor the code by simplifying the conditionals and encapsulating different behaviors into separate classes</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This technique adheres to the Tell-Don't-Ask principle: instead of asking an object about its state and then performing actions based on </a:t>
            </a:r>
            <a:r>
              <a:rPr lang="en-US" altLang="zh-CN"/>
              <a:t>the state</a:t>
            </a:r>
            <a:r>
              <a:rPr lang="zh-CN" altLang="en-US"/>
              <a:t>, it's much easier to simply tell the object what it needs to do and let it decide for itself how to do that</a:t>
            </a:r>
            <a:r>
              <a:rPr lang="en-US" altLang="zh-CN"/>
              <a:t>.</a:t>
            </a:r>
            <a:endParaRPr lang="en-US" altLang="zh-CN"/>
          </a:p>
          <a:p>
            <a:r>
              <a:rPr lang="en-US" altLang="zh-CN"/>
              <a:t>This e</a:t>
            </a:r>
            <a:r>
              <a:rPr lang="zh-CN" altLang="en-US"/>
              <a:t>nhance</a:t>
            </a:r>
            <a:r>
              <a:rPr lang="en-US" altLang="zh-CN"/>
              <a:t>s</a:t>
            </a:r>
            <a:r>
              <a:rPr lang="zh-CN" altLang="en-US"/>
              <a:t> </a:t>
            </a:r>
            <a:r>
              <a:rPr lang="en-US" altLang="zh-CN"/>
              <a:t>the </a:t>
            </a:r>
            <a:r>
              <a:rPr lang="zh-CN" altLang="en-US"/>
              <a:t>encapsulation</a:t>
            </a:r>
            <a:r>
              <a:rPr lang="en-US" altLang="zh-CN"/>
              <a:t> of code.K</a:t>
            </a:r>
            <a:r>
              <a:rPr lang="zh-CN" altLang="en-US"/>
              <a:t>eep the state of the object private, external objects do not have direct access to the internal state.</a:t>
            </a:r>
            <a:r>
              <a:rPr lang="en-US" altLang="zh-CN"/>
              <a:t>And s</a:t>
            </a:r>
            <a:r>
              <a:rPr lang="zh-CN" altLang="en-US"/>
              <a:t>implify external logic</a:t>
            </a:r>
            <a:r>
              <a:rPr lang="en-US" altLang="zh-CN"/>
              <a:t>, </a:t>
            </a:r>
            <a:r>
              <a:rPr lang="zh-CN" altLang="en-US"/>
              <a:t>external objects are only concerned with how to interact with the object and do not care about the internal implementation of the object.</a:t>
            </a:r>
            <a:endParaRPr lang="zh-CN" altLang="en-US"/>
          </a:p>
          <a:p>
            <a:endParaRPr lang="zh-CN" altLang="en-US"/>
          </a:p>
          <a:p>
            <a:r>
              <a:rPr lang="zh-CN" altLang="en-US"/>
              <a:t>Removes duplicate code. </a:t>
            </a:r>
            <a:r>
              <a:rPr lang="en-US" altLang="zh-CN"/>
              <a:t>Cutting down the amount of “if”s and “switch”s, y</a:t>
            </a:r>
            <a:r>
              <a:rPr lang="zh-CN" altLang="en-US"/>
              <a:t>ou get rid of many almost identical conditionals.</a:t>
            </a:r>
            <a:endParaRPr lang="zh-CN" altLang="en-US"/>
          </a:p>
          <a:p>
            <a:endParaRPr lang="zh-CN" altLang="en-US"/>
          </a:p>
          <a:p>
            <a:r>
              <a:rPr lang="en-US" altLang="zh-CN"/>
              <a:t>At last, it follows the Open/Closed principle.New features can be added without modifying existing code, and changes can be accommodated by extending existing systems like adding new subclasses.As a result, the likelihood of introducing new errors is greatly reduced.</a:t>
            </a:r>
            <a:endParaRPr lang="en-US" altLang="zh-CN"/>
          </a:p>
          <a:p>
            <a:r>
              <a:rPr lang="en-US" altLang="zh-CN"/>
              <a:t>____________________________________</a:t>
            </a:r>
            <a:endParaRPr lang="en-US" altLang="zh-CN"/>
          </a:p>
          <a:p>
            <a:r>
              <a:rPr lang="en-US" altLang="zh-CN"/>
              <a:t>High initial refactoring cost: replacing the conditional judgment in the existing code with a polymorphic implementation, especially when the conditional judgment is more complex or involves multiple modules, the refactoring cost is higher</a:t>
            </a:r>
            <a:endParaRPr lang="en-US" altLang="zh-CN"/>
          </a:p>
          <a:p>
            <a:endParaRPr lang="en-US" altLang="zh-CN"/>
          </a:p>
          <a:p>
            <a:r>
              <a:rPr lang="en-US" altLang="zh-CN"/>
              <a:t>Not all conditional judgment is suitable for polymorphic replacement. If the logic of conditional branching is relatively simple or there are not many conditions, the use of polymorphic substitution may make the design too complex, but increase the unnecessary cost.</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0" Type="http://schemas.openxmlformats.org/officeDocument/2006/relationships/notesSlide" Target="../notesSlides/notesSlide1.xml"/><Relationship Id="rId2" Type="http://schemas.openxmlformats.org/officeDocument/2006/relationships/image" Target="../media/image2.svg"/><Relationship Id="rId19" Type="http://schemas.openxmlformats.org/officeDocument/2006/relationships/slideLayout" Target="../slideLayouts/slideLayout7.xml"/><Relationship Id="rId18" Type="http://schemas.openxmlformats.org/officeDocument/2006/relationships/image" Target="../media/image18.svg"/><Relationship Id="rId17" Type="http://schemas.openxmlformats.org/officeDocument/2006/relationships/image" Target="../media/image17.png"/><Relationship Id="rId16" Type="http://schemas.openxmlformats.org/officeDocument/2006/relationships/image" Target="../media/image16.svg"/><Relationship Id="rId15" Type="http://schemas.openxmlformats.org/officeDocument/2006/relationships/image" Target="../media/image15.png"/><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8.svg"/><Relationship Id="rId3" Type="http://schemas.openxmlformats.org/officeDocument/2006/relationships/image" Target="../media/image17.png"/><Relationship Id="rId21" Type="http://schemas.openxmlformats.org/officeDocument/2006/relationships/slideLayout" Target="../slideLayouts/slideLayout7.xml"/><Relationship Id="rId20" Type="http://schemas.openxmlformats.org/officeDocument/2006/relationships/tags" Target="../tags/tag4.xml"/><Relationship Id="rId2" Type="http://schemas.openxmlformats.org/officeDocument/2006/relationships/image" Target="../media/image6.svg"/><Relationship Id="rId19" Type="http://schemas.openxmlformats.org/officeDocument/2006/relationships/tags" Target="../tags/tag3.xml"/><Relationship Id="rId18" Type="http://schemas.openxmlformats.org/officeDocument/2006/relationships/tags" Target="../tags/tag2.xml"/><Relationship Id="rId17" Type="http://schemas.openxmlformats.org/officeDocument/2006/relationships/tags" Target="../tags/tag1.xml"/><Relationship Id="rId16" Type="http://schemas.openxmlformats.org/officeDocument/2006/relationships/image" Target="../media/image4.svg"/><Relationship Id="rId15" Type="http://schemas.openxmlformats.org/officeDocument/2006/relationships/image" Target="../media/image3.png"/><Relationship Id="rId14" Type="http://schemas.openxmlformats.org/officeDocument/2006/relationships/image" Target="../media/image2.svg"/><Relationship Id="rId13" Type="http://schemas.openxmlformats.org/officeDocument/2006/relationships/image" Target="../media/image1.png"/><Relationship Id="rId12" Type="http://schemas.openxmlformats.org/officeDocument/2006/relationships/image" Target="../media/image14.svg"/><Relationship Id="rId11" Type="http://schemas.openxmlformats.org/officeDocument/2006/relationships/image" Target="../media/image13.png"/><Relationship Id="rId10" Type="http://schemas.openxmlformats.org/officeDocument/2006/relationships/image" Target="../media/image8.sv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6.svg"/><Relationship Id="rId16" Type="http://schemas.openxmlformats.org/officeDocument/2006/relationships/notesSlide" Target="../notesSlides/notesSlide2.xml"/><Relationship Id="rId15" Type="http://schemas.openxmlformats.org/officeDocument/2006/relationships/slideLayout" Target="../slideLayouts/slideLayout7.xml"/><Relationship Id="rId14" Type="http://schemas.openxmlformats.org/officeDocument/2006/relationships/image" Target="../media/image4.svg"/><Relationship Id="rId13" Type="http://schemas.openxmlformats.org/officeDocument/2006/relationships/image" Target="../media/image3.png"/><Relationship Id="rId12" Type="http://schemas.openxmlformats.org/officeDocument/2006/relationships/image" Target="../media/image2.svg"/><Relationship Id="rId11" Type="http://schemas.openxmlformats.org/officeDocument/2006/relationships/image" Target="../media/image1.png"/><Relationship Id="rId10" Type="http://schemas.openxmlformats.org/officeDocument/2006/relationships/image" Target="../media/image14.sv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0" Type="http://schemas.openxmlformats.org/officeDocument/2006/relationships/notesSlide" Target="../notesSlides/notesSlide3.xml"/><Relationship Id="rId1" Type="http://schemas.openxmlformats.org/officeDocument/2006/relationships/image" Target="../media/image19.png"/></Relationships>
</file>

<file path=ppt/slides/_rels/slide5.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6.svg"/><Relationship Id="rId15" Type="http://schemas.openxmlformats.org/officeDocument/2006/relationships/slideLayout" Target="../slideLayouts/slideLayout7.xml"/><Relationship Id="rId14" Type="http://schemas.openxmlformats.org/officeDocument/2006/relationships/image" Target="../media/image4.svg"/><Relationship Id="rId13" Type="http://schemas.openxmlformats.org/officeDocument/2006/relationships/image" Target="../media/image3.png"/><Relationship Id="rId12" Type="http://schemas.openxmlformats.org/officeDocument/2006/relationships/image" Target="../media/image2.svg"/><Relationship Id="rId11" Type="http://schemas.openxmlformats.org/officeDocument/2006/relationships/image" Target="../media/image1.png"/><Relationship Id="rId10" Type="http://schemas.openxmlformats.org/officeDocument/2006/relationships/image" Target="../media/image14.sv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0" Type="http://schemas.openxmlformats.org/officeDocument/2006/relationships/slideLayout" Target="../slideLayouts/slideLayout7.xml"/><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0" Type="http://schemas.openxmlformats.org/officeDocument/2006/relationships/slideLayout" Target="../slideLayouts/slideLayout7.xml"/><Relationship Id="rId1" Type="http://schemas.openxmlformats.org/officeDocument/2006/relationships/image" Target="../media/image19.png"/></Relationships>
</file>

<file path=ppt/slides/_rels/slide8.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0" Type="http://schemas.openxmlformats.org/officeDocument/2006/relationships/slideLayout" Target="../slideLayouts/slideLayout7.x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0" Type="http://schemas.openxmlformats.org/officeDocument/2006/relationships/slideLayout" Target="../slideLayouts/slideLayout7.xml"/><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0" Type="http://schemas.openxmlformats.org/officeDocument/2006/relationships/slideLayout" Target="../slideLayouts/slideLayout7.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png"/><Relationship Id="rId6" Type="http://schemas.openxmlformats.org/officeDocument/2006/relationships/image" Target="../media/image1.png"/><Relationship Id="rId5" Type="http://schemas.openxmlformats.org/officeDocument/2006/relationships/image" Target="../media/image13.png"/><Relationship Id="rId4" Type="http://schemas.openxmlformats.org/officeDocument/2006/relationships/image" Target="../media/image7.png"/><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2.png"/><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image" Target="../media/image31.png"/><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21.png"/><Relationship Id="rId11" Type="http://schemas.openxmlformats.org/officeDocument/2006/relationships/slideLayout" Target="../slideLayouts/slideLayout7.xml"/><Relationship Id="rId10" Type="http://schemas.openxmlformats.org/officeDocument/2006/relationships/image" Target="../media/image34.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5.png"/><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png"/><Relationship Id="rId6" Type="http://schemas.openxmlformats.org/officeDocument/2006/relationships/image" Target="../media/image1.png"/><Relationship Id="rId5" Type="http://schemas.openxmlformats.org/officeDocument/2006/relationships/image" Target="../media/image13.png"/><Relationship Id="rId4" Type="http://schemas.openxmlformats.org/officeDocument/2006/relationships/image" Target="../media/image7.png"/><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6.jpeg"/><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9.png"/><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tags" Target="../tags/tag13.xml"/><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2.png"/><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tags" Target="../tags/tag14.xml"/><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21.png"/><Relationship Id="rId10" Type="http://schemas.openxmlformats.org/officeDocument/2006/relationships/notesSlide" Target="../notesSlides/notesSlide4.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45.png"/><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png"/><Relationship Id="rId6" Type="http://schemas.openxmlformats.org/officeDocument/2006/relationships/image" Target="../media/image1.png"/><Relationship Id="rId5" Type="http://schemas.openxmlformats.org/officeDocument/2006/relationships/image" Target="../media/image13.png"/><Relationship Id="rId4" Type="http://schemas.openxmlformats.org/officeDocument/2006/relationships/image" Target="../media/image7.png"/><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47.svg"/><Relationship Id="rId6" Type="http://schemas.openxmlformats.org/officeDocument/2006/relationships/image" Target="../media/image46.jpeg"/><Relationship Id="rId5" Type="http://schemas.openxmlformats.org/officeDocument/2006/relationships/image" Target="../media/image17.png"/><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5.png"/><Relationship Id="rId7" Type="http://schemas.openxmlformats.org/officeDocument/2006/relationships/image" Target="../media/image13.png"/><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7.png"/><Relationship Id="rId3" Type="http://schemas.openxmlformats.org/officeDocument/2006/relationships/image" Target="../media/image5.png"/><Relationship Id="rId2" Type="http://schemas.openxmlformats.org/officeDocument/2006/relationships/image" Target="../media/image3.png"/><Relationship Id="rId10"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13951900" y="6655063"/>
            <a:ext cx="4642934" cy="4114800"/>
          </a:xfrm>
          <a:prstGeom prst="rect">
            <a:avLst/>
          </a:prstGeom>
        </p:spPr>
      </p:pic>
      <p:pic>
        <p:nvPicPr>
          <p:cNvPr id="3" name="Picture 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2336840">
            <a:off x="16993092" y="8589462"/>
            <a:ext cx="1834049" cy="2397450"/>
          </a:xfrm>
          <a:prstGeom prst="rect">
            <a:avLst/>
          </a:prstGeom>
        </p:spPr>
      </p:pic>
      <p:pic>
        <p:nvPicPr>
          <p:cNvPr id="4" name="Picture 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4293809">
            <a:off x="61378" y="7666867"/>
            <a:ext cx="2836519" cy="3707869"/>
          </a:xfrm>
          <a:prstGeom prst="rect">
            <a:avLst/>
          </a:prstGeom>
        </p:spPr>
      </p:pic>
      <p:pic>
        <p:nvPicPr>
          <p:cNvPr id="5" name="Picture 5"/>
          <p:cNvPicPr>
            <a:picLocks noChangeAspect="1"/>
          </p:cNvPicPr>
          <p:nvPr/>
        </p:nvPicPr>
        <p:blipFill>
          <a:blip r:embed="rId7">
            <a:alphaModFix amt="71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4068957">
            <a:off x="14760886" y="-1274759"/>
            <a:ext cx="4606918" cy="4606918"/>
          </a:xfrm>
          <a:prstGeom prst="rect">
            <a:avLst/>
          </a:prstGeom>
        </p:spPr>
      </p:pic>
      <p:pic>
        <p:nvPicPr>
          <p:cNvPr id="6" name="Picture 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rot="-5326128">
            <a:off x="202301" y="-1136176"/>
            <a:ext cx="2784670" cy="3570090"/>
          </a:xfrm>
          <a:prstGeom prst="rect">
            <a:avLst/>
          </a:prstGeom>
        </p:spPr>
      </p:pic>
      <p:pic>
        <p:nvPicPr>
          <p:cNvPr id="7" name="Picture 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p:blipFill>
        <p:spPr>
          <a:xfrm rot="-7124576">
            <a:off x="-1159846" y="-293030"/>
            <a:ext cx="2908298" cy="3432540"/>
          </a:xfrm>
          <a:prstGeom prst="rect">
            <a:avLst/>
          </a:prstGeom>
        </p:spPr>
      </p:pic>
      <p:pic>
        <p:nvPicPr>
          <p:cNvPr id="8" name="Picture 8"/>
          <p:cNvPicPr>
            <a:picLocks noChangeAspect="1"/>
          </p:cNvPicPr>
          <p:nvPr/>
        </p:nvPicPr>
        <p:blipFill>
          <a:blip r:embed="rId13">
            <a:alphaModFix amt="80000"/>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p:blipFill>
        <p:spPr>
          <a:xfrm rot="-804865">
            <a:off x="16396672" y="-1928299"/>
            <a:ext cx="3267590" cy="3856597"/>
          </a:xfrm>
          <a:prstGeom prst="rect">
            <a:avLst/>
          </a:prstGeom>
        </p:spPr>
      </p:pic>
      <p:pic>
        <p:nvPicPr>
          <p:cNvPr id="9" name="Picture 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a:fillRect/>
          </a:stretch>
        </p:blipFill>
        <p:spPr>
          <a:xfrm>
            <a:off x="8361205" y="2080213"/>
            <a:ext cx="1565591" cy="1281827"/>
          </a:xfrm>
          <a:prstGeom prst="rect">
            <a:avLst/>
          </a:prstGeom>
        </p:spPr>
      </p:pic>
      <p:pic>
        <p:nvPicPr>
          <p:cNvPr id="10" name="Picture 10"/>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a:stretch>
            <a:fillRect/>
          </a:stretch>
        </p:blipFill>
        <p:spPr>
          <a:xfrm rot="1838581">
            <a:off x="-3749976" y="7303685"/>
            <a:ext cx="8999366" cy="4434233"/>
          </a:xfrm>
          <a:prstGeom prst="rect">
            <a:avLst/>
          </a:prstGeom>
        </p:spPr>
      </p:pic>
      <p:sp>
        <p:nvSpPr>
          <p:cNvPr id="12" name="TextBox 12"/>
          <p:cNvSpPr txBox="1"/>
          <p:nvPr/>
        </p:nvSpPr>
        <p:spPr>
          <a:xfrm>
            <a:off x="3962458" y="3009824"/>
            <a:ext cx="10396105" cy="3590290"/>
          </a:xfrm>
          <a:prstGeom prst="rect">
            <a:avLst/>
          </a:prstGeom>
        </p:spPr>
        <p:txBody>
          <a:bodyPr lIns="0" tIns="0" rIns="0" bIns="0" rtlCol="0" anchor="t">
            <a:spAutoFit/>
          </a:bodyPr>
          <a:lstStyle/>
          <a:p>
            <a:pPr algn="ctr">
              <a:lnSpc>
                <a:spcPts val="14000"/>
              </a:lnSpc>
            </a:pPr>
            <a:r>
              <a:rPr lang="en-US" sz="8300">
                <a:solidFill>
                  <a:srgbClr val="16496B"/>
                </a:solidFill>
                <a:latin typeface="Calibri" panose="020F0502020204030204" charset="0"/>
                <a:cs typeface="Calibri" panose="020F0502020204030204" charset="0"/>
              </a:rPr>
              <a:t>Replace Conditional with Polymorphism</a:t>
            </a:r>
            <a:endParaRPr lang="en-US" sz="8300">
              <a:solidFill>
                <a:srgbClr val="16496B"/>
              </a:solidFill>
              <a:latin typeface="Calibri" panose="020F0502020204030204" charset="0"/>
              <a:cs typeface="Calibri" panose="020F0502020204030204" charset="0"/>
            </a:endParaRPr>
          </a:p>
        </p:txBody>
      </p:sp>
      <p:sp>
        <p:nvSpPr>
          <p:cNvPr id="14" name="AutoShape 14"/>
          <p:cNvSpPr/>
          <p:nvPr/>
        </p:nvSpPr>
        <p:spPr>
          <a:xfrm>
            <a:off x="3995420" y="6668135"/>
            <a:ext cx="10509250" cy="635"/>
          </a:xfrm>
          <a:prstGeom prst="line">
            <a:avLst/>
          </a:prstGeom>
          <a:ln w="19050" cap="flat">
            <a:solidFill>
              <a:srgbClr val="F6B99D"/>
            </a:solidFill>
            <a:prstDash val="solid"/>
            <a:headEnd type="none" w="sm" len="sm"/>
            <a:tailEnd type="none" w="sm" len="sm"/>
          </a:ln>
        </p:spPr>
      </p:sp>
      <p:sp>
        <p:nvSpPr>
          <p:cNvPr id="16" name="TextBox 16"/>
          <p:cNvSpPr txBox="1"/>
          <p:nvPr/>
        </p:nvSpPr>
        <p:spPr>
          <a:xfrm>
            <a:off x="4038600" y="6896100"/>
            <a:ext cx="10480040" cy="1615440"/>
          </a:xfrm>
          <a:prstGeom prst="rect">
            <a:avLst/>
          </a:prstGeom>
        </p:spPr>
        <p:txBody>
          <a:bodyPr wrap="square" lIns="0" tIns="0" rIns="0" bIns="0" rtlCol="0" anchor="t">
            <a:spAutoFit/>
          </a:bodyPr>
          <a:lstStyle/>
          <a:p>
            <a:pPr>
              <a:lnSpc>
                <a:spcPts val="4200"/>
              </a:lnSpc>
            </a:pPr>
            <a:r>
              <a:rPr lang="en-US" sz="3000">
                <a:solidFill>
                  <a:srgbClr val="16496B"/>
                </a:solidFill>
                <a:latin typeface="Calibri" panose="020F0502020204030204" charset="0"/>
                <a:cs typeface="Calibri" panose="020F0502020204030204" charset="0"/>
              </a:rPr>
              <a:t> </a:t>
            </a:r>
            <a:r>
              <a:rPr lang="en-US" sz="3000" b="1">
                <a:solidFill>
                  <a:srgbClr val="16496B"/>
                </a:solidFill>
                <a:latin typeface="Calibri" panose="020F0502020204030204" charset="0"/>
                <a:cs typeface="Calibri" panose="020F0502020204030204" charset="0"/>
              </a:rPr>
              <a:t>GROUP 25</a:t>
            </a:r>
            <a:r>
              <a:rPr lang="zh-CN" altLang="en-US" sz="3000" b="1">
                <a:solidFill>
                  <a:srgbClr val="16496B"/>
                </a:solidFill>
                <a:latin typeface="Calibri" panose="020F0502020204030204" charset="0"/>
                <a:cs typeface="Calibri" panose="020F0502020204030204" charset="0"/>
              </a:rPr>
              <a:t>：</a:t>
            </a:r>
            <a:endParaRPr lang="en-US" sz="3000" b="1">
              <a:solidFill>
                <a:srgbClr val="16496B"/>
              </a:solidFill>
              <a:latin typeface="Calibri" panose="020F0502020204030204" charset="0"/>
              <a:cs typeface="Calibri" panose="020F0502020204030204" charset="0"/>
            </a:endParaRPr>
          </a:p>
          <a:p>
            <a:pPr indent="457200">
              <a:lnSpc>
                <a:spcPts val="4200"/>
              </a:lnSpc>
            </a:pPr>
            <a:r>
              <a:rPr lang="en-US" sz="3000">
                <a:solidFill>
                  <a:srgbClr val="16496B"/>
                </a:solidFill>
                <a:latin typeface="Calibri" panose="020F0502020204030204" charset="0"/>
                <a:cs typeface="Calibri" panose="020F0502020204030204" charset="0"/>
              </a:rPr>
              <a:t>2252092 </a:t>
            </a:r>
            <a:r>
              <a:rPr lang="zh-CN" altLang="en-US" sz="3000">
                <a:solidFill>
                  <a:srgbClr val="16496B"/>
                </a:solidFill>
                <a:latin typeface="Calibri" panose="020F0502020204030204" charset="0"/>
                <a:cs typeface="Calibri" panose="020F0502020204030204" charset="0"/>
              </a:rPr>
              <a:t>毕雅琳</a:t>
            </a:r>
            <a:r>
              <a:rPr lang="en-US" altLang="zh-CN" sz="3000">
                <a:solidFill>
                  <a:srgbClr val="16496B"/>
                </a:solidFill>
                <a:latin typeface="Calibri" panose="020F0502020204030204" charset="0"/>
                <a:cs typeface="Calibri" panose="020F0502020204030204" charset="0"/>
              </a:rPr>
              <a:t>  2252426 付柏瑞  2251654 </a:t>
            </a:r>
            <a:r>
              <a:rPr lang="zh-CN" altLang="en-US" sz="3000">
                <a:solidFill>
                  <a:srgbClr val="16496B"/>
                </a:solidFill>
                <a:latin typeface="Calibri" panose="020F0502020204030204" charset="0"/>
                <a:cs typeface="Calibri" panose="020F0502020204030204" charset="0"/>
              </a:rPr>
              <a:t>付宝莹</a:t>
            </a:r>
            <a:endParaRPr lang="zh-CN" altLang="en-US" sz="3000">
              <a:solidFill>
                <a:srgbClr val="16496B"/>
              </a:solidFill>
              <a:latin typeface="Calibri" panose="020F0502020204030204" charset="0"/>
              <a:cs typeface="Calibri" panose="020F0502020204030204" charset="0"/>
            </a:endParaRPr>
          </a:p>
          <a:p>
            <a:pPr indent="457200">
              <a:lnSpc>
                <a:spcPts val="4200"/>
              </a:lnSpc>
            </a:pPr>
            <a:r>
              <a:rPr lang="en-US" altLang="zh-CN" sz="3000">
                <a:solidFill>
                  <a:srgbClr val="16496B"/>
                </a:solidFill>
                <a:latin typeface="Calibri" panose="020F0502020204030204" charset="0"/>
                <a:cs typeface="Calibri" panose="020F0502020204030204" charset="0"/>
              </a:rPr>
              <a:t>2251926 </a:t>
            </a:r>
            <a:r>
              <a:rPr lang="zh-CN" altLang="en-US" sz="3000">
                <a:solidFill>
                  <a:srgbClr val="16496B"/>
                </a:solidFill>
                <a:latin typeface="Calibri" panose="020F0502020204030204" charset="0"/>
                <a:cs typeface="Calibri" panose="020F0502020204030204" charset="0"/>
              </a:rPr>
              <a:t>罗诗雨</a:t>
            </a:r>
            <a:r>
              <a:rPr lang="en-US" altLang="zh-CN" sz="3000">
                <a:solidFill>
                  <a:srgbClr val="16496B"/>
                </a:solidFill>
                <a:latin typeface="Calibri" panose="020F0502020204030204" charset="0"/>
                <a:cs typeface="Calibri" panose="020F0502020204030204" charset="0"/>
              </a:rPr>
              <a:t>  2252954	</a:t>
            </a:r>
            <a:r>
              <a:rPr lang="zh-CN" altLang="en-US" sz="3000">
                <a:solidFill>
                  <a:srgbClr val="16496B"/>
                </a:solidFill>
                <a:latin typeface="Calibri" panose="020F0502020204030204" charset="0"/>
                <a:cs typeface="Calibri" panose="020F0502020204030204" charset="0"/>
              </a:rPr>
              <a:t>文彧婕</a:t>
            </a:r>
            <a:r>
              <a:rPr lang="en-US" altLang="zh-CN" sz="3000">
                <a:solidFill>
                  <a:srgbClr val="16496B"/>
                </a:solidFill>
                <a:latin typeface="Calibri" panose="020F0502020204030204" charset="0"/>
                <a:cs typeface="Calibri" panose="020F0502020204030204" charset="0"/>
              </a:rPr>
              <a:t> </a:t>
            </a:r>
            <a:endParaRPr lang="en-US" altLang="zh-CN" sz="3000">
              <a:solidFill>
                <a:srgbClr val="16496B"/>
              </a:solidFill>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001382" y="5636933"/>
            <a:ext cx="10002764" cy="8401899"/>
            <a:chOff x="0" y="0"/>
            <a:chExt cx="13337018" cy="11202532"/>
          </a:xfrm>
        </p:grpSpPr>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4293809">
              <a:off x="5750738" y="3129354"/>
              <a:ext cx="3782026" cy="4943825"/>
            </a:xfrm>
            <a:prstGeom prst="rect">
              <a:avLst/>
            </a:prstGeom>
          </p:spPr>
        </p:pic>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838581">
              <a:off x="668932" y="2645111"/>
              <a:ext cx="11999154" cy="5912311"/>
            </a:xfrm>
            <a:prstGeom prst="rect">
              <a:avLst/>
            </a:prstGeom>
          </p:spPr>
        </p:pic>
      </p:grpSp>
      <p:pic>
        <p:nvPicPr>
          <p:cNvPr id="5" name="Picture 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7507366">
            <a:off x="-1229877" y="2247585"/>
            <a:ext cx="3123880" cy="4004974"/>
          </a:xfrm>
          <a:prstGeom prst="rect">
            <a:avLst/>
          </a:prstGeom>
        </p:spPr>
      </p:pic>
      <p:pic>
        <p:nvPicPr>
          <p:cNvPr id="6" name="Picture 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9670583" flipV="1">
            <a:off x="-1660484" y="-1604613"/>
            <a:ext cx="4697727" cy="5544528"/>
          </a:xfrm>
          <a:prstGeom prst="rect">
            <a:avLst/>
          </a:prstGeom>
        </p:spPr>
      </p:pic>
      <p:grpSp>
        <p:nvGrpSpPr>
          <p:cNvPr id="7" name="Group 7"/>
          <p:cNvGrpSpPr/>
          <p:nvPr/>
        </p:nvGrpSpPr>
        <p:grpSpPr>
          <a:xfrm rot="0">
            <a:off x="14035484" y="-2720385"/>
            <a:ext cx="6005388" cy="6286112"/>
            <a:chOff x="0" y="0"/>
            <a:chExt cx="8007184" cy="8381483"/>
          </a:xfrm>
        </p:grpSpPr>
        <p:pic>
          <p:nvPicPr>
            <p:cNvPr id="8" name="Picture 8"/>
            <p:cNvPicPr>
              <a:picLocks noChangeAspect="1"/>
            </p:cNvPicPr>
            <p:nvPr/>
          </p:nvPicPr>
          <p:blipFill>
            <a:blip r:embed="rId9">
              <a:alphaModFix amt="71000"/>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rot="4068957">
              <a:off x="932313" y="1306613"/>
              <a:ext cx="6142557" cy="6142557"/>
            </a:xfrm>
            <a:prstGeom prst="rect">
              <a:avLst/>
            </a:prstGeom>
          </p:spPr>
        </p:pic>
        <p:pic>
          <p:nvPicPr>
            <p:cNvPr id="9" name="Picture 9"/>
            <p:cNvPicPr>
              <a:picLocks noChangeAspect="1"/>
            </p:cNvPicPr>
            <p:nvPr/>
          </p:nvPicPr>
          <p:blipFill>
            <a:blip r:embed="rId11">
              <a:alphaModFix amt="80000"/>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p:blipFill>
          <p:spPr>
            <a:xfrm rot="-804865">
              <a:off x="3113361" y="435226"/>
              <a:ext cx="4356786" cy="5142130"/>
            </a:xfrm>
            <a:prstGeom prst="rect">
              <a:avLst/>
            </a:prstGeom>
          </p:spPr>
        </p:pic>
      </p:grpSp>
      <p:grpSp>
        <p:nvGrpSpPr>
          <p:cNvPr id="10" name="Group 10"/>
          <p:cNvGrpSpPr/>
          <p:nvPr/>
        </p:nvGrpSpPr>
        <p:grpSpPr>
          <a:xfrm rot="0">
            <a:off x="14546833" y="7516959"/>
            <a:ext cx="5424934" cy="4641848"/>
            <a:chOff x="0" y="0"/>
            <a:chExt cx="7233245" cy="6189131"/>
          </a:xfrm>
        </p:grpSpPr>
        <p:pic>
          <p:nvPicPr>
            <p:cNvPr id="11" name="Picture 1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p:blipFill>
          <p:spPr>
            <a:xfrm>
              <a:off x="0" y="0"/>
              <a:ext cx="6190578" cy="5486400"/>
            </a:xfrm>
            <a:prstGeom prst="rect">
              <a:avLst/>
            </a:prstGeom>
          </p:spPr>
        </p:pic>
        <p:pic>
          <p:nvPicPr>
            <p:cNvPr id="12" name="Picture 12"/>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a:fillRect/>
            </a:stretch>
          </p:blipFill>
          <p:spPr>
            <a:xfrm rot="2336840">
              <a:off x="4054922" y="2579198"/>
              <a:ext cx="2445399" cy="3196600"/>
            </a:xfrm>
            <a:prstGeom prst="rect">
              <a:avLst/>
            </a:prstGeom>
          </p:spPr>
        </p:pic>
      </p:grpSp>
      <p:sp>
        <p:nvSpPr>
          <p:cNvPr id="14" name="TextBox 14"/>
          <p:cNvSpPr txBox="1"/>
          <p:nvPr/>
        </p:nvSpPr>
        <p:spPr>
          <a:xfrm>
            <a:off x="2049243" y="4906696"/>
            <a:ext cx="4643171" cy="653415"/>
          </a:xfrm>
          <a:prstGeom prst="rect">
            <a:avLst/>
          </a:prstGeom>
        </p:spPr>
        <p:txBody>
          <a:bodyPr lIns="0" tIns="0" rIns="0" bIns="0" rtlCol="0" anchor="t">
            <a:spAutoFit/>
          </a:bodyPr>
          <a:lstStyle/>
          <a:p>
            <a:pPr algn="ctr">
              <a:lnSpc>
                <a:spcPts val="5100"/>
              </a:lnSpc>
            </a:pPr>
            <a:r>
              <a:rPr lang="en-US" sz="6000" spc="102">
                <a:solidFill>
                  <a:srgbClr val="16496B"/>
                </a:solidFill>
                <a:latin typeface="Calibri" panose="020F0502020204030204" charset="0"/>
                <a:cs typeface="Calibri" panose="020F0502020204030204" charset="0"/>
              </a:rPr>
              <a:t>CONTENTS</a:t>
            </a:r>
            <a:endParaRPr lang="en-US" sz="6000" spc="102">
              <a:solidFill>
                <a:srgbClr val="16496B"/>
              </a:solidFill>
              <a:latin typeface="Calibri" panose="020F0502020204030204" charset="0"/>
              <a:cs typeface="Calibri" panose="020F0502020204030204" charset="0"/>
            </a:endParaRPr>
          </a:p>
        </p:txBody>
      </p:sp>
      <p:grpSp>
        <p:nvGrpSpPr>
          <p:cNvPr id="15" name="Group 15"/>
          <p:cNvGrpSpPr/>
          <p:nvPr/>
        </p:nvGrpSpPr>
        <p:grpSpPr>
          <a:xfrm rot="0">
            <a:off x="8637890" y="2011017"/>
            <a:ext cx="999086" cy="999086"/>
            <a:chOff x="0" y="0"/>
            <a:chExt cx="812800" cy="812800"/>
          </a:xfrm>
        </p:grpSpPr>
        <p:sp>
          <p:nvSpPr>
            <p:cNvPr id="16" name="Freeform 16"/>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60"/>
                </a:lnSpc>
                <a:spcBef>
                  <a:spcPct val="0"/>
                </a:spcBef>
              </a:pPr>
            </a:p>
          </p:txBody>
        </p:sp>
      </p:grpSp>
      <p:sp>
        <p:nvSpPr>
          <p:cNvPr id="18" name="TextBox 18"/>
          <p:cNvSpPr txBox="1"/>
          <p:nvPr/>
        </p:nvSpPr>
        <p:spPr>
          <a:xfrm>
            <a:off x="9921875" y="2124075"/>
            <a:ext cx="6988175" cy="771525"/>
          </a:xfrm>
          <a:prstGeom prst="rect">
            <a:avLst/>
          </a:prstGeom>
        </p:spPr>
        <p:txBody>
          <a:bodyPr wrap="square" lIns="0" tIns="0" rIns="0" bIns="0" rtlCol="0" anchor="t">
            <a:spAutoFit/>
          </a:bodyPr>
          <a:lstStyle/>
          <a:p>
            <a:pPr>
              <a:lnSpc>
                <a:spcPts val="6020"/>
              </a:lnSpc>
              <a:spcBef>
                <a:spcPct val="0"/>
              </a:spcBef>
            </a:pPr>
            <a:r>
              <a:rPr lang="en-US" sz="4400" spc="102">
                <a:solidFill>
                  <a:srgbClr val="737373"/>
                </a:solidFill>
                <a:latin typeface="Calibri" panose="020F0502020204030204" charset="0"/>
                <a:cs typeface="Calibri" panose="020F0502020204030204" charset="0"/>
              </a:rPr>
              <a:t>The Problem To Solve</a:t>
            </a:r>
            <a:endParaRPr lang="en-US" sz="4400" spc="102">
              <a:solidFill>
                <a:srgbClr val="737373"/>
              </a:solidFill>
              <a:latin typeface="Calibri" panose="020F0502020204030204" charset="0"/>
              <a:cs typeface="Calibri" panose="020F0502020204030204" charset="0"/>
            </a:endParaRPr>
          </a:p>
        </p:txBody>
      </p:sp>
      <p:grpSp>
        <p:nvGrpSpPr>
          <p:cNvPr id="20" name="Group 20"/>
          <p:cNvGrpSpPr/>
          <p:nvPr/>
        </p:nvGrpSpPr>
        <p:grpSpPr>
          <a:xfrm rot="0">
            <a:off x="8637890" y="3263181"/>
            <a:ext cx="999086" cy="999086"/>
            <a:chOff x="0" y="0"/>
            <a:chExt cx="812800" cy="812800"/>
          </a:xfrm>
        </p:grpSpPr>
        <p:sp>
          <p:nvSpPr>
            <p:cNvPr id="21" name="Freeform 21"/>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660"/>
                </a:lnSpc>
                <a:spcBef>
                  <a:spcPct val="0"/>
                </a:spcBef>
              </a:pPr>
            </a:p>
          </p:txBody>
        </p:sp>
      </p:grpSp>
      <p:grpSp>
        <p:nvGrpSpPr>
          <p:cNvPr id="23" name="Group 23"/>
          <p:cNvGrpSpPr/>
          <p:nvPr/>
        </p:nvGrpSpPr>
        <p:grpSpPr>
          <a:xfrm rot="0">
            <a:off x="8637890" y="4531105"/>
            <a:ext cx="999086" cy="999086"/>
            <a:chOff x="0" y="0"/>
            <a:chExt cx="812800" cy="812800"/>
          </a:xfrm>
        </p:grpSpPr>
        <p:sp>
          <p:nvSpPr>
            <p:cNvPr id="24" name="Freeform 24"/>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2660"/>
                </a:lnSpc>
                <a:spcBef>
                  <a:spcPct val="0"/>
                </a:spcBef>
              </a:pPr>
            </a:p>
          </p:txBody>
        </p:sp>
      </p:grpSp>
      <p:grpSp>
        <p:nvGrpSpPr>
          <p:cNvPr id="26" name="Group 26"/>
          <p:cNvGrpSpPr/>
          <p:nvPr/>
        </p:nvGrpSpPr>
        <p:grpSpPr>
          <a:xfrm rot="0">
            <a:off x="8637890" y="5782018"/>
            <a:ext cx="999086" cy="999086"/>
            <a:chOff x="0" y="0"/>
            <a:chExt cx="812800" cy="812800"/>
          </a:xfrm>
        </p:grpSpPr>
        <p:sp>
          <p:nvSpPr>
            <p:cNvPr id="27" name="Freeform 27"/>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28" name="TextBox 28"/>
            <p:cNvSpPr txBox="1"/>
            <p:nvPr/>
          </p:nvSpPr>
          <p:spPr>
            <a:xfrm>
              <a:off x="76200" y="28575"/>
              <a:ext cx="660400" cy="708025"/>
            </a:xfrm>
            <a:prstGeom prst="rect">
              <a:avLst/>
            </a:prstGeom>
          </p:spPr>
          <p:txBody>
            <a:bodyPr lIns="50800" tIns="50800" rIns="50800" bIns="50800" rtlCol="0" anchor="ctr"/>
            <a:lstStyle/>
            <a:p>
              <a:pPr algn="ctr">
                <a:lnSpc>
                  <a:spcPts val="2660"/>
                </a:lnSpc>
                <a:spcBef>
                  <a:spcPct val="0"/>
                </a:spcBef>
              </a:pPr>
            </a:p>
          </p:txBody>
        </p:sp>
      </p:grpSp>
      <p:grpSp>
        <p:nvGrpSpPr>
          <p:cNvPr id="29" name="Group 29"/>
          <p:cNvGrpSpPr/>
          <p:nvPr/>
        </p:nvGrpSpPr>
        <p:grpSpPr>
          <a:xfrm rot="0">
            <a:off x="8375071" y="2019033"/>
            <a:ext cx="1565999" cy="4614599"/>
            <a:chOff x="55033" y="-461857"/>
            <a:chExt cx="2087999" cy="6152798"/>
          </a:xfrm>
        </p:grpSpPr>
        <p:sp>
          <p:nvSpPr>
            <p:cNvPr id="30" name="TextBox 30"/>
            <p:cNvSpPr txBox="1"/>
            <p:nvPr/>
          </p:nvSpPr>
          <p:spPr>
            <a:xfrm>
              <a:off x="55033" y="-461857"/>
              <a:ext cx="2032448" cy="1062990"/>
            </a:xfrm>
            <a:prstGeom prst="rect">
              <a:avLst/>
            </a:prstGeom>
          </p:spPr>
          <p:txBody>
            <a:bodyPr lIns="0" tIns="0" rIns="0" bIns="0" rtlCol="0" anchor="t">
              <a:spAutoFit/>
            </a:bodyPr>
            <a:lstStyle/>
            <a:p>
              <a:pPr algn="ctr">
                <a:lnSpc>
                  <a:spcPts val="6720"/>
                </a:lnSpc>
                <a:spcBef>
                  <a:spcPct val="0"/>
                </a:spcBef>
              </a:pPr>
              <a:r>
                <a:rPr lang="en-US" sz="4800" spc="383">
                  <a:solidFill>
                    <a:srgbClr val="FFFFFF"/>
                  </a:solidFill>
                  <a:latin typeface="Arial Rounded MT Bold" panose="020F0704030504030204" charset="0"/>
                </a:rPr>
                <a:t>01</a:t>
              </a:r>
              <a:endParaRPr lang="en-US" sz="4800" spc="383">
                <a:solidFill>
                  <a:srgbClr val="FFFFFF"/>
                </a:solidFill>
                <a:latin typeface="Arial Rounded MT Bold" panose="020F0704030504030204" charset="0"/>
              </a:endParaRPr>
            </a:p>
          </p:txBody>
        </p:sp>
        <p:sp>
          <p:nvSpPr>
            <p:cNvPr id="31" name="TextBox 31"/>
            <p:cNvSpPr txBox="1"/>
            <p:nvPr/>
          </p:nvSpPr>
          <p:spPr>
            <a:xfrm>
              <a:off x="110584" y="1167902"/>
              <a:ext cx="2032448" cy="1062990"/>
            </a:xfrm>
            <a:prstGeom prst="rect">
              <a:avLst/>
            </a:prstGeom>
          </p:spPr>
          <p:txBody>
            <a:bodyPr lIns="0" tIns="0" rIns="0" bIns="0" rtlCol="0" anchor="t">
              <a:spAutoFit/>
            </a:bodyPr>
            <a:lstStyle/>
            <a:p>
              <a:pPr algn="ctr">
                <a:lnSpc>
                  <a:spcPts val="6720"/>
                </a:lnSpc>
                <a:spcBef>
                  <a:spcPct val="0"/>
                </a:spcBef>
              </a:pPr>
              <a:r>
                <a:rPr lang="en-US" sz="4800" spc="383">
                  <a:solidFill>
                    <a:srgbClr val="FFFFFF"/>
                  </a:solidFill>
                  <a:latin typeface="Arial Rounded MT Bold" panose="020F0704030504030204" charset="0"/>
                </a:rPr>
                <a:t>02</a:t>
              </a:r>
              <a:endParaRPr lang="en-US" sz="4800" spc="383">
                <a:solidFill>
                  <a:srgbClr val="FFFFFF"/>
                </a:solidFill>
                <a:latin typeface="Arial Rounded MT Bold" panose="020F0704030504030204" charset="0"/>
              </a:endParaRPr>
            </a:p>
          </p:txBody>
        </p:sp>
        <p:sp>
          <p:nvSpPr>
            <p:cNvPr id="32" name="TextBox 32"/>
            <p:cNvSpPr txBox="1"/>
            <p:nvPr/>
          </p:nvSpPr>
          <p:spPr>
            <a:xfrm>
              <a:off x="55292" y="2960067"/>
              <a:ext cx="2032448" cy="1062990"/>
            </a:xfrm>
            <a:prstGeom prst="rect">
              <a:avLst/>
            </a:prstGeom>
          </p:spPr>
          <p:txBody>
            <a:bodyPr lIns="0" tIns="0" rIns="0" bIns="0" rtlCol="0" anchor="t">
              <a:spAutoFit/>
            </a:bodyPr>
            <a:lstStyle/>
            <a:p>
              <a:pPr algn="ctr">
                <a:lnSpc>
                  <a:spcPts val="6720"/>
                </a:lnSpc>
                <a:spcBef>
                  <a:spcPct val="0"/>
                </a:spcBef>
              </a:pPr>
              <a:r>
                <a:rPr lang="en-US" sz="4800" spc="383">
                  <a:solidFill>
                    <a:srgbClr val="FFFFFF"/>
                  </a:solidFill>
                  <a:latin typeface="Arial Rounded MT Bold" panose="020F0704030504030204" charset="0"/>
                </a:rPr>
                <a:t>03</a:t>
              </a:r>
              <a:endParaRPr lang="en-US" sz="4800" spc="383">
                <a:solidFill>
                  <a:srgbClr val="FFFFFF"/>
                </a:solidFill>
                <a:latin typeface="Arial Rounded MT Bold" panose="020F0704030504030204" charset="0"/>
              </a:endParaRPr>
            </a:p>
          </p:txBody>
        </p:sp>
        <p:sp>
          <p:nvSpPr>
            <p:cNvPr id="33" name="TextBox 33"/>
            <p:cNvSpPr txBox="1"/>
            <p:nvPr/>
          </p:nvSpPr>
          <p:spPr>
            <a:xfrm>
              <a:off x="55292" y="4627951"/>
              <a:ext cx="2032448" cy="1062990"/>
            </a:xfrm>
            <a:prstGeom prst="rect">
              <a:avLst/>
            </a:prstGeom>
          </p:spPr>
          <p:txBody>
            <a:bodyPr lIns="0" tIns="0" rIns="0" bIns="0" rtlCol="0" anchor="t">
              <a:spAutoFit/>
            </a:bodyPr>
            <a:lstStyle/>
            <a:p>
              <a:pPr algn="ctr">
                <a:lnSpc>
                  <a:spcPts val="6720"/>
                </a:lnSpc>
                <a:spcBef>
                  <a:spcPct val="0"/>
                </a:spcBef>
              </a:pPr>
              <a:r>
                <a:rPr lang="en-US" sz="4800" spc="383">
                  <a:solidFill>
                    <a:srgbClr val="FFFFFF"/>
                  </a:solidFill>
                  <a:latin typeface="Arial Rounded MT Bold" panose="020F0704030504030204" charset="0"/>
                </a:rPr>
                <a:t>04</a:t>
              </a:r>
              <a:endParaRPr lang="en-US" sz="4800" spc="383">
                <a:solidFill>
                  <a:srgbClr val="FFFFFF"/>
                </a:solidFill>
                <a:latin typeface="Arial Rounded MT Bold" panose="020F0704030504030204" charset="0"/>
              </a:endParaRPr>
            </a:p>
          </p:txBody>
        </p:sp>
      </p:grpSp>
      <p:sp>
        <p:nvSpPr>
          <p:cNvPr id="34" name="TextBox 34"/>
          <p:cNvSpPr txBox="1"/>
          <p:nvPr/>
        </p:nvSpPr>
        <p:spPr>
          <a:xfrm>
            <a:off x="9921875" y="3345815"/>
            <a:ext cx="8124825" cy="771525"/>
          </a:xfrm>
          <a:prstGeom prst="rect">
            <a:avLst/>
          </a:prstGeom>
        </p:spPr>
        <p:txBody>
          <a:bodyPr wrap="square" lIns="0" tIns="0" rIns="0" bIns="0" rtlCol="0" anchor="t">
            <a:spAutoFit/>
          </a:bodyPr>
          <a:lstStyle/>
          <a:p>
            <a:pPr algn="l">
              <a:lnSpc>
                <a:spcPts val="6020"/>
              </a:lnSpc>
              <a:buClrTx/>
              <a:buSzTx/>
              <a:buNone/>
            </a:pPr>
            <a:r>
              <a:rPr lang="en-US" sz="4400" spc="102">
                <a:solidFill>
                  <a:srgbClr val="737373"/>
                </a:solidFill>
                <a:latin typeface="Calibri" panose="020F0502020204030204" charset="0"/>
                <a:cs typeface="Calibri" panose="020F0502020204030204" charset="0"/>
              </a:rPr>
              <a:t>The Solution Of Refactoring</a:t>
            </a:r>
            <a:endParaRPr lang="en-US" sz="4400" spc="102">
              <a:solidFill>
                <a:srgbClr val="737373"/>
              </a:solidFill>
              <a:latin typeface="Calibri" panose="020F0502020204030204" charset="0"/>
              <a:cs typeface="Calibri" panose="020F0502020204030204" charset="0"/>
            </a:endParaRPr>
          </a:p>
        </p:txBody>
      </p:sp>
      <p:sp>
        <p:nvSpPr>
          <p:cNvPr id="35" name="TextBox 35"/>
          <p:cNvSpPr txBox="1"/>
          <p:nvPr/>
        </p:nvSpPr>
        <p:spPr>
          <a:xfrm>
            <a:off x="9921875" y="4611370"/>
            <a:ext cx="8394700" cy="771525"/>
          </a:xfrm>
          <a:prstGeom prst="rect">
            <a:avLst/>
          </a:prstGeom>
        </p:spPr>
        <p:txBody>
          <a:bodyPr wrap="square" lIns="0" tIns="0" rIns="0" bIns="0" rtlCol="0" anchor="t">
            <a:spAutoFit/>
          </a:bodyPr>
          <a:lstStyle/>
          <a:p>
            <a:pPr algn="l">
              <a:lnSpc>
                <a:spcPts val="6020"/>
              </a:lnSpc>
              <a:buClrTx/>
              <a:buSzTx/>
              <a:buNone/>
            </a:pPr>
            <a:r>
              <a:rPr lang="en-US" sz="4400" spc="102">
                <a:solidFill>
                  <a:srgbClr val="737373"/>
                </a:solidFill>
                <a:latin typeface="Calibri" panose="020F0502020204030204" charset="0"/>
                <a:cs typeface="Calibri" panose="020F0502020204030204" charset="0"/>
              </a:rPr>
              <a:t>Detailed Steps To Implement</a:t>
            </a:r>
            <a:endParaRPr lang="en-US" sz="4400" spc="102">
              <a:solidFill>
                <a:srgbClr val="737373"/>
              </a:solidFill>
              <a:latin typeface="Calibri" panose="020F0502020204030204" charset="0"/>
              <a:cs typeface="Calibri" panose="020F0502020204030204" charset="0"/>
            </a:endParaRPr>
          </a:p>
        </p:txBody>
      </p:sp>
      <p:sp>
        <p:nvSpPr>
          <p:cNvPr id="36" name="TextBox 36"/>
          <p:cNvSpPr txBox="1"/>
          <p:nvPr/>
        </p:nvSpPr>
        <p:spPr>
          <a:xfrm>
            <a:off x="9921875" y="5923915"/>
            <a:ext cx="6005195" cy="771525"/>
          </a:xfrm>
          <a:prstGeom prst="rect">
            <a:avLst/>
          </a:prstGeom>
        </p:spPr>
        <p:txBody>
          <a:bodyPr wrap="square" lIns="0" tIns="0" rIns="0" bIns="0" rtlCol="0" anchor="t">
            <a:spAutoFit/>
          </a:bodyPr>
          <a:lstStyle/>
          <a:p>
            <a:pPr algn="l">
              <a:lnSpc>
                <a:spcPts val="6020"/>
              </a:lnSpc>
              <a:buClrTx/>
              <a:buSzTx/>
              <a:buNone/>
            </a:pPr>
            <a:r>
              <a:rPr lang="en-US" sz="4400" spc="102">
                <a:solidFill>
                  <a:srgbClr val="737373"/>
                </a:solidFill>
                <a:latin typeface="Calibri" panose="020F0502020204030204" charset="0"/>
                <a:cs typeface="Calibri" panose="020F0502020204030204" charset="0"/>
              </a:rPr>
              <a:t>A Concrete Example</a:t>
            </a:r>
            <a:endParaRPr lang="en-US" sz="4400" spc="102">
              <a:solidFill>
                <a:srgbClr val="737373"/>
              </a:solidFill>
              <a:latin typeface="Calibri" panose="020F0502020204030204" charset="0"/>
              <a:cs typeface="Calibri" panose="020F0502020204030204" charset="0"/>
            </a:endParaRPr>
          </a:p>
        </p:txBody>
      </p:sp>
      <p:sp>
        <p:nvSpPr>
          <p:cNvPr id="40" name="AutoShape 40"/>
          <p:cNvSpPr/>
          <p:nvPr/>
        </p:nvSpPr>
        <p:spPr>
          <a:xfrm flipH="1">
            <a:off x="7786177" y="2606879"/>
            <a:ext cx="0" cy="5120376"/>
          </a:xfrm>
          <a:prstGeom prst="line">
            <a:avLst/>
          </a:prstGeom>
          <a:ln w="19050" cap="flat">
            <a:solidFill>
              <a:srgbClr val="F6B99D"/>
            </a:solidFill>
            <a:prstDash val="solid"/>
            <a:headEnd type="none" w="sm" len="sm"/>
            <a:tailEnd type="none" w="sm" len="sm"/>
          </a:ln>
        </p:spPr>
      </p:sp>
      <p:grpSp>
        <p:nvGrpSpPr>
          <p:cNvPr id="41" name="Group 26"/>
          <p:cNvGrpSpPr/>
          <p:nvPr/>
        </p:nvGrpSpPr>
        <p:grpSpPr>
          <a:xfrm rot="0">
            <a:off x="8635985" y="7075513"/>
            <a:ext cx="999086" cy="999086"/>
            <a:chOff x="0" y="0"/>
            <a:chExt cx="812800" cy="812800"/>
          </a:xfrm>
        </p:grpSpPr>
        <p:sp>
          <p:nvSpPr>
            <p:cNvPr id="42" name="Freeform 27"/>
            <p:cNvSpPr/>
            <p:nvPr>
              <p:custDataLst>
                <p:tags r:id="rId17"/>
              </p:custDataLst>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43" name="TextBox 28"/>
            <p:cNvSpPr txBox="1"/>
            <p:nvPr>
              <p:custDataLst>
                <p:tags r:id="rId18"/>
              </p:custDataLst>
            </p:nvPr>
          </p:nvSpPr>
          <p:spPr>
            <a:xfrm>
              <a:off x="76200" y="28575"/>
              <a:ext cx="660400" cy="708025"/>
            </a:xfrm>
            <a:prstGeom prst="rect">
              <a:avLst/>
            </a:prstGeom>
          </p:spPr>
          <p:txBody>
            <a:bodyPr lIns="50800" tIns="50800" rIns="50800" bIns="50800" rtlCol="0" anchor="ctr"/>
            <a:p>
              <a:pPr algn="ctr">
                <a:lnSpc>
                  <a:spcPts val="2660"/>
                </a:lnSpc>
                <a:spcBef>
                  <a:spcPct val="0"/>
                </a:spcBef>
              </a:pPr>
            </a:p>
          </p:txBody>
        </p:sp>
      </p:grpSp>
      <p:sp>
        <p:nvSpPr>
          <p:cNvPr id="44" name="TextBox 36"/>
          <p:cNvSpPr txBox="1"/>
          <p:nvPr>
            <p:custDataLst>
              <p:tags r:id="rId19"/>
            </p:custDataLst>
          </p:nvPr>
        </p:nvSpPr>
        <p:spPr>
          <a:xfrm>
            <a:off x="9919970" y="7217410"/>
            <a:ext cx="8488045" cy="771525"/>
          </a:xfrm>
          <a:prstGeom prst="rect">
            <a:avLst/>
          </a:prstGeom>
        </p:spPr>
        <p:txBody>
          <a:bodyPr wrap="square" lIns="0" tIns="0" rIns="0" bIns="0" rtlCol="0" anchor="t">
            <a:spAutoFit/>
          </a:bodyPr>
          <a:p>
            <a:pPr algn="l">
              <a:lnSpc>
                <a:spcPts val="6020"/>
              </a:lnSpc>
              <a:buClrTx/>
              <a:buSzTx/>
              <a:buNone/>
            </a:pPr>
            <a:r>
              <a:rPr lang="en-US" sz="4400" spc="102">
                <a:solidFill>
                  <a:srgbClr val="737373"/>
                </a:solidFill>
                <a:latin typeface="Calibri" panose="020F0502020204030204" charset="0"/>
                <a:cs typeface="Calibri" panose="020F0502020204030204" charset="0"/>
              </a:rPr>
              <a:t>Benefits And Drawbacks</a:t>
            </a:r>
            <a:endParaRPr lang="en-US" sz="4400" spc="102">
              <a:solidFill>
                <a:srgbClr val="737373"/>
              </a:solidFill>
              <a:latin typeface="Calibri" panose="020F0502020204030204" charset="0"/>
              <a:cs typeface="Calibri" panose="020F0502020204030204" charset="0"/>
            </a:endParaRPr>
          </a:p>
        </p:txBody>
      </p:sp>
      <p:sp>
        <p:nvSpPr>
          <p:cNvPr id="45" name="TextBox 33"/>
          <p:cNvSpPr txBox="1"/>
          <p:nvPr>
            <p:custDataLst>
              <p:tags r:id="rId20"/>
            </p:custDataLst>
          </p:nvPr>
        </p:nvSpPr>
        <p:spPr>
          <a:xfrm>
            <a:off x="8375265" y="7108294"/>
            <a:ext cx="1524336" cy="861695"/>
          </a:xfrm>
          <a:prstGeom prst="rect">
            <a:avLst/>
          </a:prstGeom>
        </p:spPr>
        <p:txBody>
          <a:bodyPr lIns="0" tIns="0" rIns="0" bIns="0" rtlCol="0" anchor="t">
            <a:spAutoFit/>
          </a:bodyPr>
          <a:p>
            <a:pPr algn="ctr">
              <a:lnSpc>
                <a:spcPts val="6720"/>
              </a:lnSpc>
              <a:spcBef>
                <a:spcPct val="0"/>
              </a:spcBef>
            </a:pPr>
            <a:r>
              <a:rPr lang="en-US" sz="4800" spc="383">
                <a:solidFill>
                  <a:srgbClr val="FFFFFF"/>
                </a:solidFill>
                <a:latin typeface="Arial Rounded MT Bold" panose="020F0704030504030204" charset="0"/>
              </a:rPr>
              <a:t>05</a:t>
            </a:r>
            <a:endParaRPr lang="en-US" sz="4800" spc="383">
              <a:solidFill>
                <a:srgbClr val="FFFFFF"/>
              </a:solidFill>
              <a:latin typeface="Arial Rounded MT Bold" panose="020F07040305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001382" y="5443144"/>
            <a:ext cx="10002764" cy="8401899"/>
            <a:chOff x="0" y="0"/>
            <a:chExt cx="13337018" cy="11202532"/>
          </a:xfrm>
        </p:grpSpPr>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4293809">
              <a:off x="5750738" y="3129354"/>
              <a:ext cx="3782026" cy="4943825"/>
            </a:xfrm>
            <a:prstGeom prst="rect">
              <a:avLst/>
            </a:prstGeom>
          </p:spPr>
        </p:pic>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838581">
              <a:off x="668932" y="2645111"/>
              <a:ext cx="11999154" cy="5912311"/>
            </a:xfrm>
            <a:prstGeom prst="rect">
              <a:avLst/>
            </a:prstGeom>
          </p:spPr>
        </p:pic>
      </p:grpSp>
      <p:grpSp>
        <p:nvGrpSpPr>
          <p:cNvPr id="5" name="Group 5"/>
          <p:cNvGrpSpPr/>
          <p:nvPr/>
        </p:nvGrpSpPr>
        <p:grpSpPr>
          <a:xfrm rot="6646896">
            <a:off x="14013497" y="-3181377"/>
            <a:ext cx="6877785" cy="7307014"/>
            <a:chOff x="0" y="0"/>
            <a:chExt cx="9170380" cy="9742685"/>
          </a:xfrm>
        </p:grpSpPr>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10020101" flipV="1">
              <a:off x="1453372" y="609703"/>
              <a:ext cx="6263636" cy="7392704"/>
            </a:xfrm>
            <a:prstGeom prst="rect">
              <a:avLst/>
            </a:prstGeom>
          </p:spPr>
        </p:pic>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38708"/>
            <a:stretch>
              <a:fillRect/>
            </a:stretch>
          </p:blipFill>
          <p:spPr>
            <a:xfrm rot="7654232">
              <a:off x="907983" y="2069484"/>
              <a:ext cx="7354414" cy="5912311"/>
            </a:xfrm>
            <a:prstGeom prst="rect">
              <a:avLst/>
            </a:prstGeom>
          </p:spPr>
        </p:pic>
      </p:grpSp>
      <p:grpSp>
        <p:nvGrpSpPr>
          <p:cNvPr id="8" name="Group 8"/>
          <p:cNvGrpSpPr/>
          <p:nvPr/>
        </p:nvGrpSpPr>
        <p:grpSpPr>
          <a:xfrm rot="-4937986">
            <a:off x="-1726090" y="-1748908"/>
            <a:ext cx="6005388" cy="6286112"/>
            <a:chOff x="0" y="0"/>
            <a:chExt cx="8007184" cy="8381483"/>
          </a:xfrm>
        </p:grpSpPr>
        <p:pic>
          <p:nvPicPr>
            <p:cNvPr id="9" name="Picture 9"/>
            <p:cNvPicPr>
              <a:picLocks noChangeAspect="1"/>
            </p:cNvPicPr>
            <p:nvPr/>
          </p:nvPicPr>
          <p:blipFill>
            <a:blip r:embed="rId7">
              <a:alphaModFix amt="71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4068957">
              <a:off x="932313" y="1306613"/>
              <a:ext cx="6142557" cy="6142557"/>
            </a:xfrm>
            <a:prstGeom prst="rect">
              <a:avLst/>
            </a:prstGeom>
          </p:spPr>
        </p:pic>
        <p:pic>
          <p:nvPicPr>
            <p:cNvPr id="10" name="Picture 10"/>
            <p:cNvPicPr>
              <a:picLocks noChangeAspect="1"/>
            </p:cNvPicPr>
            <p:nvPr/>
          </p:nvPicPr>
          <p:blipFill>
            <a:blip r:embed="rId9">
              <a:alphaModFix amt="80000"/>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rot="-804865">
              <a:off x="3113361" y="435226"/>
              <a:ext cx="4356786" cy="5142130"/>
            </a:xfrm>
            <a:prstGeom prst="rect">
              <a:avLst/>
            </a:prstGeom>
          </p:spPr>
        </p:pic>
      </p:grpSp>
      <p:grpSp>
        <p:nvGrpSpPr>
          <p:cNvPr id="11" name="Group 11"/>
          <p:cNvGrpSpPr/>
          <p:nvPr/>
        </p:nvGrpSpPr>
        <p:grpSpPr>
          <a:xfrm rot="0">
            <a:off x="13739375" y="6499562"/>
            <a:ext cx="5424934" cy="4641848"/>
            <a:chOff x="0" y="0"/>
            <a:chExt cx="7233245" cy="6189131"/>
          </a:xfrm>
        </p:grpSpPr>
        <p:pic>
          <p:nvPicPr>
            <p:cNvPr id="12" name="Picture 1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p:blipFill>
          <p:spPr>
            <a:xfrm>
              <a:off x="0" y="0"/>
              <a:ext cx="6190578" cy="5486400"/>
            </a:xfrm>
            <a:prstGeom prst="rect">
              <a:avLst/>
            </a:prstGeom>
          </p:spPr>
        </p:pic>
        <p:pic>
          <p:nvPicPr>
            <p:cNvPr id="13" name="Picture 1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p:blipFill>
          <p:spPr>
            <a:xfrm rot="2336840">
              <a:off x="4054922" y="2579198"/>
              <a:ext cx="2445399" cy="3196600"/>
            </a:xfrm>
            <a:prstGeom prst="rect">
              <a:avLst/>
            </a:prstGeom>
          </p:spPr>
        </p:pic>
      </p:grpSp>
      <p:sp>
        <p:nvSpPr>
          <p:cNvPr id="14" name="TextBox 14"/>
          <p:cNvSpPr txBox="1"/>
          <p:nvPr/>
        </p:nvSpPr>
        <p:spPr>
          <a:xfrm>
            <a:off x="2159000" y="4612005"/>
            <a:ext cx="13962380" cy="1778635"/>
          </a:xfrm>
          <a:prstGeom prst="rect">
            <a:avLst/>
          </a:prstGeom>
        </p:spPr>
        <p:txBody>
          <a:bodyPr wrap="square" lIns="0" tIns="0" rIns="0" bIns="0" rtlCol="0" anchor="t">
            <a:spAutoFit/>
          </a:bodyPr>
          <a:lstStyle/>
          <a:p>
            <a:pPr algn="ctr">
              <a:lnSpc>
                <a:spcPts val="13870"/>
              </a:lnSpc>
              <a:spcBef>
                <a:spcPct val="0"/>
              </a:spcBef>
            </a:pPr>
            <a:r>
              <a:rPr lang="en-US" sz="10000">
                <a:solidFill>
                  <a:srgbClr val="16496B"/>
                </a:solidFill>
                <a:latin typeface="Calibri" panose="020F0502020204030204" charset="0"/>
                <a:cs typeface="Calibri" panose="020F0502020204030204" charset="0"/>
              </a:rPr>
              <a:t>The </a:t>
            </a:r>
            <a:r>
              <a:rPr lang="en-US" sz="9910">
                <a:solidFill>
                  <a:srgbClr val="16496B"/>
                </a:solidFill>
                <a:latin typeface="Calibri" panose="020F0502020204030204" charset="0"/>
                <a:cs typeface="Calibri" panose="020F0502020204030204" charset="0"/>
              </a:rPr>
              <a:t>Problem To Solve</a:t>
            </a:r>
            <a:endParaRPr lang="en-US" sz="9910">
              <a:solidFill>
                <a:srgbClr val="16496B"/>
              </a:solidFill>
              <a:latin typeface="Calibri" panose="020F0502020204030204" charset="0"/>
              <a:cs typeface="Calibri" panose="020F0502020204030204" charset="0"/>
            </a:endParaRPr>
          </a:p>
        </p:txBody>
      </p:sp>
      <p:sp>
        <p:nvSpPr>
          <p:cNvPr id="16" name="TextBox 16"/>
          <p:cNvSpPr txBox="1"/>
          <p:nvPr/>
        </p:nvSpPr>
        <p:spPr>
          <a:xfrm>
            <a:off x="7086378" y="3370465"/>
            <a:ext cx="3615701" cy="989330"/>
          </a:xfrm>
          <a:prstGeom prst="rect">
            <a:avLst/>
          </a:prstGeom>
        </p:spPr>
        <p:txBody>
          <a:bodyPr lIns="0" tIns="0" rIns="0" bIns="0" rtlCol="0" anchor="t">
            <a:spAutoFit/>
          </a:bodyPr>
          <a:lstStyle/>
          <a:p>
            <a:pPr algn="ctr">
              <a:lnSpc>
                <a:spcPts val="7715"/>
              </a:lnSpc>
            </a:pPr>
            <a:r>
              <a:rPr lang="en-US" sz="6595" spc="217">
                <a:solidFill>
                  <a:srgbClr val="16496B"/>
                </a:solidFill>
                <a:latin typeface="Calibri" panose="020F0502020204030204" charset="0"/>
                <a:cs typeface="Calibri" panose="020F0502020204030204" charset="0"/>
              </a:rPr>
              <a:t>PART</a:t>
            </a:r>
            <a:endParaRPr lang="en-US" sz="6595" spc="217">
              <a:solidFill>
                <a:srgbClr val="16496B"/>
              </a:solidFill>
              <a:latin typeface="Calibri" panose="020F0502020204030204" charset="0"/>
              <a:cs typeface="Calibri" panose="020F0502020204030204" charset="0"/>
            </a:endParaRPr>
          </a:p>
        </p:txBody>
      </p:sp>
      <p:grpSp>
        <p:nvGrpSpPr>
          <p:cNvPr id="17" name="Group 17"/>
          <p:cNvGrpSpPr/>
          <p:nvPr/>
        </p:nvGrpSpPr>
        <p:grpSpPr>
          <a:xfrm rot="0">
            <a:off x="10202536" y="3360940"/>
            <a:ext cx="999086" cy="999086"/>
            <a:chOff x="0" y="0"/>
            <a:chExt cx="812800" cy="812800"/>
          </a:xfrm>
        </p:grpSpPr>
        <p:sp>
          <p:nvSpPr>
            <p:cNvPr id="18" name="Freeform 18"/>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660"/>
                </a:lnSpc>
                <a:spcBef>
                  <a:spcPct val="0"/>
                </a:spcBef>
              </a:pPr>
            </a:p>
          </p:txBody>
        </p:sp>
      </p:grpSp>
      <p:sp>
        <p:nvSpPr>
          <p:cNvPr id="20" name="TextBox 20"/>
          <p:cNvSpPr txBox="1"/>
          <p:nvPr/>
        </p:nvSpPr>
        <p:spPr>
          <a:xfrm>
            <a:off x="10202536" y="3242944"/>
            <a:ext cx="999086" cy="1111251"/>
          </a:xfrm>
          <a:prstGeom prst="rect">
            <a:avLst/>
          </a:prstGeom>
        </p:spPr>
        <p:txBody>
          <a:bodyPr lIns="0" tIns="0" rIns="0" bIns="0" rtlCol="0" anchor="t">
            <a:spAutoFit/>
          </a:bodyPr>
          <a:lstStyle/>
          <a:p>
            <a:pPr algn="ctr">
              <a:lnSpc>
                <a:spcPts val="9100"/>
              </a:lnSpc>
            </a:pPr>
            <a:r>
              <a:rPr lang="en-US" sz="6500">
                <a:solidFill>
                  <a:srgbClr val="FFFFFF"/>
                </a:solidFill>
                <a:latin typeface="Arial Rounded MT Bold" panose="020F0704030504030204" charset="0"/>
              </a:rPr>
              <a:t>1</a:t>
            </a:r>
            <a:endParaRPr lang="en-US" sz="6500">
              <a:solidFill>
                <a:srgbClr val="FFFFFF"/>
              </a:solidFill>
              <a:latin typeface="Arial Rounded MT Bold" panose="020F07040305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A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2534271">
            <a:off x="-4337359" y="-3575806"/>
            <a:ext cx="6599853" cy="6335859"/>
          </a:xfrm>
          <a:prstGeom prst="rect">
            <a:avLst/>
          </a:prstGeom>
        </p:spPr>
      </p:pic>
      <p:grpSp>
        <p:nvGrpSpPr>
          <p:cNvPr id="7" name="Group 7"/>
          <p:cNvGrpSpPr/>
          <p:nvPr/>
        </p:nvGrpSpPr>
        <p:grpSpPr>
          <a:xfrm rot="0">
            <a:off x="1028700" y="3564890"/>
            <a:ext cx="3714115" cy="4491990"/>
            <a:chOff x="0" y="0"/>
            <a:chExt cx="1033540" cy="1215130"/>
          </a:xfrm>
        </p:grpSpPr>
        <p:sp>
          <p:nvSpPr>
            <p:cNvPr id="8" name="Freeform 8"/>
            <p:cNvSpPr/>
            <p:nvPr/>
          </p:nvSpPr>
          <p:spPr>
            <a:xfrm>
              <a:off x="0" y="0"/>
              <a:ext cx="1033540" cy="1215130"/>
            </a:xfrm>
            <a:custGeom>
              <a:avLst/>
              <a:gdLst/>
              <a:ahLst/>
              <a:cxnLst/>
              <a:rect l="l" t="t" r="r" b="b"/>
              <a:pathLst>
                <a:path w="1033540" h="1215130">
                  <a:moveTo>
                    <a:pt x="106313" y="0"/>
                  </a:moveTo>
                  <a:lnTo>
                    <a:pt x="927227" y="0"/>
                  </a:lnTo>
                  <a:cubicBezTo>
                    <a:pt x="955423" y="0"/>
                    <a:pt x="982464" y="11201"/>
                    <a:pt x="1002401" y="31138"/>
                  </a:cubicBezTo>
                  <a:cubicBezTo>
                    <a:pt x="1022339" y="51076"/>
                    <a:pt x="1033540" y="78117"/>
                    <a:pt x="1033540" y="106313"/>
                  </a:cubicBezTo>
                  <a:lnTo>
                    <a:pt x="1033540" y="1108817"/>
                  </a:lnTo>
                  <a:cubicBezTo>
                    <a:pt x="1033540" y="1137013"/>
                    <a:pt x="1022339" y="1164054"/>
                    <a:pt x="1002401" y="1183991"/>
                  </a:cubicBezTo>
                  <a:cubicBezTo>
                    <a:pt x="982464" y="1203929"/>
                    <a:pt x="955423" y="1215130"/>
                    <a:pt x="927227" y="1215130"/>
                  </a:cubicBezTo>
                  <a:lnTo>
                    <a:pt x="106313" y="1215130"/>
                  </a:lnTo>
                  <a:cubicBezTo>
                    <a:pt x="78117" y="1215130"/>
                    <a:pt x="51076" y="1203929"/>
                    <a:pt x="31138" y="1183991"/>
                  </a:cubicBezTo>
                  <a:cubicBezTo>
                    <a:pt x="11201" y="1164054"/>
                    <a:pt x="0" y="1137013"/>
                    <a:pt x="0" y="1108817"/>
                  </a:cubicBezTo>
                  <a:lnTo>
                    <a:pt x="0" y="106313"/>
                  </a:lnTo>
                  <a:cubicBezTo>
                    <a:pt x="0" y="78117"/>
                    <a:pt x="11201" y="51076"/>
                    <a:pt x="31138" y="31138"/>
                  </a:cubicBezTo>
                  <a:cubicBezTo>
                    <a:pt x="51076" y="11201"/>
                    <a:pt x="78117" y="0"/>
                    <a:pt x="106313" y="0"/>
                  </a:cubicBezTo>
                  <a:close/>
                </a:path>
              </a:pathLst>
            </a:custGeom>
            <a:solidFill>
              <a:srgbClr val="7495AB"/>
            </a:solidFill>
            <a:ln w="19050">
              <a:solidFill>
                <a:srgbClr val="7495AB"/>
              </a:solidFill>
            </a:ln>
          </p:spPr>
        </p:sp>
        <p:sp>
          <p:nvSpPr>
            <p:cNvPr id="9" name="TextBox 9"/>
            <p:cNvSpPr txBox="1"/>
            <p:nvPr/>
          </p:nvSpPr>
          <p:spPr>
            <a:xfrm>
              <a:off x="0" y="-47625"/>
              <a:ext cx="812800" cy="860425"/>
            </a:xfrm>
            <a:prstGeom prst="rect">
              <a:avLst/>
            </a:prstGeom>
          </p:spPr>
          <p:txBody>
            <a:bodyPr lIns="49086" tIns="49086" rIns="49086" bIns="49086" rtlCol="0" anchor="ctr"/>
            <a:lstStyle/>
            <a:p>
              <a:pPr algn="ctr">
                <a:lnSpc>
                  <a:spcPts val="3360"/>
                </a:lnSpc>
              </a:pPr>
            </a:p>
          </p:txBody>
        </p:sp>
      </p:grpSp>
      <p:grpSp>
        <p:nvGrpSpPr>
          <p:cNvPr id="10" name="Group 10"/>
          <p:cNvGrpSpPr/>
          <p:nvPr/>
        </p:nvGrpSpPr>
        <p:grpSpPr>
          <a:xfrm rot="0">
            <a:off x="9370695" y="3564890"/>
            <a:ext cx="3714115" cy="4492625"/>
            <a:chOff x="0" y="0"/>
            <a:chExt cx="1033540" cy="1215130"/>
          </a:xfrm>
        </p:grpSpPr>
        <p:sp>
          <p:nvSpPr>
            <p:cNvPr id="11" name="Freeform 11"/>
            <p:cNvSpPr/>
            <p:nvPr/>
          </p:nvSpPr>
          <p:spPr>
            <a:xfrm>
              <a:off x="0" y="0"/>
              <a:ext cx="1033540" cy="1215130"/>
            </a:xfrm>
            <a:custGeom>
              <a:avLst/>
              <a:gdLst/>
              <a:ahLst/>
              <a:cxnLst/>
              <a:rect l="l" t="t" r="r" b="b"/>
              <a:pathLst>
                <a:path w="1033540" h="1215130">
                  <a:moveTo>
                    <a:pt x="106313" y="0"/>
                  </a:moveTo>
                  <a:lnTo>
                    <a:pt x="927227" y="0"/>
                  </a:lnTo>
                  <a:cubicBezTo>
                    <a:pt x="955423" y="0"/>
                    <a:pt x="982464" y="11201"/>
                    <a:pt x="1002401" y="31138"/>
                  </a:cubicBezTo>
                  <a:cubicBezTo>
                    <a:pt x="1022339" y="51076"/>
                    <a:pt x="1033540" y="78117"/>
                    <a:pt x="1033540" y="106313"/>
                  </a:cubicBezTo>
                  <a:lnTo>
                    <a:pt x="1033540" y="1108817"/>
                  </a:lnTo>
                  <a:cubicBezTo>
                    <a:pt x="1033540" y="1137013"/>
                    <a:pt x="1022339" y="1164054"/>
                    <a:pt x="1002401" y="1183991"/>
                  </a:cubicBezTo>
                  <a:cubicBezTo>
                    <a:pt x="982464" y="1203929"/>
                    <a:pt x="955423" y="1215130"/>
                    <a:pt x="927227" y="1215130"/>
                  </a:cubicBezTo>
                  <a:lnTo>
                    <a:pt x="106313" y="1215130"/>
                  </a:lnTo>
                  <a:cubicBezTo>
                    <a:pt x="78117" y="1215130"/>
                    <a:pt x="51076" y="1203929"/>
                    <a:pt x="31138" y="1183991"/>
                  </a:cubicBezTo>
                  <a:cubicBezTo>
                    <a:pt x="11201" y="1164054"/>
                    <a:pt x="0" y="1137013"/>
                    <a:pt x="0" y="1108817"/>
                  </a:cubicBezTo>
                  <a:lnTo>
                    <a:pt x="0" y="106313"/>
                  </a:lnTo>
                  <a:cubicBezTo>
                    <a:pt x="0" y="78117"/>
                    <a:pt x="11201" y="51076"/>
                    <a:pt x="31138" y="31138"/>
                  </a:cubicBezTo>
                  <a:cubicBezTo>
                    <a:pt x="51076" y="11201"/>
                    <a:pt x="78117" y="0"/>
                    <a:pt x="106313" y="0"/>
                  </a:cubicBezTo>
                  <a:close/>
                </a:path>
              </a:pathLst>
            </a:custGeom>
            <a:solidFill>
              <a:srgbClr val="7495AB"/>
            </a:solidFill>
            <a:ln w="19050">
              <a:solidFill>
                <a:srgbClr val="7495AB"/>
              </a:solidFill>
            </a:ln>
          </p:spPr>
        </p:sp>
        <p:sp>
          <p:nvSpPr>
            <p:cNvPr id="12" name="TextBox 12"/>
            <p:cNvSpPr txBox="1"/>
            <p:nvPr/>
          </p:nvSpPr>
          <p:spPr>
            <a:xfrm>
              <a:off x="0" y="-47625"/>
              <a:ext cx="812800" cy="860425"/>
            </a:xfrm>
            <a:prstGeom prst="rect">
              <a:avLst/>
            </a:prstGeom>
          </p:spPr>
          <p:txBody>
            <a:bodyPr lIns="49086" tIns="49086" rIns="49086" bIns="49086" rtlCol="0" anchor="ctr"/>
            <a:lstStyle/>
            <a:p>
              <a:pPr algn="ctr">
                <a:lnSpc>
                  <a:spcPts val="3360"/>
                </a:lnSpc>
              </a:pPr>
              <a:endParaRPr>
                <a:latin typeface="Calibri" panose="020F0502020204030204" charset="0"/>
                <a:cs typeface="Calibri" panose="020F0502020204030204" charset="0"/>
              </a:endParaRPr>
            </a:p>
          </p:txBody>
        </p:sp>
      </p:grpSp>
      <p:grpSp>
        <p:nvGrpSpPr>
          <p:cNvPr id="13" name="Group 13"/>
          <p:cNvGrpSpPr/>
          <p:nvPr/>
        </p:nvGrpSpPr>
        <p:grpSpPr>
          <a:xfrm rot="0">
            <a:off x="5207635" y="3547110"/>
            <a:ext cx="3714115" cy="4496435"/>
            <a:chOff x="0" y="0"/>
            <a:chExt cx="1033540" cy="1215130"/>
          </a:xfrm>
        </p:grpSpPr>
        <p:sp>
          <p:nvSpPr>
            <p:cNvPr id="14" name="Freeform 14"/>
            <p:cNvSpPr/>
            <p:nvPr/>
          </p:nvSpPr>
          <p:spPr>
            <a:xfrm>
              <a:off x="0" y="0"/>
              <a:ext cx="1033540" cy="1215130"/>
            </a:xfrm>
            <a:custGeom>
              <a:avLst/>
              <a:gdLst/>
              <a:ahLst/>
              <a:cxnLst/>
              <a:rect l="l" t="t" r="r" b="b"/>
              <a:pathLst>
                <a:path w="1033540" h="1215130">
                  <a:moveTo>
                    <a:pt x="106313" y="0"/>
                  </a:moveTo>
                  <a:lnTo>
                    <a:pt x="927227" y="0"/>
                  </a:lnTo>
                  <a:cubicBezTo>
                    <a:pt x="955423" y="0"/>
                    <a:pt x="982464" y="11201"/>
                    <a:pt x="1002401" y="31138"/>
                  </a:cubicBezTo>
                  <a:cubicBezTo>
                    <a:pt x="1022339" y="51076"/>
                    <a:pt x="1033540" y="78117"/>
                    <a:pt x="1033540" y="106313"/>
                  </a:cubicBezTo>
                  <a:lnTo>
                    <a:pt x="1033540" y="1108817"/>
                  </a:lnTo>
                  <a:cubicBezTo>
                    <a:pt x="1033540" y="1137013"/>
                    <a:pt x="1022339" y="1164054"/>
                    <a:pt x="1002401" y="1183991"/>
                  </a:cubicBezTo>
                  <a:cubicBezTo>
                    <a:pt x="982464" y="1203929"/>
                    <a:pt x="955423" y="1215130"/>
                    <a:pt x="927227" y="1215130"/>
                  </a:cubicBezTo>
                  <a:lnTo>
                    <a:pt x="106313" y="1215130"/>
                  </a:lnTo>
                  <a:cubicBezTo>
                    <a:pt x="78117" y="1215130"/>
                    <a:pt x="51076" y="1203929"/>
                    <a:pt x="31138" y="1183991"/>
                  </a:cubicBezTo>
                  <a:cubicBezTo>
                    <a:pt x="11201" y="1164054"/>
                    <a:pt x="0" y="1137013"/>
                    <a:pt x="0" y="1108817"/>
                  </a:cubicBezTo>
                  <a:lnTo>
                    <a:pt x="0" y="106313"/>
                  </a:lnTo>
                  <a:cubicBezTo>
                    <a:pt x="0" y="78117"/>
                    <a:pt x="11201" y="51076"/>
                    <a:pt x="31138" y="31138"/>
                  </a:cubicBezTo>
                  <a:cubicBezTo>
                    <a:pt x="51076" y="11201"/>
                    <a:pt x="78117" y="0"/>
                    <a:pt x="106313" y="0"/>
                  </a:cubicBezTo>
                  <a:close/>
                </a:path>
              </a:pathLst>
            </a:custGeom>
            <a:solidFill>
              <a:srgbClr val="F6B99D"/>
            </a:solidFill>
            <a:ln w="19050">
              <a:solidFill>
                <a:srgbClr val="F6B99D"/>
              </a:solidFill>
            </a:ln>
          </p:spPr>
        </p:sp>
        <p:sp>
          <p:nvSpPr>
            <p:cNvPr id="15" name="TextBox 15"/>
            <p:cNvSpPr txBox="1"/>
            <p:nvPr/>
          </p:nvSpPr>
          <p:spPr>
            <a:xfrm>
              <a:off x="0" y="-47625"/>
              <a:ext cx="812800" cy="860425"/>
            </a:xfrm>
            <a:prstGeom prst="rect">
              <a:avLst/>
            </a:prstGeom>
          </p:spPr>
          <p:txBody>
            <a:bodyPr lIns="49086" tIns="49086" rIns="49086" bIns="49086" rtlCol="0" anchor="ctr"/>
            <a:lstStyle/>
            <a:p>
              <a:pPr algn="ctr">
                <a:lnSpc>
                  <a:spcPts val="3360"/>
                </a:lnSpc>
              </a:pPr>
              <a:endParaRPr>
                <a:latin typeface="Calibri" panose="020F0502020204030204" charset="0"/>
                <a:cs typeface="Calibri" panose="020F0502020204030204" charset="0"/>
              </a:endParaRPr>
            </a:p>
          </p:txBody>
        </p:sp>
      </p:grpSp>
      <p:grpSp>
        <p:nvGrpSpPr>
          <p:cNvPr id="16" name="Group 16"/>
          <p:cNvGrpSpPr/>
          <p:nvPr/>
        </p:nvGrpSpPr>
        <p:grpSpPr>
          <a:xfrm rot="0">
            <a:off x="13545185" y="3564890"/>
            <a:ext cx="3714115" cy="4479290"/>
            <a:chOff x="0" y="0"/>
            <a:chExt cx="1033540" cy="1215130"/>
          </a:xfrm>
        </p:grpSpPr>
        <p:sp>
          <p:nvSpPr>
            <p:cNvPr id="17" name="Freeform 17"/>
            <p:cNvSpPr/>
            <p:nvPr/>
          </p:nvSpPr>
          <p:spPr>
            <a:xfrm>
              <a:off x="0" y="0"/>
              <a:ext cx="1033540" cy="1215130"/>
            </a:xfrm>
            <a:custGeom>
              <a:avLst/>
              <a:gdLst/>
              <a:ahLst/>
              <a:cxnLst/>
              <a:rect l="l" t="t" r="r" b="b"/>
              <a:pathLst>
                <a:path w="1033540" h="1215130">
                  <a:moveTo>
                    <a:pt x="106313" y="0"/>
                  </a:moveTo>
                  <a:lnTo>
                    <a:pt x="927227" y="0"/>
                  </a:lnTo>
                  <a:cubicBezTo>
                    <a:pt x="955423" y="0"/>
                    <a:pt x="982464" y="11201"/>
                    <a:pt x="1002401" y="31138"/>
                  </a:cubicBezTo>
                  <a:cubicBezTo>
                    <a:pt x="1022339" y="51076"/>
                    <a:pt x="1033540" y="78117"/>
                    <a:pt x="1033540" y="106313"/>
                  </a:cubicBezTo>
                  <a:lnTo>
                    <a:pt x="1033540" y="1108817"/>
                  </a:lnTo>
                  <a:cubicBezTo>
                    <a:pt x="1033540" y="1137013"/>
                    <a:pt x="1022339" y="1164054"/>
                    <a:pt x="1002401" y="1183991"/>
                  </a:cubicBezTo>
                  <a:cubicBezTo>
                    <a:pt x="982464" y="1203929"/>
                    <a:pt x="955423" y="1215130"/>
                    <a:pt x="927227" y="1215130"/>
                  </a:cubicBezTo>
                  <a:lnTo>
                    <a:pt x="106313" y="1215130"/>
                  </a:lnTo>
                  <a:cubicBezTo>
                    <a:pt x="78117" y="1215130"/>
                    <a:pt x="51076" y="1203929"/>
                    <a:pt x="31138" y="1183991"/>
                  </a:cubicBezTo>
                  <a:cubicBezTo>
                    <a:pt x="11201" y="1164054"/>
                    <a:pt x="0" y="1137013"/>
                    <a:pt x="0" y="1108817"/>
                  </a:cubicBezTo>
                  <a:lnTo>
                    <a:pt x="0" y="106313"/>
                  </a:lnTo>
                  <a:cubicBezTo>
                    <a:pt x="0" y="78117"/>
                    <a:pt x="11201" y="51076"/>
                    <a:pt x="31138" y="31138"/>
                  </a:cubicBezTo>
                  <a:cubicBezTo>
                    <a:pt x="51076" y="11201"/>
                    <a:pt x="78117" y="0"/>
                    <a:pt x="106313" y="0"/>
                  </a:cubicBezTo>
                  <a:close/>
                </a:path>
              </a:pathLst>
            </a:custGeom>
            <a:solidFill>
              <a:srgbClr val="F6B99D"/>
            </a:solidFill>
            <a:ln w="19050">
              <a:solidFill>
                <a:srgbClr val="F6B99D"/>
              </a:solidFill>
            </a:ln>
          </p:spPr>
        </p:sp>
        <p:sp>
          <p:nvSpPr>
            <p:cNvPr id="18" name="TextBox 18"/>
            <p:cNvSpPr txBox="1"/>
            <p:nvPr/>
          </p:nvSpPr>
          <p:spPr>
            <a:xfrm>
              <a:off x="0" y="-47625"/>
              <a:ext cx="812800" cy="860425"/>
            </a:xfrm>
            <a:prstGeom prst="rect">
              <a:avLst/>
            </a:prstGeom>
          </p:spPr>
          <p:txBody>
            <a:bodyPr lIns="49086" tIns="49086" rIns="49086" bIns="49086" rtlCol="0" anchor="ctr"/>
            <a:lstStyle/>
            <a:p>
              <a:pPr algn="ctr">
                <a:lnSpc>
                  <a:spcPts val="3360"/>
                </a:lnSpc>
              </a:pPr>
            </a:p>
          </p:txBody>
        </p:sp>
      </p:grpSp>
      <p:grpSp>
        <p:nvGrpSpPr>
          <p:cNvPr id="19" name="Group 19"/>
          <p:cNvGrpSpPr/>
          <p:nvPr/>
        </p:nvGrpSpPr>
        <p:grpSpPr>
          <a:xfrm rot="0">
            <a:off x="2504534" y="3143710"/>
            <a:ext cx="841945" cy="841945"/>
            <a:chOff x="0" y="0"/>
            <a:chExt cx="812800" cy="812800"/>
          </a:xfrm>
        </p:grpSpPr>
        <p:sp>
          <p:nvSpPr>
            <p:cNvPr id="20" name="Freeform 20"/>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495AB"/>
            </a:solidFill>
            <a:ln w="38100">
              <a:solidFill>
                <a:srgbClr val="FFFFFF"/>
              </a:solidFill>
            </a:ln>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60"/>
                </a:lnSpc>
              </a:pPr>
            </a:p>
          </p:txBody>
        </p:sp>
      </p:grpSp>
      <p:grpSp>
        <p:nvGrpSpPr>
          <p:cNvPr id="22" name="Group 22"/>
          <p:cNvGrpSpPr/>
          <p:nvPr/>
        </p:nvGrpSpPr>
        <p:grpSpPr>
          <a:xfrm rot="0">
            <a:off x="10846841" y="3143710"/>
            <a:ext cx="841945" cy="841945"/>
            <a:chOff x="0" y="0"/>
            <a:chExt cx="812800" cy="812800"/>
          </a:xfrm>
        </p:grpSpPr>
        <p:sp>
          <p:nvSpPr>
            <p:cNvPr id="23" name="Freeform 2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495AB"/>
            </a:solidFill>
            <a:ln w="38100">
              <a:solidFill>
                <a:srgbClr val="FFFFFF"/>
              </a:solidFill>
            </a:ln>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60"/>
                </a:lnSpc>
              </a:pPr>
            </a:p>
          </p:txBody>
        </p:sp>
      </p:grpSp>
      <p:grpSp>
        <p:nvGrpSpPr>
          <p:cNvPr id="25" name="Group 25"/>
          <p:cNvGrpSpPr/>
          <p:nvPr/>
        </p:nvGrpSpPr>
        <p:grpSpPr>
          <a:xfrm rot="0">
            <a:off x="6683338" y="3125930"/>
            <a:ext cx="841945" cy="841945"/>
            <a:chOff x="0" y="0"/>
            <a:chExt cx="812800" cy="812800"/>
          </a:xfrm>
        </p:grpSpPr>
        <p:sp>
          <p:nvSpPr>
            <p:cNvPr id="26" name="Freeform 26"/>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a:ln w="38100">
              <a:solidFill>
                <a:srgbClr val="FFFFFF"/>
              </a:solidFill>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60"/>
                </a:lnSpc>
              </a:pPr>
            </a:p>
          </p:txBody>
        </p:sp>
      </p:grpSp>
      <p:grpSp>
        <p:nvGrpSpPr>
          <p:cNvPr id="28" name="Group 28"/>
          <p:cNvGrpSpPr/>
          <p:nvPr/>
        </p:nvGrpSpPr>
        <p:grpSpPr>
          <a:xfrm rot="0">
            <a:off x="15021200" y="3143710"/>
            <a:ext cx="841945" cy="841945"/>
            <a:chOff x="0" y="0"/>
            <a:chExt cx="812800" cy="812800"/>
          </a:xfrm>
        </p:grpSpPr>
        <p:sp>
          <p:nvSpPr>
            <p:cNvPr id="29" name="Freeform 29"/>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a:ln w="38100">
              <a:solidFill>
                <a:srgbClr val="FFFFFF"/>
              </a:solidFill>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60"/>
                </a:lnSpc>
              </a:pPr>
            </a:p>
          </p:txBody>
        </p:sp>
      </p:grpSp>
      <p:sp>
        <p:nvSpPr>
          <p:cNvPr id="31" name="TextBox 31"/>
          <p:cNvSpPr txBox="1"/>
          <p:nvPr/>
        </p:nvSpPr>
        <p:spPr>
          <a:xfrm>
            <a:off x="1154430" y="4076700"/>
            <a:ext cx="3469640" cy="951230"/>
          </a:xfrm>
          <a:prstGeom prst="rect">
            <a:avLst/>
          </a:prstGeom>
        </p:spPr>
        <p:txBody>
          <a:bodyPr wrap="square" lIns="0" tIns="0" rIns="0" bIns="0" rtlCol="0" anchor="t">
            <a:spAutoFit/>
          </a:bodyPr>
          <a:lstStyle/>
          <a:p>
            <a:pPr algn="ctr">
              <a:lnSpc>
                <a:spcPts val="3710"/>
              </a:lnSpc>
              <a:spcBef>
                <a:spcPct val="0"/>
              </a:spcBef>
            </a:pPr>
            <a:r>
              <a:rPr lang="en-US" b="1" spc="233">
                <a:solidFill>
                  <a:srgbClr val="FFFFFF"/>
                </a:solidFill>
                <a:latin typeface="Calibri" panose="020F0502020204030204" charset="0"/>
                <a:cs typeface="Calibri" panose="020F0502020204030204" charset="0"/>
              </a:rPr>
              <a:t>Excessive Conditionals Leading to Complexity</a:t>
            </a:r>
            <a:endParaRPr lang="en-US" b="1" spc="233">
              <a:solidFill>
                <a:srgbClr val="FFFFFF"/>
              </a:solidFill>
              <a:latin typeface="Calibri" panose="020F0502020204030204" charset="0"/>
              <a:cs typeface="Calibri" panose="020F0502020204030204" charset="0"/>
            </a:endParaRPr>
          </a:p>
        </p:txBody>
      </p:sp>
      <p:sp>
        <p:nvSpPr>
          <p:cNvPr id="32" name="TextBox 32"/>
          <p:cNvSpPr txBox="1"/>
          <p:nvPr/>
        </p:nvSpPr>
        <p:spPr>
          <a:xfrm>
            <a:off x="5285740" y="4076700"/>
            <a:ext cx="3542030" cy="951230"/>
          </a:xfrm>
          <a:prstGeom prst="rect">
            <a:avLst/>
          </a:prstGeom>
        </p:spPr>
        <p:txBody>
          <a:bodyPr wrap="square" lIns="0" tIns="0" rIns="0" bIns="0" rtlCol="0" anchor="t">
            <a:spAutoFit/>
          </a:bodyPr>
          <a:lstStyle/>
          <a:p>
            <a:pPr algn="ctr">
              <a:lnSpc>
                <a:spcPts val="3710"/>
              </a:lnSpc>
              <a:spcBef>
                <a:spcPct val="0"/>
              </a:spcBef>
            </a:pPr>
            <a:r>
              <a:rPr lang="en-US" b="1" spc="233">
                <a:solidFill>
                  <a:srgbClr val="FFFFFF"/>
                </a:solidFill>
                <a:latin typeface="Calibri" panose="020F0502020204030204" charset="0"/>
                <a:cs typeface="Calibri" panose="020F0502020204030204" charset="0"/>
              </a:rPr>
              <a:t>Violation of the Open-Closed Principle</a:t>
            </a:r>
            <a:endParaRPr lang="en-US" b="1" spc="233">
              <a:solidFill>
                <a:srgbClr val="FFFFFF"/>
              </a:solidFill>
              <a:latin typeface="Calibri" panose="020F0502020204030204" charset="0"/>
              <a:cs typeface="Calibri" panose="020F0502020204030204" charset="0"/>
            </a:endParaRPr>
          </a:p>
        </p:txBody>
      </p:sp>
      <p:sp>
        <p:nvSpPr>
          <p:cNvPr id="33" name="TextBox 33"/>
          <p:cNvSpPr txBox="1"/>
          <p:nvPr/>
        </p:nvSpPr>
        <p:spPr>
          <a:xfrm>
            <a:off x="9505315" y="4108450"/>
            <a:ext cx="3500120" cy="699770"/>
          </a:xfrm>
          <a:prstGeom prst="rect">
            <a:avLst/>
          </a:prstGeom>
        </p:spPr>
        <p:txBody>
          <a:bodyPr lIns="0" tIns="0" rIns="0" bIns="0" rtlCol="0" anchor="t">
            <a:noAutofit/>
          </a:bodyPr>
          <a:lstStyle/>
          <a:p>
            <a:pPr algn="ctr">
              <a:lnSpc>
                <a:spcPts val="3710"/>
              </a:lnSpc>
              <a:spcBef>
                <a:spcPct val="0"/>
              </a:spcBef>
            </a:pPr>
            <a:r>
              <a:rPr lang="en-US" b="1" spc="233">
                <a:solidFill>
                  <a:srgbClr val="FFFFFF"/>
                </a:solidFill>
                <a:latin typeface="Calibri" panose="020F0502020204030204" charset="0"/>
                <a:cs typeface="Calibri" panose="020F0502020204030204" charset="0"/>
                <a:sym typeface="+mn-ea"/>
              </a:rPr>
              <a:t>Difficulties in Extending </a:t>
            </a:r>
            <a:endParaRPr lang="en-US" b="1" spc="233">
              <a:solidFill>
                <a:srgbClr val="FFFFFF"/>
              </a:solidFill>
              <a:latin typeface="Calibri" panose="020F0502020204030204" charset="0"/>
              <a:cs typeface="Calibri" panose="020F0502020204030204" charset="0"/>
              <a:sym typeface="+mn-ea"/>
            </a:endParaRPr>
          </a:p>
          <a:p>
            <a:pPr algn="ctr">
              <a:lnSpc>
                <a:spcPts val="3710"/>
              </a:lnSpc>
              <a:spcBef>
                <a:spcPct val="0"/>
              </a:spcBef>
            </a:pPr>
            <a:r>
              <a:rPr lang="en-US" b="1" spc="233">
                <a:solidFill>
                  <a:srgbClr val="FFFFFF"/>
                </a:solidFill>
                <a:latin typeface="Calibri" panose="020F0502020204030204" charset="0"/>
                <a:cs typeface="Calibri" panose="020F0502020204030204" charset="0"/>
                <a:sym typeface="+mn-ea"/>
              </a:rPr>
              <a:t>and Maintaining Code</a:t>
            </a:r>
            <a:endParaRPr lang="en-US" b="1" spc="233">
              <a:solidFill>
                <a:srgbClr val="FFFFFF"/>
              </a:solidFill>
              <a:latin typeface="Calibri" panose="020F0502020204030204" charset="0"/>
              <a:cs typeface="Calibri" panose="020F0502020204030204" charset="0"/>
              <a:sym typeface="+mn-ea"/>
            </a:endParaRPr>
          </a:p>
        </p:txBody>
      </p:sp>
      <p:sp>
        <p:nvSpPr>
          <p:cNvPr id="34" name="TextBox 34"/>
          <p:cNvSpPr txBox="1"/>
          <p:nvPr/>
        </p:nvSpPr>
        <p:spPr>
          <a:xfrm>
            <a:off x="13614400" y="4076700"/>
            <a:ext cx="3602355" cy="951230"/>
          </a:xfrm>
          <a:prstGeom prst="rect">
            <a:avLst/>
          </a:prstGeom>
        </p:spPr>
        <p:txBody>
          <a:bodyPr wrap="square" lIns="0" tIns="0" rIns="0" bIns="0" rtlCol="0" anchor="t">
            <a:spAutoFit/>
          </a:bodyPr>
          <a:lstStyle/>
          <a:p>
            <a:pPr algn="ctr">
              <a:lnSpc>
                <a:spcPts val="3710"/>
              </a:lnSpc>
              <a:spcBef>
                <a:spcPct val="0"/>
              </a:spcBef>
            </a:pPr>
            <a:r>
              <a:rPr lang="en-US" b="1" spc="233">
                <a:solidFill>
                  <a:srgbClr val="FFFFFF"/>
                </a:solidFill>
                <a:latin typeface="Calibri" panose="020F0502020204030204" charset="0"/>
                <a:cs typeface="Calibri" panose="020F0502020204030204" charset="0"/>
              </a:rPr>
              <a:t>Violation of the Single Responsibility Principle</a:t>
            </a:r>
            <a:endParaRPr lang="en-US" b="1" spc="233">
              <a:solidFill>
                <a:srgbClr val="FFFFFF"/>
              </a:solidFill>
              <a:latin typeface="Calibri" panose="020F0502020204030204" charset="0"/>
              <a:cs typeface="Calibri" panose="020F0502020204030204" charset="0"/>
            </a:endParaRPr>
          </a:p>
        </p:txBody>
      </p:sp>
      <p:sp>
        <p:nvSpPr>
          <p:cNvPr id="35" name="TextBox 35"/>
          <p:cNvSpPr txBox="1"/>
          <p:nvPr/>
        </p:nvSpPr>
        <p:spPr>
          <a:xfrm>
            <a:off x="1289685" y="5219700"/>
            <a:ext cx="3209290" cy="2263140"/>
          </a:xfrm>
          <a:prstGeom prst="rect">
            <a:avLst/>
          </a:prstGeom>
        </p:spPr>
        <p:txBody>
          <a:bodyPr wrap="square" lIns="0" tIns="0" rIns="0" bIns="0" rtlCol="0" anchor="t">
            <a:noAutofit/>
          </a:bodyPr>
          <a:lstStyle/>
          <a:p>
            <a:pPr indent="0" algn="just" fontAlgn="auto">
              <a:lnSpc>
                <a:spcPts val="2700"/>
              </a:lnSpc>
            </a:pPr>
            <a:r>
              <a:rPr lang="en-US" sz="1800" spc="44">
                <a:solidFill>
                  <a:srgbClr val="FFFFFF"/>
                </a:solidFill>
                <a:latin typeface="Calibri" panose="020F0502020204030204" charset="0"/>
                <a:ea typeface="字由点字典黑 65J" panose="00020600040101010101" charset="-122"/>
                <a:cs typeface="Calibri" panose="020F0502020204030204" charset="0"/>
              </a:rPr>
              <a:t>When multiple conditional statements are intertwined, the code becomes harder to understand,especially if similar actions are performed in each branch</a:t>
            </a:r>
            <a:endParaRPr lang="en-US" sz="1800" spc="44">
              <a:solidFill>
                <a:srgbClr val="FFFFFF"/>
              </a:solidFill>
              <a:latin typeface="Calibri" panose="020F0502020204030204" charset="0"/>
              <a:ea typeface="字由点字典黑 65J" panose="00020600040101010101" charset="-122"/>
              <a:cs typeface="Calibri" panose="020F0502020204030204" charset="0"/>
            </a:endParaRPr>
          </a:p>
        </p:txBody>
      </p:sp>
      <p:sp>
        <p:nvSpPr>
          <p:cNvPr id="36" name="TextBox 36"/>
          <p:cNvSpPr txBox="1"/>
          <p:nvPr/>
        </p:nvSpPr>
        <p:spPr>
          <a:xfrm>
            <a:off x="5519433" y="5219395"/>
            <a:ext cx="3055456" cy="1731010"/>
          </a:xfrm>
          <a:prstGeom prst="rect">
            <a:avLst/>
          </a:prstGeom>
        </p:spPr>
        <p:txBody>
          <a:bodyPr lIns="0" tIns="0" rIns="0" bIns="0" rtlCol="0" anchor="t">
            <a:spAutoFit/>
          </a:bodyPr>
          <a:lstStyle/>
          <a:p>
            <a:pPr algn="just">
              <a:lnSpc>
                <a:spcPts val="2700"/>
              </a:lnSpc>
            </a:pPr>
            <a:r>
              <a:rPr lang="en-US" sz="1800" spc="44">
                <a:solidFill>
                  <a:srgbClr val="FFFFFF"/>
                </a:solidFill>
                <a:latin typeface="Calibri" panose="020F0502020204030204" charset="0"/>
                <a:ea typeface="隶书2万字" panose="02010600010101010101" charset="-122"/>
                <a:cs typeface="Calibri" panose="020F0502020204030204" charset="0"/>
              </a:rPr>
              <a:t> In traditional conditional statements, adding new types or behaviors requires modifying the existing logic, which violates this principle</a:t>
            </a:r>
            <a:endParaRPr lang="en-US" sz="1800" spc="44">
              <a:solidFill>
                <a:srgbClr val="FFFFFF"/>
              </a:solidFill>
              <a:latin typeface="Calibri" panose="020F0502020204030204" charset="0"/>
              <a:ea typeface="隶书2万字" panose="02010600010101010101" charset="-122"/>
              <a:cs typeface="Calibri" panose="020F0502020204030204" charset="0"/>
            </a:endParaRPr>
          </a:p>
        </p:txBody>
      </p:sp>
      <p:sp>
        <p:nvSpPr>
          <p:cNvPr id="37" name="TextBox 37"/>
          <p:cNvSpPr txBox="1"/>
          <p:nvPr/>
        </p:nvSpPr>
        <p:spPr>
          <a:xfrm>
            <a:off x="9723120" y="5219700"/>
            <a:ext cx="3055620" cy="2637790"/>
          </a:xfrm>
          <a:prstGeom prst="rect">
            <a:avLst/>
          </a:prstGeom>
        </p:spPr>
        <p:txBody>
          <a:bodyPr lIns="0" tIns="0" rIns="0" bIns="0" rtlCol="0" anchor="t">
            <a:noAutofit/>
          </a:bodyPr>
          <a:lstStyle/>
          <a:p>
            <a:pPr algn="just">
              <a:lnSpc>
                <a:spcPts val="2700"/>
              </a:lnSpc>
            </a:pPr>
            <a:r>
              <a:rPr lang="en-US" sz="1800" spc="44">
                <a:solidFill>
                  <a:srgbClr val="FFFFFF"/>
                </a:solidFill>
                <a:latin typeface="Calibri" panose="020F0502020204030204" charset="0"/>
                <a:ea typeface="隶书2万字" panose="02010600010101010101" charset="-122"/>
                <a:cs typeface="Calibri" panose="020F0502020204030204" charset="0"/>
              </a:rPr>
              <a:t>If the core logic of the program relies on complex conditional statements, every new requirement forces modifications to these conditionals, making the code harder to extend and maintain.</a:t>
            </a:r>
            <a:endParaRPr lang="en-US" sz="1800" spc="44">
              <a:solidFill>
                <a:srgbClr val="FFFFFF"/>
              </a:solidFill>
              <a:latin typeface="Calibri" panose="020F0502020204030204" charset="0"/>
              <a:ea typeface="隶书2万字" panose="02010600010101010101" charset="-122"/>
              <a:cs typeface="Calibri" panose="020F0502020204030204" charset="0"/>
            </a:endParaRPr>
          </a:p>
        </p:txBody>
      </p:sp>
      <p:sp>
        <p:nvSpPr>
          <p:cNvPr id="38" name="TextBox 38"/>
          <p:cNvSpPr txBox="1"/>
          <p:nvPr/>
        </p:nvSpPr>
        <p:spPr>
          <a:xfrm>
            <a:off x="13838244" y="5216220"/>
            <a:ext cx="3055456" cy="2077085"/>
          </a:xfrm>
          <a:prstGeom prst="rect">
            <a:avLst/>
          </a:prstGeom>
        </p:spPr>
        <p:txBody>
          <a:bodyPr lIns="0" tIns="0" rIns="0" bIns="0" rtlCol="0" anchor="t">
            <a:spAutoFit/>
          </a:bodyPr>
          <a:lstStyle/>
          <a:p>
            <a:pPr algn="just">
              <a:lnSpc>
                <a:spcPts val="2700"/>
              </a:lnSpc>
            </a:pPr>
            <a:r>
              <a:rPr lang="en-US" sz="1800" spc="44">
                <a:solidFill>
                  <a:srgbClr val="FFFFFF"/>
                </a:solidFill>
                <a:latin typeface="Calibri" panose="020F0502020204030204" charset="0"/>
                <a:ea typeface="隶书2万字" panose="02010600010101010101" charset="-122"/>
                <a:cs typeface="Calibri" panose="020F0502020204030204" charset="0"/>
              </a:rPr>
              <a:t>A method should ideally have a single responsibility, and the presence of too many conditionals makes the method's responsibilities unclear.</a:t>
            </a:r>
            <a:endParaRPr lang="en-US" sz="1800" spc="44">
              <a:solidFill>
                <a:srgbClr val="FFFFFF"/>
              </a:solidFill>
              <a:latin typeface="Calibri" panose="020F0502020204030204" charset="0"/>
              <a:ea typeface="隶书2万字" panose="02010600010101010101" charset="-122"/>
              <a:cs typeface="Calibri" panose="020F0502020204030204" charset="0"/>
            </a:endParaRPr>
          </a:p>
        </p:txBody>
      </p:sp>
      <p:sp>
        <p:nvSpPr>
          <p:cNvPr id="39" name="TextBox 39"/>
          <p:cNvSpPr txBox="1"/>
          <p:nvPr/>
        </p:nvSpPr>
        <p:spPr>
          <a:xfrm>
            <a:off x="2563433" y="3114439"/>
            <a:ext cx="724147" cy="814762"/>
          </a:xfrm>
          <a:prstGeom prst="rect">
            <a:avLst/>
          </a:prstGeom>
        </p:spPr>
        <p:txBody>
          <a:bodyPr lIns="0" tIns="0" rIns="0" bIns="0" rtlCol="0" anchor="t">
            <a:spAutoFit/>
          </a:bodyPr>
          <a:lstStyle/>
          <a:p>
            <a:pPr algn="ctr">
              <a:lnSpc>
                <a:spcPts val="6710"/>
              </a:lnSpc>
              <a:spcBef>
                <a:spcPct val="0"/>
              </a:spcBef>
            </a:pPr>
            <a:r>
              <a:rPr lang="en-US" sz="4790" spc="201">
                <a:solidFill>
                  <a:srgbClr val="FFFFFF"/>
                </a:solidFill>
                <a:latin typeface="Open Sans" panose="020B0606030504020204"/>
              </a:rPr>
              <a:t>1</a:t>
            </a:r>
            <a:endParaRPr lang="en-US" sz="4790" spc="201">
              <a:solidFill>
                <a:srgbClr val="FFFFFF"/>
              </a:solidFill>
              <a:latin typeface="Open Sans" panose="020B0606030504020204"/>
            </a:endParaRPr>
          </a:p>
        </p:txBody>
      </p:sp>
      <p:sp>
        <p:nvSpPr>
          <p:cNvPr id="40" name="TextBox 40"/>
          <p:cNvSpPr txBox="1"/>
          <p:nvPr/>
        </p:nvSpPr>
        <p:spPr>
          <a:xfrm>
            <a:off x="10905740" y="3114439"/>
            <a:ext cx="724147" cy="814762"/>
          </a:xfrm>
          <a:prstGeom prst="rect">
            <a:avLst/>
          </a:prstGeom>
        </p:spPr>
        <p:txBody>
          <a:bodyPr lIns="0" tIns="0" rIns="0" bIns="0" rtlCol="0" anchor="t">
            <a:spAutoFit/>
          </a:bodyPr>
          <a:lstStyle/>
          <a:p>
            <a:pPr algn="ctr">
              <a:lnSpc>
                <a:spcPts val="6710"/>
              </a:lnSpc>
              <a:spcBef>
                <a:spcPct val="0"/>
              </a:spcBef>
            </a:pPr>
            <a:r>
              <a:rPr lang="en-US" sz="4790" spc="201">
                <a:solidFill>
                  <a:srgbClr val="FFFFFF"/>
                </a:solidFill>
                <a:latin typeface="Open Sans" panose="020B0606030504020204"/>
              </a:rPr>
              <a:t>3</a:t>
            </a:r>
            <a:endParaRPr lang="en-US" sz="4790" spc="201">
              <a:solidFill>
                <a:srgbClr val="FFFFFF"/>
              </a:solidFill>
              <a:latin typeface="Open Sans" panose="020B0606030504020204"/>
            </a:endParaRPr>
          </a:p>
        </p:txBody>
      </p:sp>
      <p:sp>
        <p:nvSpPr>
          <p:cNvPr id="41" name="TextBox 41"/>
          <p:cNvSpPr txBox="1"/>
          <p:nvPr/>
        </p:nvSpPr>
        <p:spPr>
          <a:xfrm>
            <a:off x="6742237" y="3096659"/>
            <a:ext cx="724147" cy="814762"/>
          </a:xfrm>
          <a:prstGeom prst="rect">
            <a:avLst/>
          </a:prstGeom>
        </p:spPr>
        <p:txBody>
          <a:bodyPr lIns="0" tIns="0" rIns="0" bIns="0" rtlCol="0" anchor="t">
            <a:spAutoFit/>
          </a:bodyPr>
          <a:lstStyle/>
          <a:p>
            <a:pPr algn="ctr">
              <a:lnSpc>
                <a:spcPts val="6710"/>
              </a:lnSpc>
              <a:spcBef>
                <a:spcPct val="0"/>
              </a:spcBef>
            </a:pPr>
            <a:r>
              <a:rPr lang="en-US" sz="4790" spc="201">
                <a:solidFill>
                  <a:srgbClr val="FFFFFF"/>
                </a:solidFill>
                <a:latin typeface="Open Sans" panose="020B0606030504020204"/>
              </a:rPr>
              <a:t>2</a:t>
            </a:r>
            <a:endParaRPr lang="en-US" sz="4790" spc="201">
              <a:solidFill>
                <a:srgbClr val="FFFFFF"/>
              </a:solidFill>
              <a:latin typeface="Open Sans" panose="020B0606030504020204"/>
            </a:endParaRPr>
          </a:p>
        </p:txBody>
      </p:sp>
      <p:sp>
        <p:nvSpPr>
          <p:cNvPr id="42" name="TextBox 42"/>
          <p:cNvSpPr txBox="1"/>
          <p:nvPr/>
        </p:nvSpPr>
        <p:spPr>
          <a:xfrm>
            <a:off x="15080099" y="3114439"/>
            <a:ext cx="724147" cy="814762"/>
          </a:xfrm>
          <a:prstGeom prst="rect">
            <a:avLst/>
          </a:prstGeom>
        </p:spPr>
        <p:txBody>
          <a:bodyPr lIns="0" tIns="0" rIns="0" bIns="0" rtlCol="0" anchor="t">
            <a:spAutoFit/>
          </a:bodyPr>
          <a:lstStyle/>
          <a:p>
            <a:pPr algn="ctr">
              <a:lnSpc>
                <a:spcPts val="6710"/>
              </a:lnSpc>
              <a:spcBef>
                <a:spcPct val="0"/>
              </a:spcBef>
            </a:pPr>
            <a:r>
              <a:rPr lang="en-US" sz="4790" spc="201">
                <a:solidFill>
                  <a:srgbClr val="FFFFFF"/>
                </a:solidFill>
                <a:latin typeface="Open Sans" panose="020B0606030504020204"/>
              </a:rPr>
              <a:t>4</a:t>
            </a:r>
            <a:endParaRPr lang="en-US" sz="4790" spc="201">
              <a:solidFill>
                <a:srgbClr val="FFFFFF"/>
              </a:solidFill>
              <a:latin typeface="Open Sans" panose="020B0606030504020204"/>
            </a:endParaRPr>
          </a:p>
        </p:txBody>
      </p:sp>
      <p:sp>
        <p:nvSpPr>
          <p:cNvPr id="43" name="TextBox 43"/>
          <p:cNvSpPr txBox="1"/>
          <p:nvPr/>
        </p:nvSpPr>
        <p:spPr>
          <a:xfrm>
            <a:off x="4386150" y="787574"/>
            <a:ext cx="9515917" cy="987425"/>
          </a:xfrm>
          <a:prstGeom prst="rect">
            <a:avLst/>
          </a:prstGeom>
        </p:spPr>
        <p:txBody>
          <a:bodyPr lIns="0" tIns="0" rIns="0" bIns="0" rtlCol="0" anchor="t">
            <a:spAutoFit/>
          </a:bodyPr>
          <a:lstStyle/>
          <a:p>
            <a:pPr algn="ctr">
              <a:lnSpc>
                <a:spcPts val="7700"/>
              </a:lnSpc>
              <a:spcBef>
                <a:spcPct val="0"/>
              </a:spcBef>
            </a:pPr>
            <a:r>
              <a:rPr lang="en-US" sz="5500">
                <a:solidFill>
                  <a:srgbClr val="16496B"/>
                </a:solidFill>
                <a:latin typeface="+mj-ea"/>
                <a:ea typeface="+mj-ea"/>
                <a:cs typeface="+mj-lt"/>
              </a:rPr>
              <a:t>THE PROBLEM TO SOLVE</a:t>
            </a:r>
            <a:endParaRPr lang="en-US" sz="5500">
              <a:solidFill>
                <a:srgbClr val="16496B"/>
              </a:solidFill>
              <a:latin typeface="+mj-ea"/>
              <a:ea typeface="+mj-ea"/>
              <a:cs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001382" y="5443144"/>
            <a:ext cx="10002764" cy="8401899"/>
            <a:chOff x="0" y="0"/>
            <a:chExt cx="13337018" cy="11202532"/>
          </a:xfrm>
        </p:grpSpPr>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4293809">
              <a:off x="5750738" y="3129354"/>
              <a:ext cx="3782026" cy="4943825"/>
            </a:xfrm>
            <a:prstGeom prst="rect">
              <a:avLst/>
            </a:prstGeom>
          </p:spPr>
        </p:pic>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838581">
              <a:off x="668932" y="2645111"/>
              <a:ext cx="11999154" cy="5912311"/>
            </a:xfrm>
            <a:prstGeom prst="rect">
              <a:avLst/>
            </a:prstGeom>
          </p:spPr>
        </p:pic>
      </p:grpSp>
      <p:grpSp>
        <p:nvGrpSpPr>
          <p:cNvPr id="5" name="Group 5"/>
          <p:cNvGrpSpPr/>
          <p:nvPr/>
        </p:nvGrpSpPr>
        <p:grpSpPr>
          <a:xfrm rot="6646896">
            <a:off x="14013497" y="-3181377"/>
            <a:ext cx="6877785" cy="7307014"/>
            <a:chOff x="0" y="0"/>
            <a:chExt cx="9170380" cy="9742685"/>
          </a:xfrm>
        </p:grpSpPr>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10020101" flipV="1">
              <a:off x="1453372" y="609703"/>
              <a:ext cx="6263636" cy="7392704"/>
            </a:xfrm>
            <a:prstGeom prst="rect">
              <a:avLst/>
            </a:prstGeom>
          </p:spPr>
        </p:pic>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38708"/>
            <a:stretch>
              <a:fillRect/>
            </a:stretch>
          </p:blipFill>
          <p:spPr>
            <a:xfrm rot="7654232">
              <a:off x="907983" y="2069484"/>
              <a:ext cx="7354414" cy="5912311"/>
            </a:xfrm>
            <a:prstGeom prst="rect">
              <a:avLst/>
            </a:prstGeom>
          </p:spPr>
        </p:pic>
      </p:grpSp>
      <p:grpSp>
        <p:nvGrpSpPr>
          <p:cNvPr id="8" name="Group 8"/>
          <p:cNvGrpSpPr/>
          <p:nvPr/>
        </p:nvGrpSpPr>
        <p:grpSpPr>
          <a:xfrm rot="-4937986">
            <a:off x="-1726090" y="-1748908"/>
            <a:ext cx="6005388" cy="6286112"/>
            <a:chOff x="0" y="0"/>
            <a:chExt cx="8007184" cy="8381483"/>
          </a:xfrm>
        </p:grpSpPr>
        <p:pic>
          <p:nvPicPr>
            <p:cNvPr id="9" name="Picture 9"/>
            <p:cNvPicPr>
              <a:picLocks noChangeAspect="1"/>
            </p:cNvPicPr>
            <p:nvPr/>
          </p:nvPicPr>
          <p:blipFill>
            <a:blip r:embed="rId7">
              <a:alphaModFix amt="71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4068957">
              <a:off x="932313" y="1306613"/>
              <a:ext cx="6142557" cy="6142557"/>
            </a:xfrm>
            <a:prstGeom prst="rect">
              <a:avLst/>
            </a:prstGeom>
          </p:spPr>
        </p:pic>
        <p:pic>
          <p:nvPicPr>
            <p:cNvPr id="10" name="Picture 10"/>
            <p:cNvPicPr>
              <a:picLocks noChangeAspect="1"/>
            </p:cNvPicPr>
            <p:nvPr/>
          </p:nvPicPr>
          <p:blipFill>
            <a:blip r:embed="rId9">
              <a:alphaModFix amt="80000"/>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rot="-804865">
              <a:off x="3113361" y="435226"/>
              <a:ext cx="4356786" cy="5142130"/>
            </a:xfrm>
            <a:prstGeom prst="rect">
              <a:avLst/>
            </a:prstGeom>
          </p:spPr>
        </p:pic>
      </p:grpSp>
      <p:grpSp>
        <p:nvGrpSpPr>
          <p:cNvPr id="11" name="Group 11"/>
          <p:cNvGrpSpPr/>
          <p:nvPr/>
        </p:nvGrpSpPr>
        <p:grpSpPr>
          <a:xfrm rot="0">
            <a:off x="13739375" y="6499562"/>
            <a:ext cx="5424934" cy="4641848"/>
            <a:chOff x="0" y="0"/>
            <a:chExt cx="7233245" cy="6189131"/>
          </a:xfrm>
        </p:grpSpPr>
        <p:pic>
          <p:nvPicPr>
            <p:cNvPr id="12" name="Picture 1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p:blipFill>
          <p:spPr>
            <a:xfrm>
              <a:off x="0" y="0"/>
              <a:ext cx="6190578" cy="5486400"/>
            </a:xfrm>
            <a:prstGeom prst="rect">
              <a:avLst/>
            </a:prstGeom>
          </p:spPr>
        </p:pic>
        <p:pic>
          <p:nvPicPr>
            <p:cNvPr id="13" name="Picture 1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p:blipFill>
          <p:spPr>
            <a:xfrm rot="2336840">
              <a:off x="4054922" y="2579198"/>
              <a:ext cx="2445399" cy="3196600"/>
            </a:xfrm>
            <a:prstGeom prst="rect">
              <a:avLst/>
            </a:prstGeom>
          </p:spPr>
        </p:pic>
      </p:grpSp>
      <p:sp>
        <p:nvSpPr>
          <p:cNvPr id="14" name="TextBox 14"/>
          <p:cNvSpPr txBox="1"/>
          <p:nvPr/>
        </p:nvSpPr>
        <p:spPr>
          <a:xfrm>
            <a:off x="3541099" y="3849951"/>
            <a:ext cx="11205803" cy="1778635"/>
          </a:xfrm>
          <a:prstGeom prst="rect">
            <a:avLst/>
          </a:prstGeom>
        </p:spPr>
        <p:txBody>
          <a:bodyPr lIns="0" tIns="0" rIns="0" bIns="0" rtlCol="0" anchor="t">
            <a:spAutoFit/>
          </a:bodyPr>
          <a:lstStyle/>
          <a:p>
            <a:pPr algn="ctr">
              <a:lnSpc>
                <a:spcPts val="13870"/>
              </a:lnSpc>
              <a:spcBef>
                <a:spcPct val="0"/>
              </a:spcBef>
            </a:pPr>
            <a:r>
              <a:rPr lang="en-US" sz="9910">
                <a:solidFill>
                  <a:srgbClr val="16496B"/>
                </a:solidFill>
                <a:latin typeface="+mj-lt"/>
                <a:cs typeface="+mj-lt"/>
              </a:rPr>
              <a:t> </a:t>
            </a:r>
            <a:r>
              <a:rPr lang="en-US" sz="10000">
                <a:solidFill>
                  <a:srgbClr val="16496B"/>
                </a:solidFill>
                <a:latin typeface="+mj-lt"/>
                <a:cs typeface="+mj-lt"/>
              </a:rPr>
              <a:t>Solution</a:t>
            </a:r>
            <a:endParaRPr lang="en-US" sz="10000">
              <a:solidFill>
                <a:srgbClr val="16496B"/>
              </a:solidFill>
              <a:latin typeface="+mj-lt"/>
              <a:cs typeface="+mj-lt"/>
            </a:endParaRPr>
          </a:p>
        </p:txBody>
      </p:sp>
      <p:sp>
        <p:nvSpPr>
          <p:cNvPr id="16" name="TextBox 16"/>
          <p:cNvSpPr txBox="1"/>
          <p:nvPr/>
        </p:nvSpPr>
        <p:spPr>
          <a:xfrm>
            <a:off x="7086378" y="2608465"/>
            <a:ext cx="3615701" cy="989330"/>
          </a:xfrm>
          <a:prstGeom prst="rect">
            <a:avLst/>
          </a:prstGeom>
        </p:spPr>
        <p:txBody>
          <a:bodyPr lIns="0" tIns="0" rIns="0" bIns="0" rtlCol="0" anchor="t">
            <a:spAutoFit/>
          </a:bodyPr>
          <a:lstStyle/>
          <a:p>
            <a:pPr algn="ctr">
              <a:lnSpc>
                <a:spcPts val="7715"/>
              </a:lnSpc>
            </a:pPr>
            <a:r>
              <a:rPr lang="en-US" sz="6595" spc="217">
                <a:solidFill>
                  <a:srgbClr val="16496B"/>
                </a:solidFill>
                <a:latin typeface="+mj-lt"/>
                <a:cs typeface="+mj-lt"/>
              </a:rPr>
              <a:t>PART</a:t>
            </a:r>
            <a:endParaRPr lang="en-US" sz="6595" spc="217">
              <a:solidFill>
                <a:srgbClr val="16496B"/>
              </a:solidFill>
              <a:latin typeface="+mj-lt"/>
              <a:cs typeface="+mj-lt"/>
            </a:endParaRPr>
          </a:p>
        </p:txBody>
      </p:sp>
      <p:grpSp>
        <p:nvGrpSpPr>
          <p:cNvPr id="17" name="Group 17"/>
          <p:cNvGrpSpPr/>
          <p:nvPr/>
        </p:nvGrpSpPr>
        <p:grpSpPr>
          <a:xfrm rot="0">
            <a:off x="10202536" y="2598940"/>
            <a:ext cx="999086" cy="999086"/>
            <a:chOff x="0" y="0"/>
            <a:chExt cx="812800" cy="812800"/>
          </a:xfrm>
        </p:grpSpPr>
        <p:sp>
          <p:nvSpPr>
            <p:cNvPr id="18" name="Freeform 18"/>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660"/>
                </a:lnSpc>
                <a:spcBef>
                  <a:spcPct val="0"/>
                </a:spcBef>
              </a:pPr>
            </a:p>
          </p:txBody>
        </p:sp>
      </p:grpSp>
      <p:sp>
        <p:nvSpPr>
          <p:cNvPr id="20" name="TextBox 20"/>
          <p:cNvSpPr txBox="1"/>
          <p:nvPr/>
        </p:nvSpPr>
        <p:spPr>
          <a:xfrm>
            <a:off x="10202536" y="2480944"/>
            <a:ext cx="999086" cy="1166495"/>
          </a:xfrm>
          <a:prstGeom prst="rect">
            <a:avLst/>
          </a:prstGeom>
        </p:spPr>
        <p:txBody>
          <a:bodyPr lIns="0" tIns="0" rIns="0" bIns="0" rtlCol="0" anchor="t">
            <a:spAutoFit/>
          </a:bodyPr>
          <a:lstStyle/>
          <a:p>
            <a:pPr algn="ctr">
              <a:lnSpc>
                <a:spcPts val="9100"/>
              </a:lnSpc>
            </a:pPr>
            <a:r>
              <a:rPr lang="en-US" sz="6500">
                <a:solidFill>
                  <a:srgbClr val="FFFFFF"/>
                </a:solidFill>
                <a:latin typeface="+mj-lt"/>
                <a:cs typeface="+mj-lt"/>
              </a:rPr>
              <a:t>2</a:t>
            </a:r>
            <a:endParaRPr lang="en-US" sz="6500">
              <a:solidFill>
                <a:srgbClr val="FFFFFF"/>
              </a:solidFill>
              <a:latin typeface="+mj-lt"/>
              <a:cs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2534271">
            <a:off x="-4337359" y="-3575806"/>
            <a:ext cx="6599853" cy="6335859"/>
          </a:xfrm>
          <a:prstGeom prst="rect">
            <a:avLst/>
          </a:prstGeom>
        </p:spPr>
      </p:pic>
      <p:grpSp>
        <p:nvGrpSpPr>
          <p:cNvPr id="7" name="Group 7"/>
          <p:cNvGrpSpPr>
            <a:grpSpLocks noChangeAspect="1"/>
          </p:cNvGrpSpPr>
          <p:nvPr/>
        </p:nvGrpSpPr>
        <p:grpSpPr>
          <a:xfrm rot="0">
            <a:off x="9144635" y="2171700"/>
            <a:ext cx="8114665" cy="5984240"/>
            <a:chOff x="0" y="0"/>
            <a:chExt cx="6350000" cy="3810000"/>
          </a:xfrm>
        </p:grpSpPr>
        <p:sp>
          <p:nvSpPr>
            <p:cNvPr id="8" name="Freeform 8"/>
            <p:cNvSpPr/>
            <p:nvPr/>
          </p:nvSpPr>
          <p:spPr>
            <a:xfrm>
              <a:off x="0" y="0"/>
              <a:ext cx="6350000" cy="3810000"/>
            </a:xfrm>
            <a:custGeom>
              <a:avLst/>
              <a:gdLst/>
              <a:ahLst/>
              <a:cxnLst/>
              <a:rect l="l" t="t" r="r" b="b"/>
              <a:pathLst>
                <a:path w="6350000" h="381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rotWithShape="1">
              <a:blip r:embed="rId9"/>
              <a:stretch>
                <a:fillRect t="-5572" b="-5572"/>
              </a:stretch>
            </a:blipFill>
          </p:spPr>
          <p:txBody>
            <a:bodyPr/>
            <a:p>
              <a:endParaRPr lang="zh-CN" altLang="en-US"/>
            </a:p>
          </p:txBody>
        </p:sp>
        <p:sp>
          <p:nvSpPr>
            <p:cNvPr id="9" name="Freeform 9"/>
            <p:cNvSpPr/>
            <p:nvPr/>
          </p:nvSpPr>
          <p:spPr>
            <a:xfrm>
              <a:off x="0" y="0"/>
              <a:ext cx="6350000" cy="3810000"/>
            </a:xfrm>
            <a:custGeom>
              <a:avLst/>
              <a:gdLst/>
              <a:ahLst/>
              <a:cxnLst/>
              <a:rect l="l" t="t" r="r" b="b"/>
              <a:pathLst>
                <a:path w="6350000" h="3810000">
                  <a:moveTo>
                    <a:pt x="5715000" y="19050"/>
                  </a:moveTo>
                  <a:cubicBezTo>
                    <a:pt x="6054090" y="19050"/>
                    <a:pt x="6330950" y="295910"/>
                    <a:pt x="6330950" y="635000"/>
                  </a:cubicBezTo>
                  <a:lnTo>
                    <a:pt x="6330950" y="3175000"/>
                  </a:lnTo>
                  <a:cubicBezTo>
                    <a:pt x="6330950" y="3514090"/>
                    <a:pt x="6054090" y="3790950"/>
                    <a:pt x="5715000" y="3790950"/>
                  </a:cubicBezTo>
                  <a:lnTo>
                    <a:pt x="635000" y="3790950"/>
                  </a:lnTo>
                  <a:cubicBezTo>
                    <a:pt x="295910" y="3790950"/>
                    <a:pt x="19050" y="3514090"/>
                    <a:pt x="19050" y="3175000"/>
                  </a:cubicBezTo>
                  <a:lnTo>
                    <a:pt x="19050" y="635000"/>
                  </a:lnTo>
                  <a:cubicBezTo>
                    <a:pt x="19050" y="295910"/>
                    <a:pt x="295910" y="19050"/>
                    <a:pt x="635000" y="19050"/>
                  </a:cubicBezTo>
                  <a:lnTo>
                    <a:pt x="5715000" y="19050"/>
                  </a:lnTo>
                  <a:moveTo>
                    <a:pt x="5715000" y="0"/>
                  </a:moveTo>
                  <a:lnTo>
                    <a:pt x="635000" y="0"/>
                  </a:lnTo>
                  <a:cubicBezTo>
                    <a:pt x="284480" y="0"/>
                    <a:pt x="0" y="284480"/>
                    <a:pt x="0" y="635000"/>
                  </a:cubicBezTo>
                  <a:lnTo>
                    <a:pt x="0" y="3175000"/>
                  </a:lnTo>
                  <a:cubicBezTo>
                    <a:pt x="0" y="3525520"/>
                    <a:pt x="284480" y="3810000"/>
                    <a:pt x="635000" y="3810000"/>
                  </a:cubicBezTo>
                  <a:lnTo>
                    <a:pt x="5715000" y="3810000"/>
                  </a:lnTo>
                  <a:cubicBezTo>
                    <a:pt x="6065520" y="3810000"/>
                    <a:pt x="6350000" y="3525520"/>
                    <a:pt x="6350000" y="3175000"/>
                  </a:cubicBezTo>
                  <a:lnTo>
                    <a:pt x="6350000" y="635000"/>
                  </a:lnTo>
                  <a:cubicBezTo>
                    <a:pt x="6350000" y="284480"/>
                    <a:pt x="6065520" y="0"/>
                    <a:pt x="5715000" y="0"/>
                  </a:cubicBezTo>
                  <a:lnTo>
                    <a:pt x="5715000" y="0"/>
                  </a:lnTo>
                  <a:close/>
                </a:path>
              </a:pathLst>
            </a:custGeom>
            <a:solidFill>
              <a:srgbClr val="FFFAFA"/>
            </a:solidFill>
          </p:spPr>
        </p:sp>
      </p:grpSp>
      <p:grpSp>
        <p:nvGrpSpPr>
          <p:cNvPr id="13" name="Group 13"/>
          <p:cNvGrpSpPr/>
          <p:nvPr/>
        </p:nvGrpSpPr>
        <p:grpSpPr>
          <a:xfrm rot="5400000">
            <a:off x="1198030" y="8057706"/>
            <a:ext cx="261908" cy="229170"/>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82575"/>
              <a:ext cx="558800" cy="377825"/>
            </a:xfrm>
            <a:prstGeom prst="rect">
              <a:avLst/>
            </a:prstGeom>
          </p:spPr>
          <p:txBody>
            <a:bodyPr lIns="50800" tIns="50800" rIns="50800" bIns="50800" rtlCol="0" anchor="ctr"/>
            <a:lstStyle/>
            <a:p>
              <a:pPr algn="ctr">
                <a:lnSpc>
                  <a:spcPts val="2660"/>
                </a:lnSpc>
              </a:pPr>
            </a:p>
          </p:txBody>
        </p:sp>
      </p:grpSp>
      <p:sp>
        <p:nvSpPr>
          <p:cNvPr id="24" name="TextBox 24"/>
          <p:cNvSpPr txBox="1"/>
          <p:nvPr/>
        </p:nvSpPr>
        <p:spPr>
          <a:xfrm>
            <a:off x="990600" y="2400300"/>
            <a:ext cx="6991350" cy="922020"/>
          </a:xfrm>
          <a:prstGeom prst="rect">
            <a:avLst/>
          </a:prstGeom>
          <a:solidFill>
            <a:srgbClr val="7495AB"/>
          </a:solidFill>
        </p:spPr>
        <p:txBody>
          <a:bodyPr lIns="0" tIns="0" rIns="0" bIns="0" rtlCol="0" anchor="t">
            <a:noAutofit/>
          </a:bodyPr>
          <a:lstStyle/>
          <a:p>
            <a:pPr algn="ctr">
              <a:lnSpc>
                <a:spcPts val="6300"/>
              </a:lnSpc>
              <a:spcBef>
                <a:spcPct val="0"/>
              </a:spcBef>
            </a:pPr>
            <a:r>
              <a:rPr lang="en-US" sz="4500">
                <a:solidFill>
                  <a:schemeClr val="bg1"/>
                </a:solidFill>
                <a:ea typeface="造字工房尚黑体 粗体" charset="-122"/>
              </a:rPr>
              <a:t>Solution</a:t>
            </a:r>
            <a:endParaRPr lang="en-US" sz="4500">
              <a:solidFill>
                <a:schemeClr val="bg1"/>
              </a:solidFill>
              <a:ea typeface="造字工房尚黑体 粗体" charset="-122"/>
            </a:endParaRPr>
          </a:p>
        </p:txBody>
      </p:sp>
      <p:sp>
        <p:nvSpPr>
          <p:cNvPr id="25" name="TextBox 25"/>
          <p:cNvSpPr txBox="1"/>
          <p:nvPr/>
        </p:nvSpPr>
        <p:spPr>
          <a:xfrm>
            <a:off x="963930" y="3543300"/>
            <a:ext cx="7673340" cy="4924425"/>
          </a:xfrm>
          <a:prstGeom prst="rect">
            <a:avLst/>
          </a:prstGeom>
        </p:spPr>
        <p:txBody>
          <a:bodyPr wrap="square" lIns="0" tIns="0" rIns="0" bIns="0" rtlCol="0" anchor="t">
            <a:spAutoFit/>
          </a:bodyPr>
          <a:lstStyle/>
          <a:p>
            <a:pPr marL="0" lvl="0" indent="0" algn="l">
              <a:lnSpc>
                <a:spcPct val="100000"/>
              </a:lnSpc>
              <a:spcBef>
                <a:spcPct val="0"/>
              </a:spcBef>
            </a:pPr>
            <a:r>
              <a:rPr lang="en-US" altLang="zh-CN" sz="3200" u="none" spc="45">
                <a:solidFill>
                  <a:srgbClr val="737373"/>
                </a:solidFill>
                <a:ea typeface="华康黑体W7宽汉音上1L" panose="020B0700000000000000" charset="-122"/>
              </a:rPr>
              <a:t>To solve the above problems,We use polymorphism to replace conditional statements and simplify the code. Polymorphism allows us to encapsulate different behaviors (such as various calculation methods or processing methods) into separate classes. The client code only needs to call these classes through a unified interface, without worrying about specific conditional logic.</a:t>
            </a:r>
            <a:endParaRPr lang="en-US" altLang="zh-CN" sz="3200" u="none" spc="45">
              <a:solidFill>
                <a:srgbClr val="737373"/>
              </a:solidFill>
              <a:ea typeface="华康黑体W7宽汉音上1L" panose="020B07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2534271">
            <a:off x="-4337359" y="-3575806"/>
            <a:ext cx="6599853" cy="6335859"/>
          </a:xfrm>
          <a:prstGeom prst="rect">
            <a:avLst/>
          </a:prstGeom>
        </p:spPr>
      </p:pic>
      <p:grpSp>
        <p:nvGrpSpPr>
          <p:cNvPr id="13" name="Group 13"/>
          <p:cNvGrpSpPr/>
          <p:nvPr/>
        </p:nvGrpSpPr>
        <p:grpSpPr>
          <a:xfrm rot="5400000">
            <a:off x="1198030" y="8057706"/>
            <a:ext cx="261908" cy="229170"/>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82575"/>
              <a:ext cx="558800" cy="377825"/>
            </a:xfrm>
            <a:prstGeom prst="rect">
              <a:avLst/>
            </a:prstGeom>
          </p:spPr>
          <p:txBody>
            <a:bodyPr lIns="50800" tIns="50800" rIns="50800" bIns="50800" rtlCol="0" anchor="ctr"/>
            <a:lstStyle/>
            <a:p>
              <a:pPr algn="ctr">
                <a:lnSpc>
                  <a:spcPts val="2660"/>
                </a:lnSpc>
              </a:pPr>
            </a:p>
          </p:txBody>
        </p:sp>
      </p:grpSp>
      <p:sp>
        <p:nvSpPr>
          <p:cNvPr id="24" name="TextBox 24"/>
          <p:cNvSpPr txBox="1"/>
          <p:nvPr/>
        </p:nvSpPr>
        <p:spPr>
          <a:xfrm>
            <a:off x="6104890" y="419364"/>
            <a:ext cx="6142739" cy="807720"/>
          </a:xfrm>
          <a:prstGeom prst="rect">
            <a:avLst/>
          </a:prstGeom>
          <a:solidFill>
            <a:srgbClr val="7495AB"/>
          </a:solidFill>
        </p:spPr>
        <p:txBody>
          <a:bodyPr lIns="0" tIns="0" rIns="0" bIns="0" rtlCol="0" anchor="t">
            <a:spAutoFit/>
          </a:bodyPr>
          <a:lstStyle/>
          <a:p>
            <a:pPr algn="ctr">
              <a:lnSpc>
                <a:spcPts val="6300"/>
              </a:lnSpc>
              <a:spcBef>
                <a:spcPct val="0"/>
              </a:spcBef>
            </a:pPr>
            <a:r>
              <a:rPr lang="en-US" altLang="zh-CN" sz="4500">
                <a:solidFill>
                  <a:schemeClr val="bg1"/>
                </a:solidFill>
                <a:ea typeface="造字工房尚黑体 粗体" charset="-122"/>
              </a:rPr>
              <a:t>Core Idea</a:t>
            </a:r>
            <a:endParaRPr lang="en-US" altLang="zh-CN" sz="4500">
              <a:solidFill>
                <a:schemeClr val="bg1"/>
              </a:solidFill>
              <a:ea typeface="造字工房尚黑体 粗体" charset="-122"/>
            </a:endParaRPr>
          </a:p>
        </p:txBody>
      </p:sp>
      <p:sp>
        <p:nvSpPr>
          <p:cNvPr id="25" name="TextBox 25"/>
          <p:cNvSpPr txBox="1"/>
          <p:nvPr/>
        </p:nvSpPr>
        <p:spPr>
          <a:xfrm>
            <a:off x="2057400" y="1675765"/>
            <a:ext cx="14237970" cy="1969770"/>
          </a:xfrm>
          <a:prstGeom prst="rect">
            <a:avLst/>
          </a:prstGeom>
        </p:spPr>
        <p:txBody>
          <a:bodyPr wrap="square" lIns="0" tIns="0" rIns="0" bIns="0" rtlCol="0" anchor="t">
            <a:spAutoFit/>
          </a:bodyPr>
          <a:lstStyle/>
          <a:p>
            <a:pPr marL="0" lvl="0" indent="0" algn="l">
              <a:lnSpc>
                <a:spcPct val="100000"/>
              </a:lnSpc>
              <a:spcBef>
                <a:spcPct val="0"/>
              </a:spcBef>
            </a:pPr>
            <a:r>
              <a:rPr lang="en-US" altLang="zh-CN" sz="3200" u="none" spc="45">
                <a:solidFill>
                  <a:srgbClr val="737373"/>
                </a:solidFill>
                <a:ea typeface="华康黑体W7宽汉音上1L" panose="020B0700000000000000" charset="-122"/>
              </a:rPr>
              <a:t>(1)We encapsulate the specific   conditional logic into separate subclasses, with each subclass responsible for its own behavior. This ensures that each class adheres to the Single Responsibility Principle, reducing the complexity of conditional statements.</a:t>
            </a:r>
            <a:endParaRPr lang="en-US" altLang="zh-CN" sz="3200" u="none" spc="45">
              <a:solidFill>
                <a:srgbClr val="737373"/>
              </a:solidFill>
              <a:ea typeface="华康黑体W7宽汉音上1L" panose="020B0700000000000000" charset="-122"/>
            </a:endParaRPr>
          </a:p>
        </p:txBody>
      </p:sp>
      <p:pic>
        <p:nvPicPr>
          <p:cNvPr id="10" name="图片 2"/>
          <p:cNvPicPr>
            <a:picLocks noChangeAspect="1"/>
          </p:cNvPicPr>
          <p:nvPr/>
        </p:nvPicPr>
        <p:blipFill>
          <a:blip r:embed="rId9"/>
          <a:stretch>
            <a:fillRect/>
          </a:stretch>
        </p:blipFill>
        <p:spPr>
          <a:xfrm>
            <a:off x="1905000" y="3619500"/>
            <a:ext cx="7997190" cy="6518910"/>
          </a:xfrm>
          <a:prstGeom prst="rect">
            <a:avLst/>
          </a:prstGeom>
          <a:noFill/>
          <a:ln>
            <a:noFill/>
          </a:ln>
        </p:spPr>
      </p:pic>
      <p:grpSp>
        <p:nvGrpSpPr>
          <p:cNvPr id="12" name="Group 10"/>
          <p:cNvGrpSpPr/>
          <p:nvPr/>
        </p:nvGrpSpPr>
        <p:grpSpPr>
          <a:xfrm rot="0">
            <a:off x="1981200" y="1485995"/>
            <a:ext cx="14296390" cy="6548807"/>
            <a:chOff x="-2567347" y="-19929"/>
            <a:chExt cx="4274726" cy="832729"/>
          </a:xfrm>
        </p:grpSpPr>
        <p:sp>
          <p:nvSpPr>
            <p:cNvPr id="16" name="Freeform 11"/>
            <p:cNvSpPr/>
            <p:nvPr/>
          </p:nvSpPr>
          <p:spPr>
            <a:xfrm>
              <a:off x="-2567347" y="-19929"/>
              <a:ext cx="4274726" cy="273241"/>
            </a:xfrm>
            <a:custGeom>
              <a:avLst/>
              <a:gdLst/>
              <a:ahLst/>
              <a:cxnLst/>
              <a:rect l="l" t="t" r="r" b="b"/>
              <a:pathLst>
                <a:path w="4274726" h="763593">
                  <a:moveTo>
                    <a:pt x="0" y="0"/>
                  </a:moveTo>
                  <a:lnTo>
                    <a:pt x="4274726" y="0"/>
                  </a:lnTo>
                  <a:lnTo>
                    <a:pt x="4274726" y="763593"/>
                  </a:lnTo>
                  <a:lnTo>
                    <a:pt x="0" y="763593"/>
                  </a:lnTo>
                  <a:close/>
                </a:path>
              </a:pathLst>
            </a:custGeom>
            <a:solidFill>
              <a:srgbClr val="000000">
                <a:alpha val="0"/>
              </a:srgbClr>
            </a:solidFill>
            <a:ln w="38100">
              <a:solidFill>
                <a:srgbClr val="7495AB"/>
              </a:solidFill>
            </a:ln>
          </p:spPr>
        </p:sp>
        <p:sp>
          <p:nvSpPr>
            <p:cNvPr id="17" name="TextBox 12"/>
            <p:cNvSpPr txBox="1"/>
            <p:nvPr/>
          </p:nvSpPr>
          <p:spPr>
            <a:xfrm>
              <a:off x="0" y="-9525"/>
              <a:ext cx="812800" cy="822325"/>
            </a:xfrm>
            <a:prstGeom prst="rect">
              <a:avLst/>
            </a:prstGeom>
          </p:spPr>
          <p:txBody>
            <a:bodyPr lIns="50800" tIns="50800" rIns="50800" bIns="50800" rtlCol="0" anchor="ctr"/>
            <a:p>
              <a:pPr algn="ctr">
                <a:lnSpc>
                  <a:spcPts val="2520"/>
                </a:lnSpc>
              </a:pPr>
            </a:p>
          </p:txBody>
        </p:sp>
      </p:grpSp>
      <p:sp>
        <p:nvSpPr>
          <p:cNvPr id="21" name="矩形标注 20"/>
          <p:cNvSpPr/>
          <p:nvPr/>
        </p:nvSpPr>
        <p:spPr>
          <a:xfrm>
            <a:off x="10567670" y="4686300"/>
            <a:ext cx="7162800" cy="2590800"/>
          </a:xfrm>
          <a:prstGeom prst="wedgeRectCallout">
            <a:avLst>
              <a:gd name="adj1" fmla="val -40274"/>
              <a:gd name="adj2" fmla="val 98529"/>
            </a:avLst>
          </a:prstGeom>
          <a:solidFill>
            <a:srgbClr val="96B9CF"/>
          </a:solidFill>
          <a:ln>
            <a:solidFill>
              <a:srgbClr val="96B9CF"/>
            </a:solidFill>
          </a:ln>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0" name="TextBox 6"/>
          <p:cNvSpPr txBox="1"/>
          <p:nvPr/>
        </p:nvSpPr>
        <p:spPr>
          <a:xfrm>
            <a:off x="10972800" y="4686300"/>
            <a:ext cx="6370320" cy="2698750"/>
          </a:xfrm>
          <a:prstGeom prst="rect">
            <a:avLst/>
          </a:prstGeom>
          <a:noFill/>
          <a:extLst>
            <a:ext uri="{909E8E84-426E-40DD-AFC4-6F175D3DCCD1}">
              <a14:hiddenFill xmlns:a14="http://schemas.microsoft.com/office/drawing/2010/main">
                <a:solidFill>
                  <a:schemeClr val="tx2">
                    <a:lumMod val="75000"/>
                  </a:schemeClr>
                </a:solidFill>
              </a14:hiddenFill>
            </a:ext>
          </a:extLst>
        </p:spPr>
        <p:txBody>
          <a:bodyPr lIns="50800" tIns="50800" rIns="50800" bIns="50800" rtlCol="0" anchor="ctr"/>
          <a:p>
            <a:pPr algn="l">
              <a:lnSpc>
                <a:spcPts val="2520"/>
              </a:lnSpc>
            </a:pPr>
            <a:r>
              <a:rPr lang="en-US" altLang="zh-CN" sz="2800">
                <a:solidFill>
                  <a:schemeClr val="bg1"/>
                </a:solidFill>
              </a:rPr>
              <a:t>In this traditional implementation, all the conditional logic is centralized within the calculatePlumage() method. As the number of conditions increases, the code becomes more complex and harder to extend.</a:t>
            </a:r>
            <a:endParaRPr lang="en-US" altLang="zh-CN" sz="280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2534271">
            <a:off x="-4337359" y="-3575806"/>
            <a:ext cx="6599853" cy="6335859"/>
          </a:xfrm>
          <a:prstGeom prst="rect">
            <a:avLst/>
          </a:prstGeom>
        </p:spPr>
      </p:pic>
      <p:grpSp>
        <p:nvGrpSpPr>
          <p:cNvPr id="13" name="Group 13"/>
          <p:cNvGrpSpPr/>
          <p:nvPr/>
        </p:nvGrpSpPr>
        <p:grpSpPr>
          <a:xfrm rot="5400000">
            <a:off x="1198030" y="8057706"/>
            <a:ext cx="261908" cy="229170"/>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82575"/>
              <a:ext cx="558800" cy="377825"/>
            </a:xfrm>
            <a:prstGeom prst="rect">
              <a:avLst/>
            </a:prstGeom>
          </p:spPr>
          <p:txBody>
            <a:bodyPr lIns="50800" tIns="50800" rIns="50800" bIns="50800" rtlCol="0" anchor="ctr"/>
            <a:lstStyle/>
            <a:p>
              <a:pPr algn="ctr">
                <a:lnSpc>
                  <a:spcPts val="2660"/>
                </a:lnSpc>
              </a:pPr>
            </a:p>
          </p:txBody>
        </p:sp>
      </p:grpSp>
      <p:sp>
        <p:nvSpPr>
          <p:cNvPr id="24" name="TextBox 24"/>
          <p:cNvSpPr txBox="1"/>
          <p:nvPr/>
        </p:nvSpPr>
        <p:spPr>
          <a:xfrm>
            <a:off x="6104890" y="419364"/>
            <a:ext cx="6142739" cy="807720"/>
          </a:xfrm>
          <a:prstGeom prst="rect">
            <a:avLst/>
          </a:prstGeom>
          <a:solidFill>
            <a:srgbClr val="7495AB"/>
          </a:solidFill>
        </p:spPr>
        <p:txBody>
          <a:bodyPr lIns="0" tIns="0" rIns="0" bIns="0" rtlCol="0" anchor="t">
            <a:spAutoFit/>
          </a:bodyPr>
          <a:lstStyle/>
          <a:p>
            <a:pPr algn="ctr">
              <a:lnSpc>
                <a:spcPts val="6300"/>
              </a:lnSpc>
              <a:spcBef>
                <a:spcPct val="0"/>
              </a:spcBef>
            </a:pPr>
            <a:r>
              <a:rPr lang="en-US" altLang="zh-CN" sz="4500">
                <a:solidFill>
                  <a:schemeClr val="bg1"/>
                </a:solidFill>
                <a:ea typeface="造字工房尚黑体 粗体" charset="-122"/>
              </a:rPr>
              <a:t>Core Idea</a:t>
            </a:r>
            <a:endParaRPr lang="en-US" altLang="zh-CN" sz="4500">
              <a:solidFill>
                <a:schemeClr val="bg1"/>
              </a:solidFill>
              <a:ea typeface="造字工房尚黑体 粗体" charset="-122"/>
            </a:endParaRPr>
          </a:p>
        </p:txBody>
      </p:sp>
      <p:sp>
        <p:nvSpPr>
          <p:cNvPr id="25" name="TextBox 25"/>
          <p:cNvSpPr txBox="1"/>
          <p:nvPr/>
        </p:nvSpPr>
        <p:spPr>
          <a:xfrm>
            <a:off x="2057400" y="1675765"/>
            <a:ext cx="14237970" cy="1969770"/>
          </a:xfrm>
          <a:prstGeom prst="rect">
            <a:avLst/>
          </a:prstGeom>
        </p:spPr>
        <p:txBody>
          <a:bodyPr wrap="square" lIns="0" tIns="0" rIns="0" bIns="0" rtlCol="0" anchor="t">
            <a:spAutoFit/>
          </a:bodyPr>
          <a:lstStyle/>
          <a:p>
            <a:pPr marL="0" lvl="0" indent="0" algn="l">
              <a:lnSpc>
                <a:spcPct val="100000"/>
              </a:lnSpc>
              <a:spcBef>
                <a:spcPct val="0"/>
              </a:spcBef>
            </a:pPr>
            <a:r>
              <a:rPr lang="en-US" altLang="zh-CN" sz="3200" u="none" spc="45">
                <a:solidFill>
                  <a:srgbClr val="737373"/>
                </a:solidFill>
                <a:ea typeface="华康黑体W7宽汉音上1L" panose="020B0700000000000000" charset="-122"/>
              </a:rPr>
              <a:t>(1)We encapsulate the specific   conditional logic into separate subclasses, with each subclass responsible for its own behavior. This ensures that each class adheres to the Single Responsibility Principle, reducing the complexity of conditional statements.</a:t>
            </a:r>
            <a:endParaRPr lang="en-US" altLang="zh-CN" sz="3200" u="none" spc="45">
              <a:solidFill>
                <a:srgbClr val="737373"/>
              </a:solidFill>
              <a:ea typeface="华康黑体W7宽汉音上1L" panose="020B0700000000000000" charset="-122"/>
            </a:endParaRPr>
          </a:p>
        </p:txBody>
      </p:sp>
      <p:grpSp>
        <p:nvGrpSpPr>
          <p:cNvPr id="12" name="Group 10"/>
          <p:cNvGrpSpPr/>
          <p:nvPr/>
        </p:nvGrpSpPr>
        <p:grpSpPr>
          <a:xfrm rot="0">
            <a:off x="1981200" y="1485995"/>
            <a:ext cx="14296390" cy="6548807"/>
            <a:chOff x="-2567347" y="-19929"/>
            <a:chExt cx="4274726" cy="832729"/>
          </a:xfrm>
        </p:grpSpPr>
        <p:sp>
          <p:nvSpPr>
            <p:cNvPr id="16" name="Freeform 11"/>
            <p:cNvSpPr/>
            <p:nvPr/>
          </p:nvSpPr>
          <p:spPr>
            <a:xfrm>
              <a:off x="-2567347" y="-19929"/>
              <a:ext cx="4274726" cy="273241"/>
            </a:xfrm>
            <a:custGeom>
              <a:avLst/>
              <a:gdLst/>
              <a:ahLst/>
              <a:cxnLst/>
              <a:rect l="l" t="t" r="r" b="b"/>
              <a:pathLst>
                <a:path w="4274726" h="763593">
                  <a:moveTo>
                    <a:pt x="0" y="0"/>
                  </a:moveTo>
                  <a:lnTo>
                    <a:pt x="4274726" y="0"/>
                  </a:lnTo>
                  <a:lnTo>
                    <a:pt x="4274726" y="763593"/>
                  </a:lnTo>
                  <a:lnTo>
                    <a:pt x="0" y="763593"/>
                  </a:lnTo>
                  <a:close/>
                </a:path>
              </a:pathLst>
            </a:custGeom>
            <a:solidFill>
              <a:srgbClr val="000000">
                <a:alpha val="0"/>
              </a:srgbClr>
            </a:solidFill>
            <a:ln w="38100">
              <a:solidFill>
                <a:srgbClr val="7495AB"/>
              </a:solidFill>
            </a:ln>
          </p:spPr>
        </p:sp>
        <p:sp>
          <p:nvSpPr>
            <p:cNvPr id="17" name="TextBox 12"/>
            <p:cNvSpPr txBox="1"/>
            <p:nvPr/>
          </p:nvSpPr>
          <p:spPr>
            <a:xfrm>
              <a:off x="0" y="-9525"/>
              <a:ext cx="812800" cy="822325"/>
            </a:xfrm>
            <a:prstGeom prst="rect">
              <a:avLst/>
            </a:prstGeom>
          </p:spPr>
          <p:txBody>
            <a:bodyPr lIns="50800" tIns="50800" rIns="50800" bIns="50800" rtlCol="0" anchor="ctr"/>
            <a:p>
              <a:pPr algn="ctr">
                <a:lnSpc>
                  <a:spcPts val="2520"/>
                </a:lnSpc>
              </a:pPr>
            </a:p>
          </p:txBody>
        </p:sp>
      </p:grpSp>
      <p:sp>
        <p:nvSpPr>
          <p:cNvPr id="21" name="矩形标注 20"/>
          <p:cNvSpPr/>
          <p:nvPr/>
        </p:nvSpPr>
        <p:spPr>
          <a:xfrm>
            <a:off x="11939270" y="3966210"/>
            <a:ext cx="5791200" cy="2947670"/>
          </a:xfrm>
          <a:prstGeom prst="wedgeRectCallout">
            <a:avLst>
              <a:gd name="adj1" fmla="val -47905"/>
              <a:gd name="adj2" fmla="val 71308"/>
            </a:avLst>
          </a:prstGeom>
          <a:solidFill>
            <a:srgbClr val="96B9CF"/>
          </a:solidFill>
          <a:ln>
            <a:solidFill>
              <a:srgbClr val="96B9CF"/>
            </a:solidFill>
          </a:ln>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0" name="TextBox 6"/>
          <p:cNvSpPr txBox="1"/>
          <p:nvPr/>
        </p:nvSpPr>
        <p:spPr>
          <a:xfrm>
            <a:off x="12034520" y="4017010"/>
            <a:ext cx="5772150" cy="3089910"/>
          </a:xfrm>
          <a:prstGeom prst="rect">
            <a:avLst/>
          </a:prstGeom>
          <a:noFill/>
          <a:extLst>
            <a:ext uri="{909E8E84-426E-40DD-AFC4-6F175D3DCCD1}">
              <a14:hiddenFill xmlns:a14="http://schemas.microsoft.com/office/drawing/2010/main">
                <a:solidFill>
                  <a:schemeClr val="tx2">
                    <a:lumMod val="75000"/>
                  </a:schemeClr>
                </a:solidFill>
              </a14:hiddenFill>
            </a:ext>
          </a:extLst>
        </p:spPr>
        <p:txBody>
          <a:bodyPr lIns="50800" tIns="50800" rIns="50800" bIns="50800" rtlCol="0" anchor="ctr"/>
          <a:p>
            <a:pPr algn="l">
              <a:lnSpc>
                <a:spcPts val="2520"/>
              </a:lnSpc>
            </a:pPr>
            <a:r>
              <a:rPr lang="en-US" altLang="zh-CN" sz="2800">
                <a:solidFill>
                  <a:schemeClr val="bg1"/>
                </a:solidFill>
              </a:rPr>
              <a:t>By encapsulating each conditional logic into separate subclasses, each subclass is responsible for its own behavior. The client code interacts through a unified interface and no longer needs to be concerned with the specific implementation details within each class.</a:t>
            </a:r>
            <a:endParaRPr lang="en-US" altLang="zh-CN" sz="2800">
              <a:solidFill>
                <a:schemeClr val="bg1"/>
              </a:solidFill>
            </a:endParaRPr>
          </a:p>
        </p:txBody>
      </p:sp>
      <p:pic>
        <p:nvPicPr>
          <p:cNvPr id="7" name="图片 4"/>
          <p:cNvPicPr>
            <a:picLocks noChangeAspect="1"/>
          </p:cNvPicPr>
          <p:nvPr/>
        </p:nvPicPr>
        <p:blipFill>
          <a:blip r:embed="rId9"/>
          <a:srcRect r="5477"/>
          <a:stretch>
            <a:fillRect/>
          </a:stretch>
        </p:blipFill>
        <p:spPr>
          <a:xfrm>
            <a:off x="228600" y="3924300"/>
            <a:ext cx="11506200" cy="44780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2534271">
            <a:off x="-4337359" y="-3575806"/>
            <a:ext cx="6599853" cy="6335859"/>
          </a:xfrm>
          <a:prstGeom prst="rect">
            <a:avLst/>
          </a:prstGeom>
        </p:spPr>
      </p:pic>
      <p:grpSp>
        <p:nvGrpSpPr>
          <p:cNvPr id="13" name="Group 13"/>
          <p:cNvGrpSpPr/>
          <p:nvPr/>
        </p:nvGrpSpPr>
        <p:grpSpPr>
          <a:xfrm rot="5400000">
            <a:off x="1198030" y="8057706"/>
            <a:ext cx="261908" cy="229170"/>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82575"/>
              <a:ext cx="558800" cy="377825"/>
            </a:xfrm>
            <a:prstGeom prst="rect">
              <a:avLst/>
            </a:prstGeom>
          </p:spPr>
          <p:txBody>
            <a:bodyPr lIns="50800" tIns="50800" rIns="50800" bIns="50800" rtlCol="0" anchor="ctr"/>
            <a:lstStyle/>
            <a:p>
              <a:pPr algn="ctr">
                <a:lnSpc>
                  <a:spcPts val="2660"/>
                </a:lnSpc>
              </a:pPr>
            </a:p>
          </p:txBody>
        </p:sp>
      </p:grpSp>
      <p:sp>
        <p:nvSpPr>
          <p:cNvPr id="24" name="TextBox 24"/>
          <p:cNvSpPr txBox="1"/>
          <p:nvPr/>
        </p:nvSpPr>
        <p:spPr>
          <a:xfrm>
            <a:off x="6104890" y="419364"/>
            <a:ext cx="6142739" cy="807720"/>
          </a:xfrm>
          <a:prstGeom prst="rect">
            <a:avLst/>
          </a:prstGeom>
          <a:solidFill>
            <a:srgbClr val="7495AB"/>
          </a:solidFill>
        </p:spPr>
        <p:txBody>
          <a:bodyPr lIns="0" tIns="0" rIns="0" bIns="0" rtlCol="0" anchor="t">
            <a:spAutoFit/>
          </a:bodyPr>
          <a:lstStyle/>
          <a:p>
            <a:pPr algn="ctr">
              <a:lnSpc>
                <a:spcPts val="6300"/>
              </a:lnSpc>
              <a:spcBef>
                <a:spcPct val="0"/>
              </a:spcBef>
            </a:pPr>
            <a:r>
              <a:rPr lang="en-US" altLang="zh-CN" sz="4500">
                <a:solidFill>
                  <a:schemeClr val="bg1"/>
                </a:solidFill>
                <a:ea typeface="造字工房尚黑体 粗体" charset="-122"/>
              </a:rPr>
              <a:t>Core Idea</a:t>
            </a:r>
            <a:endParaRPr lang="en-US" altLang="zh-CN" sz="4500">
              <a:solidFill>
                <a:schemeClr val="bg1"/>
              </a:solidFill>
              <a:ea typeface="造字工房尚黑体 粗体" charset="-122"/>
            </a:endParaRPr>
          </a:p>
        </p:txBody>
      </p:sp>
      <p:sp>
        <p:nvSpPr>
          <p:cNvPr id="25" name="TextBox 25"/>
          <p:cNvSpPr txBox="1"/>
          <p:nvPr/>
        </p:nvSpPr>
        <p:spPr>
          <a:xfrm>
            <a:off x="2057400" y="1675765"/>
            <a:ext cx="14237970" cy="492125"/>
          </a:xfrm>
          <a:prstGeom prst="rect">
            <a:avLst/>
          </a:prstGeom>
        </p:spPr>
        <p:txBody>
          <a:bodyPr wrap="square" lIns="0" tIns="0" rIns="0" bIns="0" rtlCol="0" anchor="t">
            <a:spAutoFit/>
          </a:bodyPr>
          <a:lstStyle/>
          <a:p>
            <a:pPr marL="0" lvl="0" indent="0" algn="l">
              <a:lnSpc>
                <a:spcPct val="100000"/>
              </a:lnSpc>
              <a:spcBef>
                <a:spcPct val="0"/>
              </a:spcBef>
            </a:pPr>
            <a:r>
              <a:rPr lang="en-US" altLang="zh-CN" sz="3200" u="none" spc="45">
                <a:solidFill>
                  <a:srgbClr val="737373"/>
                </a:solidFill>
                <a:ea typeface="华康黑体W7宽汉音上1L" panose="020B0700000000000000" charset="-122"/>
              </a:rPr>
              <a:t>(2)Using design patterns, such as the Factory Pattern.</a:t>
            </a:r>
            <a:endParaRPr lang="en-US" altLang="zh-CN" sz="3200" u="none" spc="45">
              <a:solidFill>
                <a:srgbClr val="737373"/>
              </a:solidFill>
              <a:ea typeface="华康黑体W7宽汉音上1L" panose="020B0700000000000000" charset="-122"/>
            </a:endParaRPr>
          </a:p>
        </p:txBody>
      </p:sp>
      <p:grpSp>
        <p:nvGrpSpPr>
          <p:cNvPr id="12" name="Group 10"/>
          <p:cNvGrpSpPr/>
          <p:nvPr/>
        </p:nvGrpSpPr>
        <p:grpSpPr>
          <a:xfrm rot="0">
            <a:off x="1929131" y="1403986"/>
            <a:ext cx="14296390" cy="6548901"/>
            <a:chOff x="-2590131" y="-19941"/>
            <a:chExt cx="4274726" cy="832741"/>
          </a:xfrm>
        </p:grpSpPr>
        <p:sp>
          <p:nvSpPr>
            <p:cNvPr id="16" name="Freeform 11"/>
            <p:cNvSpPr/>
            <p:nvPr/>
          </p:nvSpPr>
          <p:spPr>
            <a:xfrm>
              <a:off x="-2590131" y="-19941"/>
              <a:ext cx="4274726" cy="127415"/>
            </a:xfrm>
            <a:custGeom>
              <a:avLst/>
              <a:gdLst/>
              <a:ahLst/>
              <a:cxnLst/>
              <a:rect l="l" t="t" r="r" b="b"/>
              <a:pathLst>
                <a:path w="4274726" h="763593">
                  <a:moveTo>
                    <a:pt x="0" y="0"/>
                  </a:moveTo>
                  <a:lnTo>
                    <a:pt x="4274726" y="0"/>
                  </a:lnTo>
                  <a:lnTo>
                    <a:pt x="4274726" y="763593"/>
                  </a:lnTo>
                  <a:lnTo>
                    <a:pt x="0" y="763593"/>
                  </a:lnTo>
                  <a:close/>
                </a:path>
              </a:pathLst>
            </a:custGeom>
            <a:solidFill>
              <a:srgbClr val="000000">
                <a:alpha val="0"/>
              </a:srgbClr>
            </a:solidFill>
            <a:ln w="38100">
              <a:solidFill>
                <a:srgbClr val="7495AB"/>
              </a:solidFill>
            </a:ln>
          </p:spPr>
          <p:txBody>
            <a:bodyPr/>
            <a:p>
              <a:endParaRPr lang="zh-CN" altLang="en-US"/>
            </a:p>
          </p:txBody>
        </p:sp>
        <p:sp>
          <p:nvSpPr>
            <p:cNvPr id="17" name="TextBox 12"/>
            <p:cNvSpPr txBox="1"/>
            <p:nvPr/>
          </p:nvSpPr>
          <p:spPr>
            <a:xfrm>
              <a:off x="0" y="-9525"/>
              <a:ext cx="812800" cy="822325"/>
            </a:xfrm>
            <a:prstGeom prst="rect">
              <a:avLst/>
            </a:prstGeom>
          </p:spPr>
          <p:txBody>
            <a:bodyPr lIns="50800" tIns="50800" rIns="50800" bIns="50800" rtlCol="0" anchor="ctr"/>
            <a:p>
              <a:pPr algn="ctr">
                <a:lnSpc>
                  <a:spcPts val="2520"/>
                </a:lnSpc>
              </a:pPr>
            </a:p>
          </p:txBody>
        </p:sp>
      </p:grpSp>
      <p:sp>
        <p:nvSpPr>
          <p:cNvPr id="21" name="矩形标注 20"/>
          <p:cNvSpPr/>
          <p:nvPr/>
        </p:nvSpPr>
        <p:spPr>
          <a:xfrm>
            <a:off x="9982200" y="3848100"/>
            <a:ext cx="5991225" cy="2947670"/>
          </a:xfrm>
          <a:prstGeom prst="wedgeRectCallout">
            <a:avLst>
              <a:gd name="adj1" fmla="val -47905"/>
              <a:gd name="adj2" fmla="val 71308"/>
            </a:avLst>
          </a:prstGeom>
          <a:solidFill>
            <a:srgbClr val="96B9CF"/>
          </a:solidFill>
          <a:ln>
            <a:solidFill>
              <a:srgbClr val="96B9CF"/>
            </a:solidFill>
          </a:ln>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0" name="TextBox 6"/>
          <p:cNvSpPr txBox="1"/>
          <p:nvPr/>
        </p:nvSpPr>
        <p:spPr>
          <a:xfrm>
            <a:off x="10058400" y="3848100"/>
            <a:ext cx="6002020" cy="3089910"/>
          </a:xfrm>
          <a:prstGeom prst="rect">
            <a:avLst/>
          </a:prstGeom>
          <a:noFill/>
          <a:extLst>
            <a:ext uri="{909E8E84-426E-40DD-AFC4-6F175D3DCCD1}">
              <a14:hiddenFill xmlns:a14="http://schemas.microsoft.com/office/drawing/2010/main">
                <a:solidFill>
                  <a:schemeClr val="tx2">
                    <a:lumMod val="75000"/>
                  </a:schemeClr>
                </a:solidFill>
              </a14:hiddenFill>
            </a:ext>
          </a:extLst>
        </p:spPr>
        <p:txBody>
          <a:bodyPr lIns="50800" tIns="50800" rIns="50800" bIns="50800" rtlCol="0" anchor="ctr"/>
          <a:p>
            <a:pPr algn="l">
              <a:lnSpc>
                <a:spcPts val="2520"/>
              </a:lnSpc>
            </a:pPr>
            <a:r>
              <a:rPr lang="en-US" altLang="zh-CN" sz="2800">
                <a:solidFill>
                  <a:schemeClr val="bg1"/>
                </a:solidFill>
              </a:rPr>
              <a:t>Without the Factory Pattern, we might write conditional statements in the client code to determine which type of bird instance to create. For example, creating different bird objects based on bird.type. This approach can easily lead to complex, hard-to-maintain, and difficult-to-extend code.</a:t>
            </a:r>
            <a:endParaRPr lang="en-US" altLang="zh-CN" sz="2800">
              <a:solidFill>
                <a:schemeClr val="bg1"/>
              </a:solidFill>
            </a:endParaRPr>
          </a:p>
        </p:txBody>
      </p:sp>
      <p:pic>
        <p:nvPicPr>
          <p:cNvPr id="8" name="图片 5"/>
          <p:cNvPicPr>
            <a:picLocks noChangeAspect="1"/>
          </p:cNvPicPr>
          <p:nvPr/>
        </p:nvPicPr>
        <p:blipFill>
          <a:blip r:embed="rId9"/>
          <a:stretch>
            <a:fillRect/>
          </a:stretch>
        </p:blipFill>
        <p:spPr>
          <a:xfrm>
            <a:off x="1981200" y="2628900"/>
            <a:ext cx="7393305" cy="653986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2534271">
            <a:off x="-4337359" y="-3575806"/>
            <a:ext cx="6599853" cy="6335859"/>
          </a:xfrm>
          <a:prstGeom prst="rect">
            <a:avLst/>
          </a:prstGeom>
        </p:spPr>
      </p:pic>
      <p:grpSp>
        <p:nvGrpSpPr>
          <p:cNvPr id="13" name="Group 13"/>
          <p:cNvGrpSpPr/>
          <p:nvPr/>
        </p:nvGrpSpPr>
        <p:grpSpPr>
          <a:xfrm rot="5400000">
            <a:off x="1198030" y="8057706"/>
            <a:ext cx="261908" cy="229170"/>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82575"/>
              <a:ext cx="558800" cy="377825"/>
            </a:xfrm>
            <a:prstGeom prst="rect">
              <a:avLst/>
            </a:prstGeom>
          </p:spPr>
          <p:txBody>
            <a:bodyPr lIns="50800" tIns="50800" rIns="50800" bIns="50800" rtlCol="0" anchor="ctr"/>
            <a:lstStyle/>
            <a:p>
              <a:pPr algn="ctr">
                <a:lnSpc>
                  <a:spcPts val="2660"/>
                </a:lnSpc>
              </a:pPr>
            </a:p>
          </p:txBody>
        </p:sp>
      </p:grpSp>
      <p:sp>
        <p:nvSpPr>
          <p:cNvPr id="24" name="TextBox 24"/>
          <p:cNvSpPr txBox="1"/>
          <p:nvPr/>
        </p:nvSpPr>
        <p:spPr>
          <a:xfrm>
            <a:off x="6104890" y="419364"/>
            <a:ext cx="6142739" cy="807720"/>
          </a:xfrm>
          <a:prstGeom prst="rect">
            <a:avLst/>
          </a:prstGeom>
          <a:solidFill>
            <a:srgbClr val="7495AB"/>
          </a:solidFill>
        </p:spPr>
        <p:txBody>
          <a:bodyPr lIns="0" tIns="0" rIns="0" bIns="0" rtlCol="0" anchor="t">
            <a:spAutoFit/>
          </a:bodyPr>
          <a:lstStyle/>
          <a:p>
            <a:pPr algn="ctr">
              <a:lnSpc>
                <a:spcPts val="6300"/>
              </a:lnSpc>
              <a:spcBef>
                <a:spcPct val="0"/>
              </a:spcBef>
            </a:pPr>
            <a:r>
              <a:rPr lang="en-US" altLang="zh-CN" sz="4500">
                <a:solidFill>
                  <a:schemeClr val="bg1"/>
                </a:solidFill>
                <a:ea typeface="造字工房尚黑体 粗体" charset="-122"/>
              </a:rPr>
              <a:t>Core Idea</a:t>
            </a:r>
            <a:endParaRPr lang="en-US" altLang="zh-CN" sz="4500">
              <a:solidFill>
                <a:schemeClr val="bg1"/>
              </a:solidFill>
              <a:ea typeface="造字工房尚黑体 粗体" charset="-122"/>
            </a:endParaRPr>
          </a:p>
        </p:txBody>
      </p:sp>
      <p:sp>
        <p:nvSpPr>
          <p:cNvPr id="25" name="TextBox 25"/>
          <p:cNvSpPr txBox="1"/>
          <p:nvPr/>
        </p:nvSpPr>
        <p:spPr>
          <a:xfrm>
            <a:off x="2057400" y="1675765"/>
            <a:ext cx="14237970" cy="492125"/>
          </a:xfrm>
          <a:prstGeom prst="rect">
            <a:avLst/>
          </a:prstGeom>
        </p:spPr>
        <p:txBody>
          <a:bodyPr wrap="square" lIns="0" tIns="0" rIns="0" bIns="0" rtlCol="0" anchor="t">
            <a:spAutoFit/>
          </a:bodyPr>
          <a:lstStyle/>
          <a:p>
            <a:pPr marL="0" lvl="0" indent="0" algn="l">
              <a:lnSpc>
                <a:spcPct val="100000"/>
              </a:lnSpc>
              <a:spcBef>
                <a:spcPct val="0"/>
              </a:spcBef>
            </a:pPr>
            <a:r>
              <a:rPr lang="en-US" altLang="zh-CN" sz="3200" u="none" spc="45">
                <a:solidFill>
                  <a:srgbClr val="737373"/>
                </a:solidFill>
                <a:ea typeface="华康黑体W7宽汉音上1L" panose="020B0700000000000000" charset="-122"/>
              </a:rPr>
              <a:t>(2)Using design patterns, such as the Factory Pattern.</a:t>
            </a:r>
            <a:endParaRPr lang="en-US" altLang="zh-CN" sz="3200" u="none" spc="45">
              <a:solidFill>
                <a:srgbClr val="737373"/>
              </a:solidFill>
              <a:ea typeface="华康黑体W7宽汉音上1L" panose="020B0700000000000000" charset="-122"/>
            </a:endParaRPr>
          </a:p>
        </p:txBody>
      </p:sp>
      <p:grpSp>
        <p:nvGrpSpPr>
          <p:cNvPr id="12" name="Group 10"/>
          <p:cNvGrpSpPr/>
          <p:nvPr/>
        </p:nvGrpSpPr>
        <p:grpSpPr>
          <a:xfrm rot="0">
            <a:off x="1929131" y="1403986"/>
            <a:ext cx="14296390" cy="6548901"/>
            <a:chOff x="-2590131" y="-19941"/>
            <a:chExt cx="4274726" cy="832741"/>
          </a:xfrm>
        </p:grpSpPr>
        <p:sp>
          <p:nvSpPr>
            <p:cNvPr id="16" name="Freeform 11"/>
            <p:cNvSpPr/>
            <p:nvPr/>
          </p:nvSpPr>
          <p:spPr>
            <a:xfrm>
              <a:off x="-2590131" y="-19941"/>
              <a:ext cx="4274726" cy="127415"/>
            </a:xfrm>
            <a:custGeom>
              <a:avLst/>
              <a:gdLst/>
              <a:ahLst/>
              <a:cxnLst/>
              <a:rect l="l" t="t" r="r" b="b"/>
              <a:pathLst>
                <a:path w="4274726" h="763593">
                  <a:moveTo>
                    <a:pt x="0" y="0"/>
                  </a:moveTo>
                  <a:lnTo>
                    <a:pt x="4274726" y="0"/>
                  </a:lnTo>
                  <a:lnTo>
                    <a:pt x="4274726" y="763593"/>
                  </a:lnTo>
                  <a:lnTo>
                    <a:pt x="0" y="763593"/>
                  </a:lnTo>
                  <a:close/>
                </a:path>
              </a:pathLst>
            </a:custGeom>
            <a:solidFill>
              <a:srgbClr val="000000">
                <a:alpha val="0"/>
              </a:srgbClr>
            </a:solidFill>
            <a:ln w="38100">
              <a:solidFill>
                <a:srgbClr val="7495AB"/>
              </a:solidFill>
            </a:ln>
          </p:spPr>
          <p:txBody>
            <a:bodyPr/>
            <a:p>
              <a:endParaRPr lang="zh-CN" altLang="en-US"/>
            </a:p>
          </p:txBody>
        </p:sp>
        <p:sp>
          <p:nvSpPr>
            <p:cNvPr id="17" name="TextBox 12"/>
            <p:cNvSpPr txBox="1"/>
            <p:nvPr/>
          </p:nvSpPr>
          <p:spPr>
            <a:xfrm>
              <a:off x="0" y="-9525"/>
              <a:ext cx="812800" cy="822325"/>
            </a:xfrm>
            <a:prstGeom prst="rect">
              <a:avLst/>
            </a:prstGeom>
          </p:spPr>
          <p:txBody>
            <a:bodyPr lIns="50800" tIns="50800" rIns="50800" bIns="50800" rtlCol="0" anchor="ctr"/>
            <a:p>
              <a:pPr algn="ctr">
                <a:lnSpc>
                  <a:spcPts val="2520"/>
                </a:lnSpc>
              </a:pPr>
            </a:p>
          </p:txBody>
        </p:sp>
      </p:grpSp>
      <p:sp>
        <p:nvSpPr>
          <p:cNvPr id="21" name="矩形标注 20"/>
          <p:cNvSpPr/>
          <p:nvPr/>
        </p:nvSpPr>
        <p:spPr>
          <a:xfrm>
            <a:off x="10782300" y="3896995"/>
            <a:ext cx="5991225" cy="2947670"/>
          </a:xfrm>
          <a:prstGeom prst="wedgeRectCallout">
            <a:avLst>
              <a:gd name="adj1" fmla="val -47905"/>
              <a:gd name="adj2" fmla="val 71308"/>
            </a:avLst>
          </a:prstGeom>
          <a:solidFill>
            <a:srgbClr val="96B9CF"/>
          </a:solidFill>
          <a:ln>
            <a:solidFill>
              <a:srgbClr val="96B9CF"/>
            </a:solidFill>
          </a:ln>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0" name="TextBox 6"/>
          <p:cNvSpPr txBox="1"/>
          <p:nvPr/>
        </p:nvSpPr>
        <p:spPr>
          <a:xfrm>
            <a:off x="10972800" y="3896995"/>
            <a:ext cx="5822315" cy="3089910"/>
          </a:xfrm>
          <a:prstGeom prst="rect">
            <a:avLst/>
          </a:prstGeom>
          <a:noFill/>
          <a:extLst>
            <a:ext uri="{909E8E84-426E-40DD-AFC4-6F175D3DCCD1}">
              <a14:hiddenFill xmlns:a14="http://schemas.microsoft.com/office/drawing/2010/main">
                <a:solidFill>
                  <a:schemeClr val="tx2">
                    <a:lumMod val="75000"/>
                  </a:schemeClr>
                </a:solidFill>
              </a14:hiddenFill>
            </a:ext>
          </a:extLst>
        </p:spPr>
        <p:txBody>
          <a:bodyPr lIns="50800" tIns="50800" rIns="50800" bIns="50800" rtlCol="0" anchor="ctr"/>
          <a:p>
            <a:pPr algn="l">
              <a:lnSpc>
                <a:spcPts val="2520"/>
              </a:lnSpc>
            </a:pPr>
            <a:r>
              <a:rPr lang="en-US" altLang="zh-CN" sz="2800">
                <a:solidFill>
                  <a:schemeClr val="bg1"/>
                </a:solidFill>
              </a:rPr>
              <a:t>By using design patterns such as the Factory Pattern, appropriate subclass instances can be dynamically created, avoiding the need for conditional logic directly in the client code. This approach makes the system more flexible and extensible.</a:t>
            </a:r>
            <a:endParaRPr lang="en-US" altLang="zh-CN" sz="2800">
              <a:solidFill>
                <a:schemeClr val="bg1"/>
              </a:solidFill>
            </a:endParaRPr>
          </a:p>
        </p:txBody>
      </p:sp>
      <p:pic>
        <p:nvPicPr>
          <p:cNvPr id="7" name="图片 6"/>
          <p:cNvPicPr>
            <a:picLocks noChangeAspect="1"/>
          </p:cNvPicPr>
          <p:nvPr/>
        </p:nvPicPr>
        <p:blipFill>
          <a:blip r:embed="rId9"/>
          <a:stretch>
            <a:fillRect/>
          </a:stretch>
        </p:blipFill>
        <p:spPr>
          <a:xfrm>
            <a:off x="1066800" y="2781300"/>
            <a:ext cx="9098280" cy="686054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293809">
            <a:off x="-688329" y="7790159"/>
            <a:ext cx="2836519" cy="3707869"/>
          </a:xfrm>
          <a:prstGeom prst="rect">
            <a:avLst/>
          </a:prstGeom>
        </p:spPr>
      </p:pic>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838581">
            <a:off x="-4499683" y="7426977"/>
            <a:ext cx="8999366" cy="4434233"/>
          </a:xfrm>
          <a:prstGeom prst="rect">
            <a:avLst/>
          </a:prstGeom>
        </p:spPr>
      </p:pic>
      <p:grpSp>
        <p:nvGrpSpPr>
          <p:cNvPr id="4" name="Group 4"/>
          <p:cNvGrpSpPr/>
          <p:nvPr/>
        </p:nvGrpSpPr>
        <p:grpSpPr>
          <a:xfrm rot="6646896">
            <a:off x="14013497" y="-3181377"/>
            <a:ext cx="6877785" cy="7307014"/>
            <a:chOff x="0" y="0"/>
            <a:chExt cx="9170380" cy="9742685"/>
          </a:xfrm>
        </p:grpSpPr>
        <p:pic>
          <p:nvPicPr>
            <p:cNvPr id="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10020101" flipV="1">
              <a:off x="1453372" y="609703"/>
              <a:ext cx="6263636" cy="7392704"/>
            </a:xfrm>
            <a:prstGeom prst="rect">
              <a:avLst/>
            </a:prstGeom>
          </p:spPr>
        </p:pic>
        <p:pic>
          <p:nvPicPr>
            <p:cNvPr id="6" name="Picture 6"/>
            <p:cNvPicPr>
              <a:picLocks noChangeAspect="1"/>
            </p:cNvPicPr>
            <p:nvPr/>
          </p:nvPicPr>
          <p:blipFill>
            <a:blip r:embed="rId2">
              <a:extLst>
                <a:ext uri="{28A0092B-C50C-407E-A947-70E740481C1C}">
                  <a14:useLocalDpi xmlns:a14="http://schemas.microsoft.com/office/drawing/2010/main" val="0"/>
                </a:ext>
              </a:extLst>
            </a:blip>
            <a:srcRect l="38708"/>
            <a:stretch>
              <a:fillRect/>
            </a:stretch>
          </p:blipFill>
          <p:spPr>
            <a:xfrm rot="7654232">
              <a:off x="907983" y="2069484"/>
              <a:ext cx="7354414" cy="5912311"/>
            </a:xfrm>
            <a:prstGeom prst="rect">
              <a:avLst/>
            </a:prstGeom>
          </p:spPr>
        </p:pic>
      </p:grpSp>
      <p:grpSp>
        <p:nvGrpSpPr>
          <p:cNvPr id="7" name="Group 7"/>
          <p:cNvGrpSpPr/>
          <p:nvPr/>
        </p:nvGrpSpPr>
        <p:grpSpPr>
          <a:xfrm rot="-4937986">
            <a:off x="-1726090" y="-1748908"/>
            <a:ext cx="6005388" cy="6286112"/>
            <a:chOff x="0" y="0"/>
            <a:chExt cx="8007184" cy="8381483"/>
          </a:xfrm>
        </p:grpSpPr>
        <p:pic>
          <p:nvPicPr>
            <p:cNvPr id="8" name="Picture 8"/>
            <p:cNvPicPr>
              <a:picLocks noChangeAspect="1"/>
            </p:cNvPicPr>
            <p:nvPr/>
          </p:nvPicPr>
          <p:blipFill>
            <a:blip r:embed="rId4">
              <a:alphaModFix amt="71000"/>
              <a:extLst>
                <a:ext uri="{28A0092B-C50C-407E-A947-70E740481C1C}">
                  <a14:useLocalDpi xmlns:a14="http://schemas.microsoft.com/office/drawing/2010/main" val="0"/>
                </a:ext>
              </a:extLst>
            </a:blip>
            <a:srcRect/>
            <a:stretch>
              <a:fillRect/>
            </a:stretch>
          </p:blipFill>
          <p:spPr>
            <a:xfrm rot="4068957">
              <a:off x="932313" y="1306613"/>
              <a:ext cx="6142557" cy="6142557"/>
            </a:xfrm>
            <a:prstGeom prst="rect">
              <a:avLst/>
            </a:prstGeom>
          </p:spPr>
        </p:pic>
        <p:pic>
          <p:nvPicPr>
            <p:cNvPr id="9" name="Picture 9"/>
            <p:cNvPicPr>
              <a:picLocks noChangeAspect="1"/>
            </p:cNvPicPr>
            <p:nvPr/>
          </p:nvPicPr>
          <p:blipFill>
            <a:blip r:embed="rId5">
              <a:alphaModFix amt="80000"/>
              <a:extLst>
                <a:ext uri="{28A0092B-C50C-407E-A947-70E740481C1C}">
                  <a14:useLocalDpi xmlns:a14="http://schemas.microsoft.com/office/drawing/2010/main" val="0"/>
                </a:ext>
              </a:extLst>
            </a:blip>
            <a:srcRect/>
            <a:stretch>
              <a:fillRect/>
            </a:stretch>
          </p:blipFill>
          <p:spPr>
            <a:xfrm rot="-804865">
              <a:off x="3113361" y="435226"/>
              <a:ext cx="4356786" cy="5142130"/>
            </a:xfrm>
            <a:prstGeom prst="rect">
              <a:avLst/>
            </a:prstGeom>
          </p:spPr>
        </p:pic>
      </p:grpSp>
      <p:grpSp>
        <p:nvGrpSpPr>
          <p:cNvPr id="10" name="Group 10"/>
          <p:cNvGrpSpPr/>
          <p:nvPr/>
        </p:nvGrpSpPr>
        <p:grpSpPr>
          <a:xfrm rot="0">
            <a:off x="13739375" y="6499562"/>
            <a:ext cx="5424934" cy="4641848"/>
            <a:chOff x="0" y="0"/>
            <a:chExt cx="7233245" cy="6189131"/>
          </a:xfrm>
        </p:grpSpPr>
        <p:pic>
          <p:nvPicPr>
            <p:cNvPr id="11" name="Picture 1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0" y="0"/>
              <a:ext cx="6190578" cy="5486400"/>
            </a:xfrm>
            <a:prstGeom prst="rect">
              <a:avLst/>
            </a:prstGeom>
          </p:spPr>
        </p:pic>
        <p:pic>
          <p:nvPicPr>
            <p:cNvPr id="12" name="Picture 1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rot="2336840">
              <a:off x="4054922" y="2579198"/>
              <a:ext cx="2445399" cy="3196600"/>
            </a:xfrm>
            <a:prstGeom prst="rect">
              <a:avLst/>
            </a:prstGeom>
          </p:spPr>
        </p:pic>
      </p:grpSp>
      <p:sp>
        <p:nvSpPr>
          <p:cNvPr id="13" name="TextBox 13"/>
          <p:cNvSpPr txBox="1"/>
          <p:nvPr/>
        </p:nvSpPr>
        <p:spPr>
          <a:xfrm>
            <a:off x="3428704" y="3390846"/>
            <a:ext cx="11205803" cy="3557270"/>
          </a:xfrm>
          <a:prstGeom prst="rect">
            <a:avLst/>
          </a:prstGeom>
        </p:spPr>
        <p:txBody>
          <a:bodyPr lIns="0" tIns="0" rIns="0" bIns="0" rtlCol="0" anchor="t">
            <a:spAutoFit/>
          </a:bodyPr>
          <a:lstStyle/>
          <a:p>
            <a:pPr algn="ctr">
              <a:lnSpc>
                <a:spcPts val="13870"/>
              </a:lnSpc>
              <a:spcBef>
                <a:spcPct val="0"/>
              </a:spcBef>
            </a:pPr>
            <a:r>
              <a:rPr lang="en-US" sz="10000">
                <a:solidFill>
                  <a:srgbClr val="16496B"/>
                </a:solidFill>
                <a:cs typeface="+mn-lt"/>
              </a:rPr>
              <a:t>Detailed </a:t>
            </a:r>
            <a:r>
              <a:rPr lang="en-US" sz="9910">
                <a:solidFill>
                  <a:srgbClr val="16496B"/>
                </a:solidFill>
                <a:cs typeface="+mn-lt"/>
              </a:rPr>
              <a:t>steps of implementation</a:t>
            </a:r>
            <a:endParaRPr lang="en-US" sz="9910">
              <a:solidFill>
                <a:srgbClr val="16496B"/>
              </a:solidFill>
              <a:cs typeface="+mn-lt"/>
            </a:endParaRPr>
          </a:p>
        </p:txBody>
      </p:sp>
      <p:grpSp>
        <p:nvGrpSpPr>
          <p:cNvPr id="16" name="Group 16"/>
          <p:cNvGrpSpPr/>
          <p:nvPr/>
        </p:nvGrpSpPr>
        <p:grpSpPr>
          <a:xfrm rot="0">
            <a:off x="10202536" y="2212860"/>
            <a:ext cx="999086" cy="999086"/>
            <a:chOff x="0" y="0"/>
            <a:chExt cx="812800" cy="812800"/>
          </a:xfrm>
        </p:grpSpPr>
        <p:sp>
          <p:nvSpPr>
            <p:cNvPr id="17" name="Freeform 17"/>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60"/>
                </a:lnSpc>
                <a:spcBef>
                  <a:spcPct val="0"/>
                </a:spcBef>
              </a:pPr>
            </a:p>
          </p:txBody>
        </p:sp>
      </p:grpSp>
      <p:sp>
        <p:nvSpPr>
          <p:cNvPr id="20" name="TextBox 16"/>
          <p:cNvSpPr txBox="1"/>
          <p:nvPr/>
        </p:nvSpPr>
        <p:spPr>
          <a:xfrm>
            <a:off x="6857778" y="2247785"/>
            <a:ext cx="3615701" cy="989330"/>
          </a:xfrm>
          <a:prstGeom prst="rect">
            <a:avLst/>
          </a:prstGeom>
        </p:spPr>
        <p:txBody>
          <a:bodyPr lIns="0" tIns="0" rIns="0" bIns="0" rtlCol="0" anchor="t">
            <a:spAutoFit/>
          </a:bodyPr>
          <a:p>
            <a:pPr algn="ctr">
              <a:lnSpc>
                <a:spcPts val="7715"/>
              </a:lnSpc>
            </a:pPr>
            <a:r>
              <a:rPr lang="en-US" sz="6595" spc="217">
                <a:solidFill>
                  <a:srgbClr val="16496B"/>
                </a:solidFill>
                <a:latin typeface="Calibri" panose="020F0502020204030204" charset="0"/>
                <a:cs typeface="Calibri" panose="020F0502020204030204" charset="0"/>
              </a:rPr>
              <a:t>PART</a:t>
            </a:r>
            <a:endParaRPr lang="en-US" sz="6595" spc="217">
              <a:solidFill>
                <a:srgbClr val="16496B"/>
              </a:solidFill>
              <a:latin typeface="Calibri" panose="020F0502020204030204" charset="0"/>
              <a:cs typeface="Calibri" panose="020F0502020204030204" charset="0"/>
            </a:endParaRPr>
          </a:p>
        </p:txBody>
      </p:sp>
      <p:sp>
        <p:nvSpPr>
          <p:cNvPr id="21" name="TextBox 20"/>
          <p:cNvSpPr txBox="1"/>
          <p:nvPr/>
        </p:nvSpPr>
        <p:spPr>
          <a:xfrm>
            <a:off x="10210800" y="2090420"/>
            <a:ext cx="998855" cy="1173480"/>
          </a:xfrm>
          <a:prstGeom prst="rect">
            <a:avLst/>
          </a:prstGeom>
        </p:spPr>
        <p:txBody>
          <a:bodyPr lIns="0" tIns="0" rIns="0" bIns="0" rtlCol="0" anchor="t">
            <a:noAutofit/>
          </a:bodyPr>
          <a:p>
            <a:pPr algn="ctr">
              <a:lnSpc>
                <a:spcPts val="9100"/>
              </a:lnSpc>
            </a:pPr>
            <a:r>
              <a:rPr lang="en-US" sz="6500">
                <a:solidFill>
                  <a:srgbClr val="FFFFFF"/>
                </a:solidFill>
                <a:latin typeface="Arial Rounded MT Bold" panose="020F0704030504030204" charset="0"/>
              </a:rPr>
              <a:t>3</a:t>
            </a:r>
            <a:endParaRPr lang="en-US" sz="6500">
              <a:solidFill>
                <a:srgbClr val="FFFFFF"/>
              </a:solidFill>
              <a:latin typeface="Arial Rounded MT Bold" panose="020F07040305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pic>
        <p:nvPicPr>
          <p:cNvPr id="32" name="图片 5"/>
          <p:cNvPicPr>
            <a:picLocks noChangeAspect="1"/>
          </p:cNvPicPr>
          <p:nvPr/>
        </p:nvPicPr>
        <p:blipFill>
          <a:blip r:embed="rId5"/>
          <a:stretch>
            <a:fillRect/>
          </a:stretch>
        </p:blipFill>
        <p:spPr>
          <a:xfrm>
            <a:off x="12355195" y="1562100"/>
            <a:ext cx="5460365" cy="3209290"/>
          </a:xfrm>
          <a:prstGeom prst="rect">
            <a:avLst/>
          </a:prstGeom>
          <a:noFill/>
          <a:ln>
            <a:noFill/>
          </a:ln>
        </p:spPr>
      </p:pic>
      <p:sp>
        <p:nvSpPr>
          <p:cNvPr id="33" name="TextBox 25"/>
          <p:cNvSpPr txBox="1"/>
          <p:nvPr>
            <p:custDataLst>
              <p:tags r:id="rId6"/>
            </p:custDataLst>
          </p:nvPr>
        </p:nvSpPr>
        <p:spPr>
          <a:xfrm>
            <a:off x="4876800" y="571500"/>
            <a:ext cx="8057515" cy="502920"/>
          </a:xfrm>
          <a:prstGeom prst="rect">
            <a:avLst/>
          </a:prstGeom>
        </p:spPr>
        <p:txBody>
          <a:bodyPr lIns="0" tIns="0" rIns="0" bIns="0" rtlCol="0" anchor="t">
            <a:noAutofit/>
          </a:bodyPr>
          <a:p>
            <a:pPr algn="ctr">
              <a:lnSpc>
                <a:spcPts val="4060"/>
              </a:lnSpc>
            </a:pPr>
            <a:r>
              <a:rPr lang="en-US" sz="5400" b="1">
                <a:solidFill>
                  <a:srgbClr val="16496B"/>
                </a:solidFill>
                <a:effectLst>
                  <a:outerShdw blurRad="38100" dist="38100" dir="2700000" algn="tl">
                    <a:srgbClr val="000000">
                      <a:alpha val="43137"/>
                    </a:srgbClr>
                  </a:outerShdw>
                </a:effectLst>
                <a:ea typeface="造字工房形黑体 粗体" charset="-122"/>
              </a:rPr>
              <a:t>1.Introduce Factory Method</a:t>
            </a:r>
            <a:endParaRPr lang="en-US" sz="5400" b="1">
              <a:solidFill>
                <a:srgbClr val="16496B"/>
              </a:solidFill>
              <a:effectLst>
                <a:outerShdw blurRad="38100" dist="38100" dir="2700000" algn="tl">
                  <a:srgbClr val="000000">
                    <a:alpha val="43137"/>
                  </a:srgbClr>
                </a:outerShdw>
              </a:effectLst>
              <a:ea typeface="造字工房形黑体 粗体" charset="-122"/>
            </a:endParaRPr>
          </a:p>
        </p:txBody>
      </p:sp>
      <p:sp>
        <p:nvSpPr>
          <p:cNvPr id="34" name="文本框 33"/>
          <p:cNvSpPr txBox="1"/>
          <p:nvPr/>
        </p:nvSpPr>
        <p:spPr>
          <a:xfrm>
            <a:off x="1066800" y="1503045"/>
            <a:ext cx="10967720" cy="3784600"/>
          </a:xfrm>
          <a:prstGeom prst="rect">
            <a:avLst/>
          </a:prstGeom>
        </p:spPr>
        <p:txBody>
          <a:bodyPr wrap="square">
            <a:spAutoFit/>
          </a:bodyPr>
          <a:p>
            <a:pPr marL="457200" indent="-457200" fontAlgn="auto">
              <a:lnSpc>
                <a:spcPct val="150000"/>
              </a:lnSpc>
              <a:buFont typeface="Arial" panose="020B0604020202020204" pitchFamily="34" charset="0"/>
              <a:buChar char="•"/>
            </a:pPr>
            <a:r>
              <a:rPr lang="en-US" altLang="zh-CN" sz="3200" b="1"/>
              <a:t>Factory method</a:t>
            </a:r>
            <a:r>
              <a:rPr lang="en-US" altLang="zh-CN" sz="3200"/>
              <a:t> returns </a:t>
            </a:r>
            <a:r>
              <a:rPr lang="en-US" altLang="zh-CN" sz="3200" b="1"/>
              <a:t>different object </a:t>
            </a:r>
            <a:r>
              <a:rPr lang="en-US" altLang="zh-CN" sz="3200"/>
              <a:t>instances based on conditions. </a:t>
            </a:r>
            <a:r>
              <a:rPr lang="en-US" altLang="zh-CN" sz="3200" b="1"/>
              <a:t>Client code </a:t>
            </a:r>
            <a:r>
              <a:rPr lang="en-US" altLang="zh-CN" sz="3200"/>
              <a:t>interacts with the factory, avoiding direct conditional logic.</a:t>
            </a:r>
            <a:endParaRPr lang="en-US" altLang="zh-CN" sz="3200"/>
          </a:p>
          <a:p>
            <a:pPr marL="457200" indent="-457200" fontAlgn="auto">
              <a:lnSpc>
                <a:spcPct val="150000"/>
              </a:lnSpc>
              <a:buFont typeface="Arial" panose="020B0604020202020204" pitchFamily="34" charset="0"/>
              <a:buChar char="•"/>
            </a:pPr>
            <a:r>
              <a:rPr lang="en-US" altLang="zh-CN" sz="3200" b="1"/>
              <a:t>Purpose:</a:t>
            </a:r>
            <a:r>
              <a:rPr lang="en-US" altLang="zh-CN" sz="3200"/>
              <a:t> Decouple object creation from condition checking, enhancing </a:t>
            </a:r>
            <a:r>
              <a:rPr lang="en-US" altLang="zh-CN" sz="3200" b="1"/>
              <a:t>system extensibility.</a:t>
            </a:r>
            <a:endParaRPr lang="en-US" altLang="zh-CN" sz="3200" b="1"/>
          </a:p>
        </p:txBody>
      </p:sp>
      <p:sp>
        <p:nvSpPr>
          <p:cNvPr id="35" name="TextBox 25"/>
          <p:cNvSpPr txBox="1"/>
          <p:nvPr>
            <p:custDataLst>
              <p:tags r:id="rId7"/>
            </p:custDataLst>
          </p:nvPr>
        </p:nvSpPr>
        <p:spPr>
          <a:xfrm>
            <a:off x="4191000" y="5716905"/>
            <a:ext cx="9473565" cy="502920"/>
          </a:xfrm>
          <a:prstGeom prst="rect">
            <a:avLst/>
          </a:prstGeom>
        </p:spPr>
        <p:txBody>
          <a:bodyPr lIns="0" tIns="0" rIns="0" bIns="0" rtlCol="0" anchor="t">
            <a:noAutofit/>
          </a:bodyPr>
          <a:p>
            <a:pPr algn="ctr">
              <a:lnSpc>
                <a:spcPts val="4060"/>
              </a:lnSpc>
            </a:pPr>
            <a:r>
              <a:rPr lang="en-US" sz="5400" b="1">
                <a:solidFill>
                  <a:srgbClr val="16496B"/>
                </a:solidFill>
                <a:effectLst>
                  <a:outerShdw blurRad="38100" dist="38100" dir="2700000" algn="tl">
                    <a:srgbClr val="000000">
                      <a:alpha val="43137"/>
                    </a:srgbClr>
                  </a:outerShdw>
                </a:effectLst>
                <a:ea typeface="造字工房形黑体 粗体" charset="-122"/>
              </a:rPr>
              <a:t>2. Refactor Conditional Logic</a:t>
            </a:r>
            <a:endParaRPr lang="en-US" sz="5400" b="1">
              <a:solidFill>
                <a:srgbClr val="16496B"/>
              </a:solidFill>
              <a:effectLst>
                <a:outerShdw blurRad="38100" dist="38100" dir="2700000" algn="tl">
                  <a:srgbClr val="000000">
                    <a:alpha val="43137"/>
                  </a:srgbClr>
                </a:outerShdw>
              </a:effectLst>
              <a:ea typeface="造字工房形黑体 粗体" charset="-122"/>
            </a:endParaRPr>
          </a:p>
        </p:txBody>
      </p:sp>
      <p:pic>
        <p:nvPicPr>
          <p:cNvPr id="39" name="图片 6"/>
          <p:cNvPicPr>
            <a:picLocks noChangeAspect="1"/>
          </p:cNvPicPr>
          <p:nvPr/>
        </p:nvPicPr>
        <p:blipFill>
          <a:blip r:embed="rId8"/>
          <a:stretch>
            <a:fillRect/>
          </a:stretch>
        </p:blipFill>
        <p:spPr>
          <a:xfrm>
            <a:off x="12192000" y="6515100"/>
            <a:ext cx="5786755" cy="3335655"/>
          </a:xfrm>
          <a:prstGeom prst="rect">
            <a:avLst/>
          </a:prstGeom>
          <a:noFill/>
          <a:ln>
            <a:noFill/>
          </a:ln>
        </p:spPr>
      </p:pic>
      <p:sp>
        <p:nvSpPr>
          <p:cNvPr id="40" name="文本框 39"/>
          <p:cNvSpPr txBox="1"/>
          <p:nvPr/>
        </p:nvSpPr>
        <p:spPr>
          <a:xfrm>
            <a:off x="1066800" y="6377305"/>
            <a:ext cx="10320020" cy="3046095"/>
          </a:xfrm>
          <a:prstGeom prst="rect">
            <a:avLst/>
          </a:prstGeom>
        </p:spPr>
        <p:txBody>
          <a:bodyPr wrap="square">
            <a:spAutoFit/>
          </a:bodyPr>
          <a:p>
            <a:pPr marL="457200" indent="-457200" algn="l" fontAlgn="auto">
              <a:lnSpc>
                <a:spcPct val="150000"/>
              </a:lnSpc>
              <a:buClrTx/>
              <a:buSzTx/>
              <a:buFont typeface="Arial" panose="020B0604020202020204" pitchFamily="34" charset="0"/>
              <a:buChar char="•"/>
            </a:pPr>
            <a:r>
              <a:rPr lang="en-US" altLang="zh-CN" sz="3200" b="1">
                <a:sym typeface="Microsoft Sans Serif" panose="020B0604020202020204" charset="0"/>
              </a:rPr>
              <a:t>Extract Method</a:t>
            </a:r>
            <a:r>
              <a:rPr lang="en-US" altLang="zh-CN" sz="3200">
                <a:sym typeface="Microsoft Sans Serif" panose="020B0604020202020204" charset="0"/>
              </a:rPr>
              <a:t> to break down complex conditional logic into smaller, clearer functions.</a:t>
            </a:r>
            <a:endParaRPr lang="en-US" altLang="zh-CN" sz="3200">
              <a:sym typeface="Microsoft Sans Serif" panose="020B0604020202020204" charset="0"/>
            </a:endParaRPr>
          </a:p>
          <a:p>
            <a:pPr marL="457200" indent="-457200" algn="l" fontAlgn="auto">
              <a:lnSpc>
                <a:spcPct val="150000"/>
              </a:lnSpc>
              <a:buClrTx/>
              <a:buSzTx/>
              <a:buFont typeface="Arial" panose="020B0604020202020204" pitchFamily="34" charset="0"/>
              <a:buChar char="•"/>
            </a:pPr>
            <a:r>
              <a:rPr lang="en-US" altLang="zh-CN" sz="3200" b="1">
                <a:sym typeface="Microsoft Sans Serif" panose="020B0604020202020204" charset="0"/>
              </a:rPr>
              <a:t>Purpose: </a:t>
            </a:r>
            <a:r>
              <a:rPr lang="en-US" altLang="zh-CN" sz="3200">
                <a:sym typeface="Microsoft Sans Serif" panose="020B0604020202020204" charset="0"/>
              </a:rPr>
              <a:t>Reduce method complexity, improve </a:t>
            </a:r>
            <a:r>
              <a:rPr lang="en-US" altLang="zh-CN" sz="3200" b="1">
                <a:sym typeface="Microsoft Sans Serif" panose="020B0604020202020204" charset="0"/>
              </a:rPr>
              <a:t>readability</a:t>
            </a:r>
            <a:r>
              <a:rPr lang="en-US" altLang="zh-CN" sz="3200">
                <a:sym typeface="Microsoft Sans Serif" panose="020B0604020202020204" charset="0"/>
              </a:rPr>
              <a:t>, and prepare for future refactoring.</a:t>
            </a:r>
            <a:endParaRPr lang="en-US" altLang="zh-CN" sz="3200">
              <a:sym typeface="Microsoft Sans Serif" panose="020B06040202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sp>
        <p:nvSpPr>
          <p:cNvPr id="33" name="TextBox 25"/>
          <p:cNvSpPr txBox="1"/>
          <p:nvPr>
            <p:custDataLst>
              <p:tags r:id="rId5"/>
            </p:custDataLst>
          </p:nvPr>
        </p:nvSpPr>
        <p:spPr>
          <a:xfrm>
            <a:off x="4876800" y="571500"/>
            <a:ext cx="8057515" cy="502920"/>
          </a:xfrm>
          <a:prstGeom prst="rect">
            <a:avLst/>
          </a:prstGeom>
        </p:spPr>
        <p:txBody>
          <a:bodyPr lIns="0" tIns="0" rIns="0" bIns="0" rtlCol="0" anchor="t">
            <a:noAutofit/>
          </a:bodyPr>
          <a:p>
            <a:pPr algn="ctr">
              <a:lnSpc>
                <a:spcPts val="4060"/>
              </a:lnSpc>
            </a:pPr>
            <a:r>
              <a:rPr lang="en-US" sz="5400" b="1">
                <a:solidFill>
                  <a:srgbClr val="16496B"/>
                </a:solidFill>
                <a:effectLst>
                  <a:outerShdw blurRad="38100" dist="38100" dir="2700000" algn="tl">
                    <a:srgbClr val="000000">
                      <a:alpha val="43137"/>
                    </a:srgbClr>
                  </a:outerShdw>
                </a:effectLst>
                <a:ea typeface="造字工房形黑体 粗体" charset="-122"/>
              </a:rPr>
              <a:t>3. Move Logic to Superclass</a:t>
            </a:r>
            <a:endParaRPr lang="en-US" sz="5400" b="1">
              <a:solidFill>
                <a:srgbClr val="16496B"/>
              </a:solidFill>
              <a:effectLst>
                <a:outerShdw blurRad="38100" dist="38100" dir="2700000" algn="tl">
                  <a:srgbClr val="000000">
                    <a:alpha val="43137"/>
                  </a:srgbClr>
                </a:outerShdw>
              </a:effectLst>
              <a:ea typeface="造字工房形黑体 粗体" charset="-122"/>
            </a:endParaRPr>
          </a:p>
        </p:txBody>
      </p:sp>
      <p:sp>
        <p:nvSpPr>
          <p:cNvPr id="34" name="文本框 33"/>
          <p:cNvSpPr txBox="1"/>
          <p:nvPr>
            <p:custDataLst>
              <p:tags r:id="rId6"/>
            </p:custDataLst>
          </p:nvPr>
        </p:nvSpPr>
        <p:spPr>
          <a:xfrm>
            <a:off x="1524000" y="1638300"/>
            <a:ext cx="10320020" cy="3046095"/>
          </a:xfrm>
          <a:prstGeom prst="rect">
            <a:avLst/>
          </a:prstGeom>
        </p:spPr>
        <p:txBody>
          <a:bodyPr wrap="square">
            <a:spAutoFit/>
          </a:bodyPr>
          <a:p>
            <a:pPr marL="457200" indent="-457200" fontAlgn="auto">
              <a:lnSpc>
                <a:spcPct val="150000"/>
              </a:lnSpc>
              <a:buFont typeface="Arial" panose="020B0604020202020204" pitchFamily="34" charset="0"/>
              <a:buChar char="•"/>
            </a:pPr>
            <a:r>
              <a:rPr lang="en-US" altLang="zh-CN" sz="3200" b="1"/>
              <a:t>Superclass</a:t>
            </a:r>
            <a:r>
              <a:rPr lang="en-US" altLang="zh-CN" sz="3200"/>
              <a:t> defines an </a:t>
            </a:r>
            <a:r>
              <a:rPr lang="en-US" altLang="zh-CN" sz="3200" b="1"/>
              <a:t>ab</a:t>
            </a:r>
            <a:r>
              <a:rPr lang="en-US" altLang="zh-CN" sz="3200" b="1"/>
              <a:t>stract method</a:t>
            </a:r>
            <a:r>
              <a:rPr lang="en-US" altLang="zh-CN" sz="3200"/>
              <a:t>, with specific behavior in subclasses.</a:t>
            </a:r>
            <a:endParaRPr lang="en-US" altLang="zh-CN" sz="3200"/>
          </a:p>
          <a:p>
            <a:pPr marL="457200" indent="-457200" fontAlgn="auto">
              <a:lnSpc>
                <a:spcPct val="150000"/>
              </a:lnSpc>
              <a:buFont typeface="Arial" panose="020B0604020202020204" pitchFamily="34" charset="0"/>
              <a:buChar char="•"/>
            </a:pPr>
            <a:r>
              <a:rPr lang="en-US" altLang="zh-CN" sz="3200" b="1"/>
              <a:t>Purpose: Reduce complexity</a:t>
            </a:r>
            <a:r>
              <a:rPr lang="en-US" altLang="zh-CN" sz="3200"/>
              <a:t>, define a general framework, and delegate specific behavior to subclasses.</a:t>
            </a:r>
            <a:endParaRPr lang="en-US" altLang="zh-CN" sz="3200"/>
          </a:p>
        </p:txBody>
      </p:sp>
      <p:sp>
        <p:nvSpPr>
          <p:cNvPr id="35" name="TextBox 25"/>
          <p:cNvSpPr txBox="1"/>
          <p:nvPr>
            <p:custDataLst>
              <p:tags r:id="rId7"/>
            </p:custDataLst>
          </p:nvPr>
        </p:nvSpPr>
        <p:spPr>
          <a:xfrm>
            <a:off x="4191000" y="5524500"/>
            <a:ext cx="9473565" cy="502920"/>
          </a:xfrm>
          <a:prstGeom prst="rect">
            <a:avLst/>
          </a:prstGeom>
        </p:spPr>
        <p:txBody>
          <a:bodyPr lIns="0" tIns="0" rIns="0" bIns="0" rtlCol="0" anchor="t">
            <a:noAutofit/>
          </a:bodyPr>
          <a:p>
            <a:pPr algn="ctr">
              <a:lnSpc>
                <a:spcPts val="4060"/>
              </a:lnSpc>
            </a:pPr>
            <a:r>
              <a:rPr lang="en-US" sz="5400" b="1">
                <a:solidFill>
                  <a:srgbClr val="16496B"/>
                </a:solidFill>
                <a:effectLst>
                  <a:outerShdw blurRad="38100" dist="38100" dir="2700000" algn="tl">
                    <a:srgbClr val="000000">
                      <a:alpha val="43137"/>
                    </a:srgbClr>
                  </a:outerShdw>
                </a:effectLst>
                <a:ea typeface="造字工房形黑体 粗体" charset="-122"/>
              </a:rPr>
              <a:t>4. Implement Logic in Subclasses</a:t>
            </a:r>
            <a:endParaRPr lang="en-US" sz="5400" b="1">
              <a:solidFill>
                <a:srgbClr val="16496B"/>
              </a:solidFill>
              <a:effectLst>
                <a:outerShdw blurRad="38100" dist="38100" dir="2700000" algn="tl">
                  <a:srgbClr val="000000">
                    <a:alpha val="43137"/>
                  </a:srgbClr>
                </a:outerShdw>
              </a:effectLst>
              <a:ea typeface="造字工房形黑体 粗体" charset="-122"/>
            </a:endParaRPr>
          </a:p>
        </p:txBody>
      </p:sp>
      <p:sp>
        <p:nvSpPr>
          <p:cNvPr id="40" name="文本框 39"/>
          <p:cNvSpPr txBox="1"/>
          <p:nvPr>
            <p:custDataLst>
              <p:tags r:id="rId8"/>
            </p:custDataLst>
          </p:nvPr>
        </p:nvSpPr>
        <p:spPr>
          <a:xfrm>
            <a:off x="1676400" y="6591300"/>
            <a:ext cx="10320020" cy="3046095"/>
          </a:xfrm>
          <a:prstGeom prst="rect">
            <a:avLst/>
          </a:prstGeom>
        </p:spPr>
        <p:txBody>
          <a:bodyPr wrap="square">
            <a:spAutoFit/>
          </a:bodyPr>
          <a:p>
            <a:pPr marL="457200" indent="-457200" fontAlgn="auto">
              <a:lnSpc>
                <a:spcPct val="150000"/>
              </a:lnSpc>
              <a:buFont typeface="Arial" panose="020B0604020202020204" pitchFamily="34" charset="0"/>
              <a:buChar char="•"/>
            </a:pPr>
            <a:r>
              <a:rPr lang="en-US" altLang="zh-CN" sz="3200"/>
              <a:t>Subclasses implement the </a:t>
            </a:r>
            <a:r>
              <a:rPr lang="en-US" altLang="zh-CN" sz="3200" b="1"/>
              <a:t>abstract method</a:t>
            </a:r>
            <a:r>
              <a:rPr lang="en-US" altLang="zh-CN" sz="3200"/>
              <a:t> and handle specific conditional logic.</a:t>
            </a:r>
            <a:endParaRPr lang="en-US" altLang="zh-CN" sz="3200"/>
          </a:p>
          <a:p>
            <a:pPr marL="457200" indent="-457200" fontAlgn="auto">
              <a:lnSpc>
                <a:spcPct val="150000"/>
              </a:lnSpc>
              <a:buFont typeface="Arial" panose="020B0604020202020204" pitchFamily="34" charset="0"/>
              <a:buChar char="•"/>
            </a:pPr>
            <a:r>
              <a:rPr lang="en-US" altLang="zh-CN" sz="3200" b="1"/>
              <a:t>Purpose: </a:t>
            </a:r>
            <a:r>
              <a:rPr lang="en-US" altLang="zh-CN" sz="3200"/>
              <a:t>Use </a:t>
            </a:r>
            <a:r>
              <a:rPr lang="en-US" altLang="zh-CN" sz="3200" b="1"/>
              <a:t>polymorphism</a:t>
            </a:r>
            <a:r>
              <a:rPr lang="en-US" altLang="zh-CN" sz="3200"/>
              <a:t> to avoid code repetition, ensuring each subclass handles its own logic.</a:t>
            </a:r>
            <a:endParaRPr lang="en-US" altLang="zh-CN" sz="3200"/>
          </a:p>
        </p:txBody>
      </p:sp>
      <p:pic>
        <p:nvPicPr>
          <p:cNvPr id="7" name="图片 7"/>
          <p:cNvPicPr>
            <a:picLocks noChangeAspect="1"/>
          </p:cNvPicPr>
          <p:nvPr/>
        </p:nvPicPr>
        <p:blipFill>
          <a:blip r:embed="rId9"/>
          <a:stretch>
            <a:fillRect/>
          </a:stretch>
        </p:blipFill>
        <p:spPr>
          <a:xfrm>
            <a:off x="12268200" y="1157605"/>
            <a:ext cx="5297170" cy="3671570"/>
          </a:xfrm>
          <a:prstGeom prst="rect">
            <a:avLst/>
          </a:prstGeom>
          <a:noFill/>
          <a:ln>
            <a:noFill/>
          </a:ln>
        </p:spPr>
      </p:pic>
      <p:pic>
        <p:nvPicPr>
          <p:cNvPr id="8" name="图片 8"/>
          <p:cNvPicPr>
            <a:picLocks noChangeAspect="1"/>
          </p:cNvPicPr>
          <p:nvPr/>
        </p:nvPicPr>
        <p:blipFill>
          <a:blip r:embed="rId10"/>
          <a:stretch>
            <a:fillRect/>
          </a:stretch>
        </p:blipFill>
        <p:spPr>
          <a:xfrm>
            <a:off x="12268200" y="6515100"/>
            <a:ext cx="5716905" cy="32232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sp>
        <p:nvSpPr>
          <p:cNvPr id="33" name="TextBox 25"/>
          <p:cNvSpPr txBox="1"/>
          <p:nvPr>
            <p:custDataLst>
              <p:tags r:id="rId5"/>
            </p:custDataLst>
          </p:nvPr>
        </p:nvSpPr>
        <p:spPr>
          <a:xfrm>
            <a:off x="2895600" y="454660"/>
            <a:ext cx="12357100" cy="1671320"/>
          </a:xfrm>
          <a:prstGeom prst="rect">
            <a:avLst/>
          </a:prstGeom>
        </p:spPr>
        <p:txBody>
          <a:bodyPr lIns="0" tIns="0" rIns="0" bIns="0" rtlCol="0" anchor="t">
            <a:noAutofit/>
          </a:bodyPr>
          <a:p>
            <a:pPr indent="0" algn="ctr" fontAlgn="auto">
              <a:lnSpc>
                <a:spcPct val="100000"/>
              </a:lnSpc>
            </a:pPr>
            <a:r>
              <a:rPr lang="en-US" sz="5400" b="1">
                <a:solidFill>
                  <a:srgbClr val="16496B"/>
                </a:solidFill>
                <a:effectLst>
                  <a:outerShdw blurRad="38100" dist="38100" dir="2700000" algn="tl">
                    <a:srgbClr val="000000">
                      <a:alpha val="43137"/>
                    </a:srgbClr>
                  </a:outerShdw>
                </a:effectLst>
                <a:ea typeface="造字工房形黑体 粗体" charset="-122"/>
              </a:rPr>
              <a:t>5.Remove Conditional Logic, Keep Default Behavior or Declare Abstract Methods</a:t>
            </a:r>
            <a:endParaRPr lang="en-US" sz="5400" b="1">
              <a:solidFill>
                <a:srgbClr val="16496B"/>
              </a:solidFill>
              <a:effectLst>
                <a:outerShdw blurRad="38100" dist="38100" dir="2700000" algn="tl">
                  <a:srgbClr val="000000">
                    <a:alpha val="43137"/>
                  </a:srgbClr>
                </a:outerShdw>
              </a:effectLst>
              <a:ea typeface="造字工房形黑体 粗体" charset="-122"/>
            </a:endParaRPr>
          </a:p>
        </p:txBody>
      </p:sp>
      <p:sp>
        <p:nvSpPr>
          <p:cNvPr id="34" name="文本框 33"/>
          <p:cNvSpPr txBox="1"/>
          <p:nvPr>
            <p:custDataLst>
              <p:tags r:id="rId6"/>
            </p:custDataLst>
          </p:nvPr>
        </p:nvSpPr>
        <p:spPr>
          <a:xfrm>
            <a:off x="1066800" y="2857500"/>
            <a:ext cx="8548370" cy="6000750"/>
          </a:xfrm>
          <a:prstGeom prst="rect">
            <a:avLst/>
          </a:prstGeom>
        </p:spPr>
        <p:txBody>
          <a:bodyPr wrap="square">
            <a:spAutoFit/>
          </a:bodyPr>
          <a:p>
            <a:pPr marL="457200" indent="-457200" fontAlgn="auto">
              <a:lnSpc>
                <a:spcPct val="150000"/>
              </a:lnSpc>
              <a:buFont typeface="Arial" panose="020B0604020202020204" pitchFamily="34" charset="0"/>
              <a:buChar char="•"/>
            </a:pPr>
            <a:r>
              <a:rPr lang="en-US" altLang="zh-CN" sz="3200"/>
              <a:t>After all conditions are handled by subclasses, remove the conditional logic in the superclass. Retain default behavior or declare abstract methods, forcing subclasses to implement necessary behavior.</a:t>
            </a:r>
            <a:endParaRPr lang="en-US" altLang="zh-CN" sz="3200"/>
          </a:p>
          <a:p>
            <a:pPr marL="457200" indent="-457200" fontAlgn="auto">
              <a:lnSpc>
                <a:spcPct val="150000"/>
              </a:lnSpc>
              <a:buFont typeface="Arial" panose="020B0604020202020204" pitchFamily="34" charset="0"/>
              <a:buChar char="•"/>
            </a:pPr>
            <a:r>
              <a:rPr lang="en-US" altLang="zh-CN" sz="3200" b="1"/>
              <a:t>Purpose: </a:t>
            </a:r>
            <a:r>
              <a:rPr lang="en-US" altLang="zh-CN" sz="3200"/>
              <a:t>Simplify superclass code, </a:t>
            </a:r>
            <a:r>
              <a:rPr lang="en-US" altLang="zh-CN" sz="3200" b="1"/>
              <a:t>clarify responsibilities</a:t>
            </a:r>
            <a:r>
              <a:rPr lang="en-US" altLang="zh-CN" sz="3200"/>
              <a:t>, and allow for easy future extension.</a:t>
            </a:r>
            <a:endParaRPr lang="en-US" altLang="zh-CN" sz="3200"/>
          </a:p>
        </p:txBody>
      </p:sp>
      <p:pic>
        <p:nvPicPr>
          <p:cNvPr id="9" name="图片 9"/>
          <p:cNvPicPr>
            <a:picLocks noChangeAspect="1"/>
          </p:cNvPicPr>
          <p:nvPr/>
        </p:nvPicPr>
        <p:blipFill>
          <a:blip r:embed="rId7"/>
          <a:stretch>
            <a:fillRect/>
          </a:stretch>
        </p:blipFill>
        <p:spPr>
          <a:xfrm>
            <a:off x="9982200" y="3848100"/>
            <a:ext cx="8023860" cy="336105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001382" y="5443144"/>
            <a:ext cx="10002764" cy="8401899"/>
            <a:chOff x="0" y="0"/>
            <a:chExt cx="13337018" cy="11202532"/>
          </a:xfrm>
        </p:grpSpPr>
        <p:pic>
          <p:nvPicPr>
            <p:cNvPr id="3"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293809">
              <a:off x="5750738" y="3129354"/>
              <a:ext cx="3782026" cy="4943825"/>
            </a:xfrm>
            <a:prstGeom prst="rect">
              <a:avLst/>
            </a:prstGeom>
          </p:spPr>
        </p:pic>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838581">
              <a:off x="668932" y="2645111"/>
              <a:ext cx="11999154" cy="5912311"/>
            </a:xfrm>
            <a:prstGeom prst="rect">
              <a:avLst/>
            </a:prstGeom>
          </p:spPr>
        </p:pic>
      </p:grpSp>
      <p:grpSp>
        <p:nvGrpSpPr>
          <p:cNvPr id="5" name="Group 5"/>
          <p:cNvGrpSpPr/>
          <p:nvPr/>
        </p:nvGrpSpPr>
        <p:grpSpPr>
          <a:xfrm rot="6646896">
            <a:off x="14013497" y="-3181377"/>
            <a:ext cx="6877785" cy="7307014"/>
            <a:chOff x="0" y="0"/>
            <a:chExt cx="9170380" cy="9742685"/>
          </a:xfrm>
        </p:grpSpPr>
        <p:pic>
          <p:nvPicPr>
            <p:cNvPr id="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10020101" flipV="1">
              <a:off x="1453372" y="609703"/>
              <a:ext cx="6263636" cy="7392704"/>
            </a:xfrm>
            <a:prstGeom prst="rect">
              <a:avLst/>
            </a:prstGeom>
          </p:spPr>
        </p:pic>
        <p:pic>
          <p:nvPicPr>
            <p:cNvPr id="7" name="Picture 7"/>
            <p:cNvPicPr>
              <a:picLocks noChangeAspect="1"/>
            </p:cNvPicPr>
            <p:nvPr/>
          </p:nvPicPr>
          <p:blipFill>
            <a:blip r:embed="rId2">
              <a:extLst>
                <a:ext uri="{28A0092B-C50C-407E-A947-70E740481C1C}">
                  <a14:useLocalDpi xmlns:a14="http://schemas.microsoft.com/office/drawing/2010/main" val="0"/>
                </a:ext>
              </a:extLst>
            </a:blip>
            <a:srcRect l="38708"/>
            <a:stretch>
              <a:fillRect/>
            </a:stretch>
          </p:blipFill>
          <p:spPr>
            <a:xfrm rot="7654232">
              <a:off x="907983" y="2069484"/>
              <a:ext cx="7354414" cy="5912311"/>
            </a:xfrm>
            <a:prstGeom prst="rect">
              <a:avLst/>
            </a:prstGeom>
          </p:spPr>
        </p:pic>
      </p:grpSp>
      <p:grpSp>
        <p:nvGrpSpPr>
          <p:cNvPr id="8" name="Group 8"/>
          <p:cNvGrpSpPr/>
          <p:nvPr/>
        </p:nvGrpSpPr>
        <p:grpSpPr>
          <a:xfrm rot="-4937986">
            <a:off x="-1726090" y="-1748908"/>
            <a:ext cx="6005388" cy="6286112"/>
            <a:chOff x="0" y="0"/>
            <a:chExt cx="8007184" cy="8381483"/>
          </a:xfrm>
        </p:grpSpPr>
        <p:pic>
          <p:nvPicPr>
            <p:cNvPr id="9" name="Picture 9"/>
            <p:cNvPicPr>
              <a:picLocks noChangeAspect="1"/>
            </p:cNvPicPr>
            <p:nvPr/>
          </p:nvPicPr>
          <p:blipFill>
            <a:blip r:embed="rId4">
              <a:alphaModFix amt="71000"/>
              <a:extLst>
                <a:ext uri="{28A0092B-C50C-407E-A947-70E740481C1C}">
                  <a14:useLocalDpi xmlns:a14="http://schemas.microsoft.com/office/drawing/2010/main" val="0"/>
                </a:ext>
              </a:extLst>
            </a:blip>
            <a:srcRect/>
            <a:stretch>
              <a:fillRect/>
            </a:stretch>
          </p:blipFill>
          <p:spPr>
            <a:xfrm rot="4068957">
              <a:off x="932313" y="1306613"/>
              <a:ext cx="6142557" cy="6142557"/>
            </a:xfrm>
            <a:prstGeom prst="rect">
              <a:avLst/>
            </a:prstGeom>
          </p:spPr>
        </p:pic>
        <p:pic>
          <p:nvPicPr>
            <p:cNvPr id="10" name="Picture 10"/>
            <p:cNvPicPr>
              <a:picLocks noChangeAspect="1"/>
            </p:cNvPicPr>
            <p:nvPr/>
          </p:nvPicPr>
          <p:blipFill>
            <a:blip r:embed="rId5">
              <a:alphaModFix amt="80000"/>
              <a:extLst>
                <a:ext uri="{28A0092B-C50C-407E-A947-70E740481C1C}">
                  <a14:useLocalDpi xmlns:a14="http://schemas.microsoft.com/office/drawing/2010/main" val="0"/>
                </a:ext>
              </a:extLst>
            </a:blip>
            <a:srcRect/>
            <a:stretch>
              <a:fillRect/>
            </a:stretch>
          </p:blipFill>
          <p:spPr>
            <a:xfrm rot="-804865">
              <a:off x="3113361" y="435226"/>
              <a:ext cx="4356786" cy="5142130"/>
            </a:xfrm>
            <a:prstGeom prst="rect">
              <a:avLst/>
            </a:prstGeom>
          </p:spPr>
        </p:pic>
      </p:grpSp>
      <p:grpSp>
        <p:nvGrpSpPr>
          <p:cNvPr id="11" name="Group 11"/>
          <p:cNvGrpSpPr/>
          <p:nvPr/>
        </p:nvGrpSpPr>
        <p:grpSpPr>
          <a:xfrm rot="0">
            <a:off x="13739375" y="6499562"/>
            <a:ext cx="5424934" cy="4641848"/>
            <a:chOff x="0" y="0"/>
            <a:chExt cx="7233245" cy="6189131"/>
          </a:xfrm>
        </p:grpSpPr>
        <p:pic>
          <p:nvPicPr>
            <p:cNvPr id="12" name="Picture 1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0" y="0"/>
              <a:ext cx="6190578" cy="5486400"/>
            </a:xfrm>
            <a:prstGeom prst="rect">
              <a:avLst/>
            </a:prstGeom>
          </p:spPr>
        </p:pic>
        <p:pic>
          <p:nvPicPr>
            <p:cNvPr id="13" name="Picture 1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rot="2336840">
              <a:off x="4054922" y="2579198"/>
              <a:ext cx="2445399" cy="3196600"/>
            </a:xfrm>
            <a:prstGeom prst="rect">
              <a:avLst/>
            </a:prstGeom>
          </p:spPr>
        </p:pic>
      </p:grpSp>
      <p:sp>
        <p:nvSpPr>
          <p:cNvPr id="14" name="TextBox 14"/>
          <p:cNvSpPr txBox="1"/>
          <p:nvPr/>
        </p:nvSpPr>
        <p:spPr>
          <a:xfrm>
            <a:off x="1961515" y="4000500"/>
            <a:ext cx="14987270" cy="3768090"/>
          </a:xfrm>
          <a:prstGeom prst="rect">
            <a:avLst/>
          </a:prstGeom>
        </p:spPr>
        <p:txBody>
          <a:bodyPr lIns="0" tIns="0" rIns="0" bIns="0" rtlCol="0" anchor="t">
            <a:noAutofit/>
          </a:bodyPr>
          <a:lstStyle/>
          <a:p>
            <a:pPr indent="0" algn="ctr" fontAlgn="auto">
              <a:lnSpc>
                <a:spcPct val="100000"/>
              </a:lnSpc>
              <a:spcBef>
                <a:spcPct val="0"/>
              </a:spcBef>
            </a:pPr>
            <a:r>
              <a:rPr lang="en-US" sz="7200" b="1" spc="217">
                <a:solidFill>
                  <a:srgbClr val="16496B"/>
                </a:solidFill>
                <a:latin typeface="+mj-lt"/>
                <a:cs typeface="+mj-lt"/>
              </a:rPr>
              <a:t>A concrete example of implementing the refactoring technique</a:t>
            </a:r>
            <a:endParaRPr lang="en-US" altLang="zh-CN" sz="7200" b="1" spc="217">
              <a:solidFill>
                <a:srgbClr val="16496B"/>
              </a:solidFill>
              <a:latin typeface="+mj-lt"/>
              <a:cs typeface="+mj-lt"/>
            </a:endParaRPr>
          </a:p>
        </p:txBody>
      </p:sp>
      <p:sp>
        <p:nvSpPr>
          <p:cNvPr id="16" name="TextBox 16"/>
          <p:cNvSpPr txBox="1"/>
          <p:nvPr/>
        </p:nvSpPr>
        <p:spPr>
          <a:xfrm>
            <a:off x="7086378" y="2655455"/>
            <a:ext cx="3615701" cy="989330"/>
          </a:xfrm>
          <a:prstGeom prst="rect">
            <a:avLst/>
          </a:prstGeom>
        </p:spPr>
        <p:txBody>
          <a:bodyPr lIns="0" tIns="0" rIns="0" bIns="0" rtlCol="0" anchor="t">
            <a:spAutoFit/>
          </a:bodyPr>
          <a:lstStyle/>
          <a:p>
            <a:pPr algn="ctr">
              <a:lnSpc>
                <a:spcPts val="7715"/>
              </a:lnSpc>
            </a:pPr>
            <a:r>
              <a:rPr lang="en-US" sz="7200" spc="217">
                <a:solidFill>
                  <a:srgbClr val="16496B"/>
                </a:solidFill>
                <a:latin typeface="+mj-lt"/>
                <a:cs typeface="+mj-lt"/>
              </a:rPr>
              <a:t>PART</a:t>
            </a:r>
            <a:endParaRPr lang="en-US" sz="7200" spc="217">
              <a:solidFill>
                <a:srgbClr val="16496B"/>
              </a:solidFill>
              <a:latin typeface="+mj-lt"/>
              <a:cs typeface="+mj-lt"/>
            </a:endParaRPr>
          </a:p>
        </p:txBody>
      </p:sp>
      <p:grpSp>
        <p:nvGrpSpPr>
          <p:cNvPr id="17" name="Group 17"/>
          <p:cNvGrpSpPr/>
          <p:nvPr/>
        </p:nvGrpSpPr>
        <p:grpSpPr>
          <a:xfrm rot="0">
            <a:off x="10202536" y="2598940"/>
            <a:ext cx="999086" cy="999086"/>
            <a:chOff x="0" y="0"/>
            <a:chExt cx="812800" cy="812800"/>
          </a:xfrm>
        </p:grpSpPr>
        <p:sp>
          <p:nvSpPr>
            <p:cNvPr id="18" name="Freeform 18"/>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660"/>
                </a:lnSpc>
                <a:spcBef>
                  <a:spcPct val="0"/>
                </a:spcBef>
              </a:pPr>
            </a:p>
          </p:txBody>
        </p:sp>
      </p:grpSp>
      <p:sp>
        <p:nvSpPr>
          <p:cNvPr id="20" name="TextBox 20"/>
          <p:cNvSpPr txBox="1"/>
          <p:nvPr/>
        </p:nvSpPr>
        <p:spPr>
          <a:xfrm>
            <a:off x="10202536" y="2480944"/>
            <a:ext cx="999086" cy="1166495"/>
          </a:xfrm>
          <a:prstGeom prst="rect">
            <a:avLst/>
          </a:prstGeom>
        </p:spPr>
        <p:txBody>
          <a:bodyPr lIns="0" tIns="0" rIns="0" bIns="0" rtlCol="0" anchor="t">
            <a:spAutoFit/>
          </a:bodyPr>
          <a:lstStyle/>
          <a:p>
            <a:pPr algn="ctr">
              <a:lnSpc>
                <a:spcPts val="9100"/>
              </a:lnSpc>
            </a:pPr>
            <a:r>
              <a:rPr lang="en-US" sz="6500">
                <a:solidFill>
                  <a:srgbClr val="FFFFFF"/>
                </a:solidFill>
                <a:latin typeface="Arial Rounded MT Bold" panose="020F0704030504030204" charset="0"/>
              </a:rPr>
              <a:t>4</a:t>
            </a:r>
            <a:endParaRPr lang="en-US" sz="6500">
              <a:solidFill>
                <a:srgbClr val="FFFFFF"/>
              </a:solidFill>
              <a:latin typeface="Arial Rounded MT Bold" panose="020F0704030504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sp>
        <p:nvSpPr>
          <p:cNvPr id="26" name="TextBox 14"/>
          <p:cNvSpPr txBox="1"/>
          <p:nvPr/>
        </p:nvSpPr>
        <p:spPr>
          <a:xfrm>
            <a:off x="4038600" y="266700"/>
            <a:ext cx="13386435" cy="1577340"/>
          </a:xfrm>
          <a:prstGeom prst="rect">
            <a:avLst/>
          </a:prstGeom>
        </p:spPr>
        <p:txBody>
          <a:bodyPr lIns="0" tIns="0" rIns="0" bIns="0" rtlCol="0" anchor="t">
            <a:noAutofit/>
          </a:bodyPr>
          <a:p>
            <a:pPr indent="0" algn="ctr" fontAlgn="auto">
              <a:lnSpc>
                <a:spcPct val="100000"/>
              </a:lnSpc>
              <a:spcBef>
                <a:spcPct val="0"/>
              </a:spcBef>
            </a:pPr>
            <a:r>
              <a:rPr lang="en-US" sz="4800" b="1" spc="217">
                <a:solidFill>
                  <a:srgbClr val="16496B"/>
                </a:solidFill>
                <a:effectLst/>
                <a:latin typeface="+mj-lt"/>
                <a:cs typeface="+mj-lt"/>
              </a:rPr>
              <a:t>A concrete example of implementing</a:t>
            </a:r>
            <a:endParaRPr lang="en-US" sz="4800" b="1" spc="217">
              <a:solidFill>
                <a:srgbClr val="16496B"/>
              </a:solidFill>
              <a:effectLst/>
              <a:latin typeface="+mj-lt"/>
              <a:cs typeface="+mj-lt"/>
            </a:endParaRPr>
          </a:p>
          <a:p>
            <a:pPr indent="0" algn="ctr" fontAlgn="auto">
              <a:lnSpc>
                <a:spcPct val="100000"/>
              </a:lnSpc>
              <a:spcBef>
                <a:spcPct val="0"/>
              </a:spcBef>
            </a:pPr>
            <a:r>
              <a:rPr lang="en-US" sz="4800" b="1" spc="217">
                <a:solidFill>
                  <a:srgbClr val="16496B"/>
                </a:solidFill>
                <a:effectLst/>
                <a:latin typeface="+mj-lt"/>
                <a:cs typeface="+mj-lt"/>
              </a:rPr>
              <a:t> the refactoring technique</a:t>
            </a:r>
            <a:endParaRPr lang="en-US" altLang="zh-CN" sz="4800" b="1" spc="217">
              <a:solidFill>
                <a:srgbClr val="16496B"/>
              </a:solidFill>
              <a:effectLst/>
              <a:latin typeface="+mj-lt"/>
              <a:cs typeface="+mj-lt"/>
            </a:endParaRPr>
          </a:p>
        </p:txBody>
      </p:sp>
      <p:grpSp>
        <p:nvGrpSpPr>
          <p:cNvPr id="41" name="组合 40"/>
          <p:cNvGrpSpPr/>
          <p:nvPr/>
        </p:nvGrpSpPr>
        <p:grpSpPr>
          <a:xfrm>
            <a:off x="1371600" y="4828540"/>
            <a:ext cx="15603220" cy="4113530"/>
            <a:chOff x="2160" y="7604"/>
            <a:chExt cx="24572" cy="6478"/>
          </a:xfrm>
        </p:grpSpPr>
        <p:grpSp>
          <p:nvGrpSpPr>
            <p:cNvPr id="30" name="组合 29"/>
            <p:cNvGrpSpPr/>
            <p:nvPr/>
          </p:nvGrpSpPr>
          <p:grpSpPr>
            <a:xfrm>
              <a:off x="2160" y="7604"/>
              <a:ext cx="24572" cy="6479"/>
              <a:chOff x="1080" y="8392"/>
              <a:chExt cx="24923" cy="5976"/>
            </a:xfrm>
          </p:grpSpPr>
          <p:sp>
            <p:nvSpPr>
              <p:cNvPr id="28" name="Freeform 11"/>
              <p:cNvSpPr/>
              <p:nvPr/>
            </p:nvSpPr>
            <p:spPr>
              <a:xfrm>
                <a:off x="1080" y="8392"/>
                <a:ext cx="24923" cy="5976"/>
              </a:xfrm>
              <a:custGeom>
                <a:avLst/>
                <a:gdLst/>
                <a:ahLst/>
                <a:cxnLst/>
                <a:rect l="l" t="t" r="r" b="b"/>
                <a:pathLst>
                  <a:path w="4274726" h="763593">
                    <a:moveTo>
                      <a:pt x="0" y="0"/>
                    </a:moveTo>
                    <a:lnTo>
                      <a:pt x="4274726" y="0"/>
                    </a:lnTo>
                    <a:lnTo>
                      <a:pt x="4274726" y="763593"/>
                    </a:lnTo>
                    <a:lnTo>
                      <a:pt x="0" y="763593"/>
                    </a:lnTo>
                    <a:close/>
                  </a:path>
                </a:pathLst>
              </a:custGeom>
              <a:solidFill>
                <a:srgbClr val="000000">
                  <a:alpha val="0"/>
                </a:srgbClr>
              </a:solidFill>
              <a:ln w="38100">
                <a:solidFill>
                  <a:srgbClr val="7495AB"/>
                </a:solidFill>
              </a:ln>
            </p:spPr>
            <p:txBody>
              <a:bodyPr/>
              <a:p>
                <a:endParaRPr lang="zh-CN" altLang="en-US"/>
              </a:p>
            </p:txBody>
          </p:sp>
          <p:sp>
            <p:nvSpPr>
              <p:cNvPr id="24" name="TextBox 24"/>
              <p:cNvSpPr txBox="1"/>
              <p:nvPr/>
            </p:nvSpPr>
            <p:spPr>
              <a:xfrm>
                <a:off x="1800" y="8580"/>
                <a:ext cx="9674" cy="1173"/>
              </a:xfrm>
              <a:prstGeom prst="rect">
                <a:avLst/>
              </a:prstGeom>
            </p:spPr>
            <p:txBody>
              <a:bodyPr lIns="0" tIns="0" rIns="0" bIns="0" rtlCol="0" anchor="t">
                <a:spAutoFit/>
              </a:bodyPr>
              <a:lstStyle/>
              <a:p>
                <a:pPr>
                  <a:lnSpc>
                    <a:spcPts val="6300"/>
                  </a:lnSpc>
                  <a:spcBef>
                    <a:spcPct val="0"/>
                  </a:spcBef>
                </a:pPr>
                <a:r>
                  <a:rPr lang="en-US" sz="4500">
                    <a:solidFill>
                      <a:srgbClr val="16496B"/>
                    </a:solidFill>
                    <a:latin typeface="+mj-lt"/>
                    <a:ea typeface="造字工房尚黑体 粗体" charset="-122"/>
                    <a:cs typeface="+mj-lt"/>
                  </a:rPr>
                  <a:t>Case Analysis</a:t>
                </a:r>
                <a:endParaRPr lang="en-US" sz="4500">
                  <a:solidFill>
                    <a:srgbClr val="16496B"/>
                  </a:solidFill>
                  <a:latin typeface="+mj-lt"/>
                  <a:ea typeface="造字工房尚黑体 粗体" charset="-122"/>
                  <a:cs typeface="+mj-lt"/>
                </a:endParaRPr>
              </a:p>
            </p:txBody>
          </p:sp>
          <p:sp>
            <p:nvSpPr>
              <p:cNvPr id="25" name="TextBox 25"/>
              <p:cNvSpPr txBox="1"/>
              <p:nvPr/>
            </p:nvSpPr>
            <p:spPr>
              <a:xfrm>
                <a:off x="2175" y="9907"/>
                <a:ext cx="15749" cy="3567"/>
              </a:xfrm>
              <a:prstGeom prst="rect">
                <a:avLst/>
              </a:prstGeom>
            </p:spPr>
            <p:txBody>
              <a:bodyPr lIns="0" tIns="0" rIns="0" bIns="0" rtlCol="0" anchor="t">
                <a:noAutofit/>
              </a:bodyPr>
              <a:lstStyle/>
              <a:p>
                <a:pPr marL="0" lvl="0" indent="0" algn="l">
                  <a:lnSpc>
                    <a:spcPct val="100000"/>
                  </a:lnSpc>
                  <a:spcBef>
                    <a:spcPct val="0"/>
                  </a:spcBef>
                </a:pPr>
                <a:r>
                  <a:rPr lang="en-US" altLang="zh-CN" sz="2800" u="none" spc="45">
                    <a:solidFill>
                      <a:srgbClr val="737373"/>
                    </a:solidFill>
                    <a:ea typeface="华康黑体W7宽汉音上1L" panose="020B0700000000000000" charset="-122"/>
                    <a:cs typeface="+mn-lt"/>
                  </a:rPr>
                  <a:t>        There is a </a:t>
                </a:r>
                <a:r>
                  <a:rPr lang="en-US" altLang="zh-CN" sz="2800" b="1" u="none" spc="45">
                    <a:solidFill>
                      <a:srgbClr val="737373"/>
                    </a:solidFill>
                    <a:ea typeface="华康黑体W7宽汉音上1L" panose="020B0700000000000000" charset="-122"/>
                    <a:cs typeface="+mn-lt"/>
                  </a:rPr>
                  <a:t>rating agency</a:t>
                </a:r>
                <a:r>
                  <a:rPr lang="en-US" altLang="zh-CN" sz="2800" u="none" spc="45">
                    <a:solidFill>
                      <a:srgbClr val="737373"/>
                    </a:solidFill>
                    <a:ea typeface="华康黑体W7宽汉音上1L" panose="020B0700000000000000" charset="-122"/>
                    <a:cs typeface="+mn-lt"/>
                  </a:rPr>
                  <a:t> that provides investment </a:t>
                </a:r>
                <a:r>
                  <a:rPr lang="en-US" altLang="zh-CN" sz="2800" b="1" u="none" spc="45">
                    <a:solidFill>
                      <a:srgbClr val="737373"/>
                    </a:solidFill>
                    <a:ea typeface="华康黑体W7宽汉音上1L" panose="020B0700000000000000" charset="-122"/>
                    <a:cs typeface="+mn-lt"/>
                  </a:rPr>
                  <a:t>ratings for ocean-going vessels</a:t>
                </a:r>
                <a:r>
                  <a:rPr lang="en-US" altLang="zh-CN" sz="2800" u="none" spc="45">
                    <a:solidFill>
                      <a:srgbClr val="737373"/>
                    </a:solidFill>
                    <a:ea typeface="华康黑体W7宽汉音上1L" panose="020B0700000000000000" charset="-122"/>
                    <a:cs typeface="+mn-lt"/>
                  </a:rPr>
                  <a:t>. The agency assigns a rating of either "A" or "B," depending on various factors related to risk and profit potential. In </a:t>
                </a:r>
                <a:r>
                  <a:rPr lang="en-US" altLang="zh-CN" sz="2800" b="1" u="none" spc="45">
                    <a:solidFill>
                      <a:srgbClr val="737373"/>
                    </a:solidFill>
                    <a:ea typeface="华康黑体W7宽汉音上1L" panose="020B0700000000000000" charset="-122"/>
                    <a:cs typeface="+mn-lt"/>
                  </a:rPr>
                  <a:t>assessing risk</a:t>
                </a:r>
                <a:r>
                  <a:rPr lang="en-US" altLang="zh-CN" sz="2800" u="none" spc="45">
                    <a:solidFill>
                      <a:srgbClr val="737373"/>
                    </a:solidFill>
                    <a:ea typeface="华康黑体W7宽汉音上1L" panose="020B0700000000000000" charset="-122"/>
                    <a:cs typeface="+mn-lt"/>
                  </a:rPr>
                  <a:t>, the agency considers not only the characteristics of the </a:t>
                </a:r>
                <a:r>
                  <a:rPr lang="en-US" altLang="zh-CN" sz="2800" b="1" u="none" spc="45">
                    <a:solidFill>
                      <a:srgbClr val="737373"/>
                    </a:solidFill>
                    <a:ea typeface="华康黑体W7宽汉音上1L" panose="020B0700000000000000" charset="-122"/>
                    <a:cs typeface="+mn-lt"/>
                  </a:rPr>
                  <a:t>voyage itself </a:t>
                </a:r>
                <a:r>
                  <a:rPr lang="en-US" altLang="zh-CN" sz="2800" u="none" spc="45">
                    <a:solidFill>
                      <a:srgbClr val="737373"/>
                    </a:solidFill>
                    <a:ea typeface="华康黑体W7宽汉音上1L" panose="020B0700000000000000" charset="-122"/>
                    <a:cs typeface="+mn-lt"/>
                  </a:rPr>
                  <a:t>but also the</a:t>
                </a:r>
                <a:r>
                  <a:rPr lang="en-US" altLang="zh-CN" sz="2800" b="1" u="none" spc="45">
                    <a:solidFill>
                      <a:srgbClr val="737373"/>
                    </a:solidFill>
                    <a:ea typeface="华康黑体W7宽汉音上1L" panose="020B0700000000000000" charset="-122"/>
                    <a:cs typeface="+mn-lt"/>
                  </a:rPr>
                  <a:t> captain's past sailing history.</a:t>
                </a:r>
                <a:endParaRPr lang="en-US" altLang="zh-CN" sz="2800" b="1" u="none" spc="45">
                  <a:solidFill>
                    <a:srgbClr val="737373"/>
                  </a:solidFill>
                  <a:ea typeface="华康黑体W7宽汉音上1L" panose="020B0700000000000000" charset="-122"/>
                  <a:cs typeface="+mn-lt"/>
                </a:endParaRPr>
              </a:p>
            </p:txBody>
          </p:sp>
        </p:grpSp>
        <p:pic>
          <p:nvPicPr>
            <p:cNvPr id="32" name="图片 31"/>
            <p:cNvPicPr/>
            <p:nvPr/>
          </p:nvPicPr>
          <p:blipFill>
            <a:blip r:embed="rId5"/>
            <a:srcRect l="11082" t="6603" r="10689" b="11959"/>
            <a:stretch>
              <a:fillRect/>
            </a:stretch>
          </p:blipFill>
          <p:spPr>
            <a:xfrm>
              <a:off x="19560" y="8340"/>
              <a:ext cx="6363" cy="4894"/>
            </a:xfrm>
            <a:prstGeom prst="rect">
              <a:avLst/>
            </a:prstGeom>
          </p:spPr>
        </p:pic>
      </p:grpSp>
      <p:grpSp>
        <p:nvGrpSpPr>
          <p:cNvPr id="34" name="组合 33"/>
          <p:cNvGrpSpPr/>
          <p:nvPr/>
        </p:nvGrpSpPr>
        <p:grpSpPr>
          <a:xfrm>
            <a:off x="2971800" y="2095500"/>
            <a:ext cx="5740400" cy="1831340"/>
            <a:chOff x="4680" y="3660"/>
            <a:chExt cx="9040" cy="2884"/>
          </a:xfrm>
        </p:grpSpPr>
        <p:sp>
          <p:nvSpPr>
            <p:cNvPr id="33" name="圆角矩形 32"/>
            <p:cNvSpPr/>
            <p:nvPr/>
          </p:nvSpPr>
          <p:spPr>
            <a:xfrm>
              <a:off x="4680" y="3660"/>
              <a:ext cx="9040" cy="2884"/>
            </a:xfrm>
            <a:prstGeom prst="roundRect">
              <a:avLst/>
            </a:prstGeom>
            <a:ln w="38100"/>
          </p:spPr>
          <p:style>
            <a:lnRef idx="2">
              <a:schemeClr val="accent6"/>
            </a:lnRef>
            <a:fillRef idx="2">
              <a:schemeClr val="accent6"/>
            </a:fillRef>
            <a:effectRef idx="0">
              <a:srgbClr val="FFFFFF"/>
            </a:effectRef>
            <a:fontRef idx="minor">
              <a:schemeClr val="dk1"/>
            </a:fontRef>
          </p:style>
          <p:txBody>
            <a:bodyPr rtlCol="0" anchor="ctr"/>
            <a:p>
              <a:pPr algn="ctr"/>
              <a:endParaRPr lang="zh-CN" altLang="en-US"/>
            </a:p>
          </p:txBody>
        </p:sp>
        <p:sp>
          <p:nvSpPr>
            <p:cNvPr id="31" name="文本框 30"/>
            <p:cNvSpPr txBox="1"/>
            <p:nvPr/>
          </p:nvSpPr>
          <p:spPr>
            <a:xfrm>
              <a:off x="5760" y="4140"/>
              <a:ext cx="7092" cy="1888"/>
            </a:xfrm>
            <a:prstGeom prst="rect">
              <a:avLst/>
            </a:prstGeom>
            <a:noFill/>
          </p:spPr>
          <p:txBody>
            <a:bodyPr wrap="square" rtlCol="0">
              <a:spAutoFit/>
            </a:bodyPr>
            <a:p>
              <a:r>
                <a:rPr lang="en-US" altLang="zh-CN" sz="3600">
                  <a:solidFill>
                    <a:srgbClr val="FF0000"/>
                  </a:solidFill>
                  <a:latin typeface="+mj-lt"/>
                  <a:cs typeface="+mj-lt"/>
                </a:rPr>
                <a:t>Use polymorphism to handle </a:t>
              </a:r>
              <a:r>
                <a:rPr lang="en-US" altLang="zh-CN" sz="3600" b="1" i="1" u="sng">
                  <a:solidFill>
                    <a:srgbClr val="FF0000"/>
                  </a:solidFill>
                  <a:effectLst>
                    <a:outerShdw blurRad="38100" dist="38100" dir="2700000" algn="tl">
                      <a:srgbClr val="000000">
                        <a:alpha val="43137"/>
                      </a:srgbClr>
                    </a:outerShdw>
                  </a:effectLst>
                  <a:latin typeface="+mj-lt"/>
                  <a:cs typeface="+mj-lt"/>
                </a:rPr>
                <a:t>variant logic</a:t>
              </a:r>
              <a:endParaRPr lang="en-US" altLang="zh-CN" sz="3600" b="1" i="1" u="sng">
                <a:solidFill>
                  <a:srgbClr val="FF0000"/>
                </a:solidFill>
                <a:effectLst>
                  <a:outerShdw blurRad="38100" dist="38100" dir="2700000" algn="tl">
                    <a:srgbClr val="000000">
                      <a:alpha val="43137"/>
                    </a:srgbClr>
                  </a:outerShdw>
                </a:effectLst>
                <a:latin typeface="+mj-lt"/>
                <a:cs typeface="+mj-lt"/>
              </a:endParaRPr>
            </a:p>
          </p:txBody>
        </p:sp>
      </p:grpSp>
      <p:sp>
        <p:nvSpPr>
          <p:cNvPr id="35" name="下箭头 34"/>
          <p:cNvSpPr/>
          <p:nvPr/>
        </p:nvSpPr>
        <p:spPr>
          <a:xfrm>
            <a:off x="5212715" y="4098925"/>
            <a:ext cx="1066800" cy="1447800"/>
          </a:xfrm>
          <a:prstGeom prst="downArrow">
            <a:avLst/>
          </a:prstGeom>
        </p:spPr>
        <p:style>
          <a:lnRef idx="2">
            <a:schemeClr val="accent5"/>
          </a:lnRef>
          <a:fillRef idx="2">
            <a:schemeClr val="accent5"/>
          </a:fillRef>
          <a:effectRef idx="0">
            <a:srgbClr val="FFFFFF"/>
          </a:effectRef>
          <a:fontRef idx="minor">
            <a:schemeClr val="lt1"/>
          </a:fontRef>
        </p:style>
        <p:txBody>
          <a:bodyPr rtlCol="0" anchor="ctr"/>
          <a:p>
            <a:pPr algn="ctr"/>
            <a:endParaRPr lang="zh-CN" altLang="en-US"/>
          </a:p>
        </p:txBody>
      </p:sp>
      <p:grpSp>
        <p:nvGrpSpPr>
          <p:cNvPr id="39" name="组合 38"/>
          <p:cNvGrpSpPr/>
          <p:nvPr/>
        </p:nvGrpSpPr>
        <p:grpSpPr>
          <a:xfrm>
            <a:off x="9284335" y="2701290"/>
            <a:ext cx="5753100" cy="1129030"/>
            <a:chOff x="14621" y="4254"/>
            <a:chExt cx="9060" cy="1778"/>
          </a:xfrm>
        </p:grpSpPr>
        <p:sp>
          <p:nvSpPr>
            <p:cNvPr id="36" name="文本框 35"/>
            <p:cNvSpPr txBox="1"/>
            <p:nvPr/>
          </p:nvSpPr>
          <p:spPr>
            <a:xfrm>
              <a:off x="14760" y="4500"/>
              <a:ext cx="8921" cy="1307"/>
            </a:xfrm>
            <a:prstGeom prst="rect">
              <a:avLst/>
            </a:prstGeom>
          </p:spPr>
          <p:txBody>
            <a:bodyPr wrap="square">
              <a:spAutoFit/>
            </a:bodyPr>
            <a:p>
              <a:pPr>
                <a:lnSpc>
                  <a:spcPct val="100000"/>
                </a:lnSpc>
              </a:pPr>
              <a:r>
                <a:rPr lang="en-US" altLang="zh-CN" sz="2400" spc="45">
                  <a:solidFill>
                    <a:srgbClr val="737373"/>
                  </a:solidFill>
                  <a:ea typeface="华康黑体W7宽汉音上1L" panose="020B0700000000000000" charset="-122"/>
                  <a:cs typeface="+mn-lt"/>
                </a:rPr>
                <a:t>one object is generally similar to another object, but with some differences.</a:t>
              </a:r>
              <a:endParaRPr lang="en-US" altLang="zh-CN" sz="2400" spc="45">
                <a:solidFill>
                  <a:srgbClr val="737373"/>
                </a:solidFill>
                <a:ea typeface="华康黑体W7宽汉音上1L" panose="020B0700000000000000" charset="-122"/>
                <a:cs typeface="+mn-lt"/>
              </a:endParaRPr>
            </a:p>
          </p:txBody>
        </p:sp>
        <p:sp>
          <p:nvSpPr>
            <p:cNvPr id="38" name="折角形 37"/>
            <p:cNvSpPr/>
            <p:nvPr/>
          </p:nvSpPr>
          <p:spPr>
            <a:xfrm>
              <a:off x="14621" y="4254"/>
              <a:ext cx="9060" cy="1779"/>
            </a:xfrm>
            <a:prstGeom prst="foldedCorner">
              <a:avLst>
                <a:gd name="adj" fmla="val 50000"/>
              </a:avLst>
            </a:prstGeom>
          </p:spPr>
          <p:style>
            <a:lnRef idx="3">
              <a:schemeClr val="accent5"/>
            </a:lnRef>
            <a:fillRef idx="0">
              <a:srgbClr val="FFFFFF"/>
            </a:fillRef>
            <a:effectRef idx="0">
              <a:srgbClr val="FFFFFF"/>
            </a:effectRef>
            <a:fontRef idx="minor">
              <a:schemeClr val="tx1"/>
            </a:fontRef>
          </p:style>
          <p:txBody>
            <a:bodyPr rtlCol="0" anchor="ctr"/>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 calcmode="lin" valueType="num">
                                      <p:cBhvr additive="base">
                                        <p:cTn id="17" dur="500" fill="hold"/>
                                        <p:tgtEl>
                                          <p:spTgt spid="41"/>
                                        </p:tgtEl>
                                        <p:attrNameLst>
                                          <p:attrName>ppt_x</p:attrName>
                                        </p:attrNameLst>
                                      </p:cBhvr>
                                      <p:tavLst>
                                        <p:tav tm="0">
                                          <p:val>
                                            <p:strVal val="#ppt_x"/>
                                          </p:val>
                                        </p:tav>
                                        <p:tav tm="100000">
                                          <p:val>
                                            <p:strVal val="#ppt_x"/>
                                          </p:val>
                                        </p:tav>
                                      </p:tavLst>
                                    </p:anim>
                                    <p:anim calcmode="lin" valueType="num">
                                      <p:cBhvr additive="base">
                                        <p:cTn id="1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pic>
        <p:nvPicPr>
          <p:cNvPr id="3" name="Picture 3"/>
          <p:cNvPicPr>
            <a:picLocks noChangeAspect="1"/>
          </p:cNvPicPr>
          <p:nvPr/>
        </p:nvPicPr>
        <p:blipFill>
          <a:blip r:embed="rId2">
            <a:alphaModFix amt="26000"/>
            <a:extLst>
              <a:ext uri="{28A0092B-C50C-407E-A947-70E740481C1C}">
                <a14:useLocalDpi xmlns:a14="http://schemas.microsoft.com/office/drawing/2010/main" val="0"/>
              </a:ext>
            </a:extLst>
          </a:blip>
          <a:srcRect/>
          <a:stretch>
            <a:fillRect/>
          </a:stretch>
        </p:blipFill>
        <p:spPr>
          <a:xfrm rot="812167">
            <a:off x="-2080630" y="5293321"/>
            <a:ext cx="21433519" cy="20576178"/>
          </a:xfrm>
          <a:prstGeom prst="rect">
            <a:avLst/>
          </a:prstGeom>
        </p:spPr>
      </p:pic>
      <p:grpSp>
        <p:nvGrpSpPr>
          <p:cNvPr id="4" name="Group 4"/>
          <p:cNvGrpSpPr/>
          <p:nvPr/>
        </p:nvGrpSpPr>
        <p:grpSpPr>
          <a:xfrm rot="0">
            <a:off x="13634448" y="6377143"/>
            <a:ext cx="9521218" cy="9999086"/>
            <a:chOff x="0" y="0"/>
            <a:chExt cx="12694958" cy="13332115"/>
          </a:xfrm>
        </p:grpSpPr>
        <p:pic>
          <p:nvPicPr>
            <p:cNvPr id="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7"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sp>
        <p:nvSpPr>
          <p:cNvPr id="15" name="Freeform 15"/>
          <p:cNvSpPr/>
          <p:nvPr>
            <p:custDataLst>
              <p:tags r:id="rId5"/>
            </p:custDataLst>
          </p:nvPr>
        </p:nvSpPr>
        <p:spPr>
          <a:xfrm>
            <a:off x="-2540" y="21590"/>
            <a:ext cx="10511790" cy="10276840"/>
          </a:xfrm>
          <a:custGeom>
            <a:avLst/>
            <a:gdLst/>
            <a:ahLst/>
            <a:cxnLst/>
            <a:rect l="l" t="t" r="r" b="b"/>
            <a:pathLst>
              <a:path w="1369513" h="1203281">
                <a:moveTo>
                  <a:pt x="0" y="0"/>
                </a:moveTo>
                <a:lnTo>
                  <a:pt x="1369513" y="0"/>
                </a:lnTo>
                <a:lnTo>
                  <a:pt x="1369513" y="1203281"/>
                </a:lnTo>
                <a:lnTo>
                  <a:pt x="0" y="1203281"/>
                </a:lnTo>
                <a:close/>
              </a:path>
            </a:pathLst>
          </a:custGeom>
          <a:solidFill>
            <a:srgbClr val="BED2DF"/>
          </a:solidFill>
        </p:spPr>
      </p:sp>
      <p:grpSp>
        <p:nvGrpSpPr>
          <p:cNvPr id="41" name="组合 40"/>
          <p:cNvGrpSpPr/>
          <p:nvPr/>
        </p:nvGrpSpPr>
        <p:grpSpPr>
          <a:xfrm>
            <a:off x="1016635" y="342900"/>
            <a:ext cx="8949055" cy="9594850"/>
            <a:chOff x="1601" y="540"/>
            <a:chExt cx="14093" cy="15110"/>
          </a:xfrm>
        </p:grpSpPr>
        <p:pic>
          <p:nvPicPr>
            <p:cNvPr id="24" name="图片 23"/>
            <p:cNvPicPr>
              <a:picLocks noChangeAspect="1"/>
            </p:cNvPicPr>
            <p:nvPr/>
          </p:nvPicPr>
          <p:blipFill>
            <a:blip r:embed="rId6"/>
            <a:srcRect r="11623"/>
            <a:stretch>
              <a:fillRect/>
            </a:stretch>
          </p:blipFill>
          <p:spPr>
            <a:xfrm>
              <a:off x="1601" y="540"/>
              <a:ext cx="11350" cy="15110"/>
            </a:xfrm>
            <a:prstGeom prst="rect">
              <a:avLst/>
            </a:prstGeom>
          </p:spPr>
        </p:pic>
        <p:pic>
          <p:nvPicPr>
            <p:cNvPr id="38" name="图片 37"/>
            <p:cNvPicPr>
              <a:picLocks noChangeAspect="1"/>
            </p:cNvPicPr>
            <p:nvPr/>
          </p:nvPicPr>
          <p:blipFill>
            <a:blip r:embed="rId7"/>
            <a:stretch>
              <a:fillRect/>
            </a:stretch>
          </p:blipFill>
          <p:spPr>
            <a:xfrm>
              <a:off x="12840" y="540"/>
              <a:ext cx="2235" cy="15110"/>
            </a:xfrm>
            <a:prstGeom prst="rect">
              <a:avLst/>
            </a:prstGeom>
          </p:spPr>
        </p:pic>
        <p:sp>
          <p:nvSpPr>
            <p:cNvPr id="34" name="文本框 33"/>
            <p:cNvSpPr txBox="1"/>
            <p:nvPr/>
          </p:nvSpPr>
          <p:spPr>
            <a:xfrm>
              <a:off x="6840" y="3180"/>
              <a:ext cx="5063" cy="628"/>
            </a:xfrm>
            <a:prstGeom prst="rect">
              <a:avLst/>
            </a:prstGeom>
            <a:noFill/>
          </p:spPr>
          <p:txBody>
            <a:bodyPr wrap="square" rtlCol="0">
              <a:spAutoFit/>
            </a:bodyPr>
            <a:p>
              <a:r>
                <a:rPr lang="en-US" altLang="zh-CN" sz="2000" b="1" i="1">
                  <a:solidFill>
                    <a:srgbClr val="00B050"/>
                  </a:solidFill>
                </a:rPr>
                <a:t>calculating the risk scores</a:t>
              </a:r>
              <a:endParaRPr lang="en-US" altLang="zh-CN" sz="2000" b="1" i="1">
                <a:solidFill>
                  <a:srgbClr val="00B050"/>
                </a:solidFill>
              </a:endParaRPr>
            </a:p>
          </p:txBody>
        </p:sp>
        <p:sp>
          <p:nvSpPr>
            <p:cNvPr id="35" name="文本框 34"/>
            <p:cNvSpPr txBox="1"/>
            <p:nvPr/>
          </p:nvSpPr>
          <p:spPr>
            <a:xfrm>
              <a:off x="9493" y="5940"/>
              <a:ext cx="5063" cy="628"/>
            </a:xfrm>
            <a:prstGeom prst="rect">
              <a:avLst/>
            </a:prstGeom>
            <a:noFill/>
          </p:spPr>
          <p:txBody>
            <a:bodyPr wrap="square" rtlCol="0">
              <a:spAutoFit/>
            </a:bodyPr>
            <a:p>
              <a:r>
                <a:rPr lang="en-US" altLang="zh-CN" sz="2000" b="1" i="1">
                  <a:solidFill>
                    <a:srgbClr val="00B050"/>
                  </a:solidFill>
                </a:rPr>
                <a:t>calculating the risk scores</a:t>
              </a:r>
              <a:endParaRPr lang="en-US" altLang="zh-CN" sz="2000" b="1" i="1">
                <a:solidFill>
                  <a:srgbClr val="00B050"/>
                </a:solidFill>
              </a:endParaRPr>
            </a:p>
          </p:txBody>
        </p:sp>
        <p:sp>
          <p:nvSpPr>
            <p:cNvPr id="36" name="文本框 35"/>
            <p:cNvSpPr txBox="1"/>
            <p:nvPr/>
          </p:nvSpPr>
          <p:spPr>
            <a:xfrm>
              <a:off x="9960" y="780"/>
              <a:ext cx="5063" cy="1598"/>
            </a:xfrm>
            <a:prstGeom prst="rect">
              <a:avLst/>
            </a:prstGeom>
            <a:noFill/>
          </p:spPr>
          <p:txBody>
            <a:bodyPr wrap="square" rtlCol="0">
              <a:spAutoFit/>
            </a:bodyPr>
            <a:p>
              <a:r>
                <a:rPr lang="en-US" altLang="zh-CN" sz="2000" b="1" i="1">
                  <a:solidFill>
                    <a:srgbClr val="00B050"/>
                  </a:solidFill>
                </a:rPr>
                <a:t>combines these three scores to provide an overall rating for the voyage</a:t>
              </a:r>
              <a:endParaRPr lang="en-US" altLang="zh-CN" sz="2000" b="1" i="1">
                <a:solidFill>
                  <a:srgbClr val="00B050"/>
                </a:solidFill>
              </a:endParaRPr>
            </a:p>
          </p:txBody>
        </p:sp>
        <p:sp>
          <p:nvSpPr>
            <p:cNvPr id="37" name="文本框 36"/>
            <p:cNvSpPr txBox="1"/>
            <p:nvPr/>
          </p:nvSpPr>
          <p:spPr>
            <a:xfrm>
              <a:off x="9120" y="12660"/>
              <a:ext cx="6574" cy="1888"/>
            </a:xfrm>
            <a:prstGeom prst="rect">
              <a:avLst/>
            </a:prstGeom>
            <a:noFill/>
          </p:spPr>
          <p:txBody>
            <a:bodyPr wrap="square" rtlCol="0">
              <a:spAutoFit/>
            </a:bodyPr>
            <a:p>
              <a:endParaRPr lang="en-US" altLang="zh-CN" sz="3600" b="1">
                <a:solidFill>
                  <a:srgbClr val="FF0000"/>
                </a:solidFill>
                <a:effectLst>
                  <a:outerShdw blurRad="38100" dist="38100" dir="2700000" algn="tl">
                    <a:srgbClr val="000000">
                      <a:alpha val="43137"/>
                    </a:srgbClr>
                  </a:outerShdw>
                </a:effectLst>
              </a:endParaRPr>
            </a:p>
            <a:p>
              <a:r>
                <a:rPr lang="en-US" altLang="zh-CN" sz="3600" b="1">
                  <a:solidFill>
                    <a:srgbClr val="FF0000"/>
                  </a:solidFill>
                  <a:effectLst>
                    <a:outerShdw blurRad="38100" dist="38100" dir="2700000" algn="tl">
                      <a:srgbClr val="000000">
                        <a:alpha val="43137"/>
                      </a:srgbClr>
                    </a:outerShdw>
                  </a:effectLst>
                </a:rPr>
                <a:t>Before Refactoring</a:t>
              </a:r>
              <a:endParaRPr lang="en-US" altLang="zh-CN" sz="3600" b="1">
                <a:solidFill>
                  <a:srgbClr val="FF0000"/>
                </a:solidFill>
                <a:effectLst>
                  <a:outerShdw blurRad="38100" dist="38100" dir="2700000" algn="tl">
                    <a:srgbClr val="000000">
                      <a:alpha val="43137"/>
                    </a:srgbClr>
                  </a:outerShdw>
                </a:effectLst>
              </a:endParaRPr>
            </a:p>
          </p:txBody>
        </p:sp>
        <p:sp>
          <p:nvSpPr>
            <p:cNvPr id="39" name="文本框 38"/>
            <p:cNvSpPr txBox="1"/>
            <p:nvPr/>
          </p:nvSpPr>
          <p:spPr>
            <a:xfrm>
              <a:off x="9813" y="10100"/>
              <a:ext cx="3653" cy="1113"/>
            </a:xfrm>
            <a:prstGeom prst="rect">
              <a:avLst/>
            </a:prstGeom>
            <a:noFill/>
          </p:spPr>
          <p:txBody>
            <a:bodyPr wrap="square" rtlCol="0">
              <a:spAutoFit/>
            </a:bodyPr>
            <a:p>
              <a:r>
                <a:rPr lang="en-US" altLang="zh-CN" sz="2000" b="1" i="1">
                  <a:solidFill>
                    <a:srgbClr val="00B050"/>
                  </a:solidFill>
                </a:rPr>
                <a:t>calculates the profit potential score</a:t>
              </a:r>
              <a:endParaRPr lang="en-US" altLang="zh-CN" sz="2000" b="1" i="1">
                <a:solidFill>
                  <a:srgbClr val="00B050"/>
                </a:solidFill>
              </a:endParaRPr>
            </a:p>
          </p:txBody>
        </p:sp>
      </p:grpSp>
      <p:sp>
        <p:nvSpPr>
          <p:cNvPr id="32" name="右箭头 31"/>
          <p:cNvSpPr/>
          <p:nvPr/>
        </p:nvSpPr>
        <p:spPr>
          <a:xfrm>
            <a:off x="8613775" y="3924300"/>
            <a:ext cx="2511425" cy="1371600"/>
          </a:xfrm>
          <a:prstGeom prst="rightArrow">
            <a:avLst>
              <a:gd name="adj1" fmla="val 50000"/>
              <a:gd name="adj2" fmla="val 59120"/>
            </a:avLst>
          </a:prstGeom>
          <a:solidFill>
            <a:srgbClr val="7495AB"/>
          </a:solidFill>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grpSp>
        <p:nvGrpSpPr>
          <p:cNvPr id="42" name="组合 41"/>
          <p:cNvGrpSpPr/>
          <p:nvPr/>
        </p:nvGrpSpPr>
        <p:grpSpPr>
          <a:xfrm>
            <a:off x="1301750" y="4762500"/>
            <a:ext cx="5146040" cy="2819400"/>
            <a:chOff x="2050" y="7500"/>
            <a:chExt cx="8104" cy="4440"/>
          </a:xfrm>
        </p:grpSpPr>
        <p:sp>
          <p:nvSpPr>
            <p:cNvPr id="28" name="圆角矩形 27"/>
            <p:cNvSpPr/>
            <p:nvPr/>
          </p:nvSpPr>
          <p:spPr>
            <a:xfrm>
              <a:off x="2050" y="7500"/>
              <a:ext cx="8105" cy="480"/>
            </a:xfrm>
            <a:prstGeom prst="roundRect">
              <a:avLst/>
            </a:prstGeom>
            <a:noFill/>
            <a:ln w="127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圆角矩形 29"/>
            <p:cNvSpPr/>
            <p:nvPr/>
          </p:nvSpPr>
          <p:spPr>
            <a:xfrm>
              <a:off x="2050" y="11460"/>
              <a:ext cx="8105" cy="480"/>
            </a:xfrm>
            <a:prstGeom prst="roundRect">
              <a:avLst/>
            </a:prstGeom>
            <a:noFill/>
            <a:ln w="127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48" name="组合 47"/>
          <p:cNvGrpSpPr/>
          <p:nvPr/>
        </p:nvGrpSpPr>
        <p:grpSpPr>
          <a:xfrm>
            <a:off x="11315700" y="1028700"/>
            <a:ext cx="6537960" cy="7947660"/>
            <a:chOff x="17820" y="1620"/>
            <a:chExt cx="10296" cy="12516"/>
          </a:xfrm>
        </p:grpSpPr>
        <p:pic>
          <p:nvPicPr>
            <p:cNvPr id="31" name="图片 30"/>
            <p:cNvPicPr>
              <a:picLocks noChangeAspect="1"/>
            </p:cNvPicPr>
            <p:nvPr/>
          </p:nvPicPr>
          <p:blipFill>
            <a:blip r:embed="rId8"/>
            <a:stretch>
              <a:fillRect/>
            </a:stretch>
          </p:blipFill>
          <p:spPr>
            <a:xfrm>
              <a:off x="17820" y="1620"/>
              <a:ext cx="10278" cy="12516"/>
            </a:xfrm>
            <a:prstGeom prst="rect">
              <a:avLst/>
            </a:prstGeom>
          </p:spPr>
        </p:pic>
        <p:sp>
          <p:nvSpPr>
            <p:cNvPr id="46" name="文本框 45"/>
            <p:cNvSpPr txBox="1"/>
            <p:nvPr/>
          </p:nvSpPr>
          <p:spPr>
            <a:xfrm>
              <a:off x="23880" y="3300"/>
              <a:ext cx="4236" cy="1113"/>
            </a:xfrm>
            <a:prstGeom prst="rect">
              <a:avLst/>
            </a:prstGeom>
            <a:noFill/>
          </p:spPr>
          <p:txBody>
            <a:bodyPr wrap="square" rtlCol="0">
              <a:spAutoFit/>
            </a:bodyPr>
            <a:p>
              <a:r>
                <a:rPr lang="en-US" altLang="zh-CN" sz="2000" b="1" i="1">
                  <a:solidFill>
                    <a:srgbClr val="00B050"/>
                  </a:solidFill>
                  <a:effectLst>
                    <a:outerShdw blurRad="38100" dist="38100" dir="2700000" algn="tl">
                      <a:srgbClr val="000000">
                        <a:alpha val="43137"/>
                      </a:srgbClr>
                    </a:outerShdw>
                  </a:effectLst>
                </a:rPr>
                <a:t>a superclass used to hold basic logic</a:t>
              </a:r>
              <a:endParaRPr lang="en-US" altLang="zh-CN" sz="2000" b="1" i="1">
                <a:solidFill>
                  <a:srgbClr val="00B050"/>
                </a:solidFill>
                <a:effectLst>
                  <a:outerShdw blurRad="38100" dist="38100" dir="2700000" algn="tl">
                    <a:srgbClr val="000000">
                      <a:alpha val="43137"/>
                    </a:srgbClr>
                  </a:outerShdw>
                </a:effectLst>
              </a:endParaRPr>
            </a:p>
          </p:txBody>
        </p:sp>
      </p:grpSp>
      <p:grpSp>
        <p:nvGrpSpPr>
          <p:cNvPr id="43" name="组合 42"/>
          <p:cNvGrpSpPr/>
          <p:nvPr/>
        </p:nvGrpSpPr>
        <p:grpSpPr>
          <a:xfrm>
            <a:off x="7010400" y="5520055"/>
            <a:ext cx="4608830" cy="1358900"/>
            <a:chOff x="11160" y="11573"/>
            <a:chExt cx="7258" cy="2140"/>
          </a:xfrm>
        </p:grpSpPr>
        <p:sp>
          <p:nvSpPr>
            <p:cNvPr id="44" name="圆角矩形 43"/>
            <p:cNvSpPr/>
            <p:nvPr/>
          </p:nvSpPr>
          <p:spPr>
            <a:xfrm>
              <a:off x="11160" y="11573"/>
              <a:ext cx="7258" cy="2140"/>
            </a:xfrm>
            <a:prstGeom prst="roundRect">
              <a:avLst/>
            </a:prstGeom>
            <a:ln w="38100"/>
          </p:spPr>
          <p:style>
            <a:lnRef idx="2">
              <a:schemeClr val="accent6"/>
            </a:lnRef>
            <a:fillRef idx="2">
              <a:schemeClr val="accent6"/>
            </a:fillRef>
            <a:effectRef idx="0">
              <a:srgbClr val="FFFFFF"/>
            </a:effectRef>
            <a:fontRef idx="minor">
              <a:schemeClr val="dk1"/>
            </a:fontRef>
          </p:style>
          <p:txBody>
            <a:bodyPr rtlCol="0" anchor="ctr"/>
            <a:p>
              <a:pPr algn="ctr"/>
              <a:endParaRPr lang="zh-CN" altLang="en-US"/>
            </a:p>
          </p:txBody>
        </p:sp>
        <p:sp>
          <p:nvSpPr>
            <p:cNvPr id="45" name="文本框 44"/>
            <p:cNvSpPr txBox="1"/>
            <p:nvPr/>
          </p:nvSpPr>
          <p:spPr>
            <a:xfrm>
              <a:off x="11760" y="11820"/>
              <a:ext cx="6286" cy="1452"/>
            </a:xfrm>
            <a:prstGeom prst="rect">
              <a:avLst/>
            </a:prstGeom>
            <a:noFill/>
          </p:spPr>
          <p:txBody>
            <a:bodyPr wrap="square" rtlCol="0">
              <a:spAutoFit/>
            </a:bodyPr>
            <a:p>
              <a:r>
                <a:rPr lang="en-US" altLang="zh-CN" i="1">
                  <a:solidFill>
                    <a:srgbClr val="FF0000"/>
                  </a:solidFill>
                  <a:effectLst>
                    <a:outerShdw blurRad="38100" dist="38100" dir="2700000" algn="tl">
                      <a:srgbClr val="000000">
                        <a:alpha val="43137"/>
                      </a:srgbClr>
                    </a:outerShdw>
                  </a:effectLst>
                  <a:latin typeface="+mj-lt"/>
                  <a:cs typeface="+mj-lt"/>
                </a:rPr>
                <a:t>First, polymorphism needs to be introduced by creating a class structure and using </a:t>
              </a:r>
              <a:r>
                <a:rPr lang="en-US" altLang="zh-CN" b="1" i="1">
                  <a:solidFill>
                    <a:srgbClr val="FF0000"/>
                  </a:solidFill>
                  <a:effectLst>
                    <a:outerShdw blurRad="38100" dist="38100" dir="2700000" algn="tl">
                      <a:srgbClr val="000000">
                        <a:alpha val="43137"/>
                      </a:srgbClr>
                    </a:outerShdw>
                  </a:effectLst>
                  <a:latin typeface="+mj-lt"/>
                  <a:cs typeface="+mj-lt"/>
                </a:rPr>
                <a:t>combine functions into class</a:t>
              </a:r>
              <a:r>
                <a:rPr lang="en-US" altLang="zh-CN" b="1" i="1">
                  <a:solidFill>
                    <a:srgbClr val="FF0000"/>
                  </a:solidFill>
                  <a:effectLst>
                    <a:outerShdw blurRad="38100" dist="38100" dir="2700000" algn="tl">
                      <a:srgbClr val="000000">
                        <a:alpha val="43137"/>
                      </a:srgbClr>
                    </a:outerShdw>
                  </a:effectLst>
                  <a:latin typeface="+mj-lt"/>
                  <a:cs typeface="+mj-lt"/>
                </a:rPr>
                <a:t>.</a:t>
              </a:r>
              <a:endParaRPr lang="en-US" altLang="zh-CN" b="1" i="1">
                <a:solidFill>
                  <a:srgbClr val="FF0000"/>
                </a:solidFill>
                <a:effectLst>
                  <a:outerShdw blurRad="38100" dist="38100" dir="2700000" algn="tl">
                    <a:srgbClr val="000000">
                      <a:alpha val="43137"/>
                    </a:srgbClr>
                  </a:outerShdw>
                </a:effectLst>
                <a:latin typeface="+mj-lt"/>
                <a:cs typeface="+mj-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ppt_x"/>
                                          </p:val>
                                        </p:tav>
                                        <p:tav tm="100000">
                                          <p:val>
                                            <p:strVal val="#ppt_x"/>
                                          </p:val>
                                        </p:tav>
                                      </p:tavLst>
                                    </p:anim>
                                    <p:anim calcmode="lin" valueType="num">
                                      <p:cBhvr additive="base">
                                        <p:cTn id="14" dur="500" fill="hold"/>
                                        <p:tgtEl>
                                          <p:spTgt spid="3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additive="base">
                                        <p:cTn id="17" dur="500" fill="hold"/>
                                        <p:tgtEl>
                                          <p:spTgt spid="43"/>
                                        </p:tgtEl>
                                        <p:attrNameLst>
                                          <p:attrName>ppt_x</p:attrName>
                                        </p:attrNameLst>
                                      </p:cBhvr>
                                      <p:tavLst>
                                        <p:tav tm="0">
                                          <p:val>
                                            <p:strVal val="#ppt_x"/>
                                          </p:val>
                                        </p:tav>
                                        <p:tav tm="100000">
                                          <p:val>
                                            <p:strVal val="#ppt_x"/>
                                          </p:val>
                                        </p:tav>
                                      </p:tavLst>
                                    </p:anim>
                                    <p:anim calcmode="lin" valueType="num">
                                      <p:cBhvr additive="base">
                                        <p:cTn id="1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P spid="3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pic>
        <p:nvPicPr>
          <p:cNvPr id="3" name="Picture 3"/>
          <p:cNvPicPr>
            <a:picLocks noChangeAspect="1"/>
          </p:cNvPicPr>
          <p:nvPr/>
        </p:nvPicPr>
        <p:blipFill>
          <a:blip r:embed="rId2">
            <a:alphaModFix amt="26000"/>
            <a:extLst>
              <a:ext uri="{28A0092B-C50C-407E-A947-70E740481C1C}">
                <a14:useLocalDpi xmlns:a14="http://schemas.microsoft.com/office/drawing/2010/main" val="0"/>
              </a:ext>
            </a:extLst>
          </a:blip>
          <a:srcRect/>
          <a:stretch>
            <a:fillRect/>
          </a:stretch>
        </p:blipFill>
        <p:spPr>
          <a:xfrm rot="812167">
            <a:off x="-1961250" y="5293321"/>
            <a:ext cx="21433519" cy="20576178"/>
          </a:xfrm>
          <a:prstGeom prst="rect">
            <a:avLst/>
          </a:prstGeom>
        </p:spPr>
      </p:pic>
      <p:grpSp>
        <p:nvGrpSpPr>
          <p:cNvPr id="4" name="Group 4"/>
          <p:cNvGrpSpPr/>
          <p:nvPr/>
        </p:nvGrpSpPr>
        <p:grpSpPr>
          <a:xfrm rot="0">
            <a:off x="13634448" y="6377143"/>
            <a:ext cx="9521218" cy="9999086"/>
            <a:chOff x="0" y="0"/>
            <a:chExt cx="12694958" cy="13332115"/>
          </a:xfrm>
        </p:grpSpPr>
        <p:pic>
          <p:nvPicPr>
            <p:cNvPr id="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7"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sp>
        <p:nvSpPr>
          <p:cNvPr id="15" name="Freeform 15"/>
          <p:cNvSpPr/>
          <p:nvPr>
            <p:custDataLst>
              <p:tags r:id="rId5"/>
            </p:custDataLst>
          </p:nvPr>
        </p:nvSpPr>
        <p:spPr>
          <a:xfrm>
            <a:off x="-2540" y="20955"/>
            <a:ext cx="11057255" cy="10277475"/>
          </a:xfrm>
          <a:custGeom>
            <a:avLst/>
            <a:gdLst/>
            <a:ahLst/>
            <a:cxnLst/>
            <a:rect l="l" t="t" r="r" b="b"/>
            <a:pathLst>
              <a:path w="1369513" h="1203281">
                <a:moveTo>
                  <a:pt x="0" y="0"/>
                </a:moveTo>
                <a:lnTo>
                  <a:pt x="1369513" y="0"/>
                </a:lnTo>
                <a:lnTo>
                  <a:pt x="1369513" y="1203281"/>
                </a:lnTo>
                <a:lnTo>
                  <a:pt x="0" y="1203281"/>
                </a:lnTo>
                <a:close/>
              </a:path>
            </a:pathLst>
          </a:custGeom>
          <a:solidFill>
            <a:srgbClr val="BED2DF"/>
          </a:solidFill>
        </p:spPr>
      </p:sp>
      <p:pic>
        <p:nvPicPr>
          <p:cNvPr id="9" name="图片 8"/>
          <p:cNvPicPr>
            <a:picLocks noChangeAspect="1"/>
          </p:cNvPicPr>
          <p:nvPr/>
        </p:nvPicPr>
        <p:blipFill>
          <a:blip r:embed="rId6"/>
          <a:stretch>
            <a:fillRect/>
          </a:stretch>
        </p:blipFill>
        <p:spPr>
          <a:xfrm>
            <a:off x="2286000" y="4305300"/>
            <a:ext cx="6924675" cy="5734050"/>
          </a:xfrm>
          <a:prstGeom prst="rect">
            <a:avLst/>
          </a:prstGeom>
        </p:spPr>
      </p:pic>
      <p:grpSp>
        <p:nvGrpSpPr>
          <p:cNvPr id="40" name="组合 39"/>
          <p:cNvGrpSpPr/>
          <p:nvPr/>
        </p:nvGrpSpPr>
        <p:grpSpPr>
          <a:xfrm>
            <a:off x="-457200" y="5981700"/>
            <a:ext cx="2743200" cy="3554730"/>
            <a:chOff x="-720" y="9420"/>
            <a:chExt cx="4320" cy="5598"/>
          </a:xfrm>
        </p:grpSpPr>
        <p:grpSp>
          <p:nvGrpSpPr>
            <p:cNvPr id="16" name="组合 15"/>
            <p:cNvGrpSpPr/>
            <p:nvPr/>
          </p:nvGrpSpPr>
          <p:grpSpPr>
            <a:xfrm>
              <a:off x="126" y="11738"/>
              <a:ext cx="3474" cy="3281"/>
              <a:chOff x="10913" y="11573"/>
              <a:chExt cx="8139" cy="1412"/>
            </a:xfrm>
          </p:grpSpPr>
          <p:sp>
            <p:nvSpPr>
              <p:cNvPr id="17" name="圆角矩形 16"/>
              <p:cNvSpPr/>
              <p:nvPr/>
            </p:nvSpPr>
            <p:spPr>
              <a:xfrm>
                <a:off x="10913" y="11573"/>
                <a:ext cx="8139" cy="1412"/>
              </a:xfrm>
              <a:prstGeom prst="roundRect">
                <a:avLst/>
              </a:prstGeom>
              <a:ln w="38100"/>
            </p:spPr>
            <p:style>
              <a:lnRef idx="2">
                <a:schemeClr val="accent6"/>
              </a:lnRef>
              <a:fillRef idx="2">
                <a:schemeClr val="accent6"/>
              </a:fillRef>
              <a:effectRef idx="0">
                <a:srgbClr val="FFFFFF"/>
              </a:effectRef>
              <a:fontRef idx="minor">
                <a:schemeClr val="dk1"/>
              </a:fontRef>
            </p:style>
            <p:txBody>
              <a:bodyPr rtlCol="0" anchor="ctr"/>
              <a:p>
                <a:pPr algn="ctr"/>
                <a:endParaRPr lang="zh-CN" altLang="en-US"/>
              </a:p>
            </p:txBody>
          </p:sp>
          <p:sp>
            <p:nvSpPr>
              <p:cNvPr id="18" name="文本框 17"/>
              <p:cNvSpPr txBox="1"/>
              <p:nvPr/>
            </p:nvSpPr>
            <p:spPr>
              <a:xfrm>
                <a:off x="11759" y="11700"/>
                <a:ext cx="6863" cy="1188"/>
              </a:xfrm>
              <a:prstGeom prst="rect">
                <a:avLst/>
              </a:prstGeom>
              <a:noFill/>
            </p:spPr>
            <p:txBody>
              <a:bodyPr wrap="square" rtlCol="0">
                <a:spAutoFit/>
              </a:bodyPr>
              <a:p>
                <a:r>
                  <a:rPr lang="en-US" altLang="zh-CN" i="1">
                    <a:solidFill>
                      <a:srgbClr val="FF0000"/>
                    </a:solidFill>
                    <a:effectLst>
                      <a:outerShdw blurRad="38100" dist="38100" dir="2700000" algn="tl">
                        <a:srgbClr val="000000">
                          <a:alpha val="43137"/>
                        </a:srgbClr>
                      </a:outerShdw>
                    </a:effectLst>
                    <a:latin typeface="+mj-lt"/>
                    <a:cs typeface="+mj-lt"/>
                  </a:rPr>
                  <a:t>Transfer the logic from the superclass that needs to be moved to the subclass. </a:t>
                </a:r>
                <a:endParaRPr lang="en-US" altLang="zh-CN" i="1">
                  <a:solidFill>
                    <a:srgbClr val="FF0000"/>
                  </a:solidFill>
                  <a:effectLst>
                    <a:outerShdw blurRad="38100" dist="38100" dir="2700000" algn="tl">
                      <a:srgbClr val="000000">
                        <a:alpha val="43137"/>
                      </a:srgbClr>
                    </a:outerShdw>
                  </a:effectLst>
                  <a:latin typeface="+mj-lt"/>
                  <a:cs typeface="+mj-lt"/>
                </a:endParaRPr>
              </a:p>
            </p:txBody>
          </p:sp>
        </p:grpSp>
        <p:sp>
          <p:nvSpPr>
            <p:cNvPr id="20" name="右箭头 19"/>
            <p:cNvSpPr/>
            <p:nvPr/>
          </p:nvSpPr>
          <p:spPr>
            <a:xfrm>
              <a:off x="-720" y="9420"/>
              <a:ext cx="3955" cy="2160"/>
            </a:xfrm>
            <a:prstGeom prst="rightArrow">
              <a:avLst>
                <a:gd name="adj1" fmla="val 50000"/>
                <a:gd name="adj2" fmla="val 59120"/>
              </a:avLst>
            </a:prstGeom>
            <a:solidFill>
              <a:srgbClr val="7495AB"/>
            </a:solidFill>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26" name="组合 25"/>
          <p:cNvGrpSpPr/>
          <p:nvPr/>
        </p:nvGrpSpPr>
        <p:grpSpPr>
          <a:xfrm>
            <a:off x="2057400" y="190500"/>
            <a:ext cx="8889365" cy="3457575"/>
            <a:chOff x="3240" y="300"/>
            <a:chExt cx="13999" cy="5445"/>
          </a:xfrm>
        </p:grpSpPr>
        <p:pic>
          <p:nvPicPr>
            <p:cNvPr id="8" name="图片 7"/>
            <p:cNvPicPr>
              <a:picLocks noChangeAspect="1"/>
            </p:cNvPicPr>
            <p:nvPr/>
          </p:nvPicPr>
          <p:blipFill>
            <a:blip r:embed="rId7"/>
            <a:stretch>
              <a:fillRect/>
            </a:stretch>
          </p:blipFill>
          <p:spPr>
            <a:xfrm>
              <a:off x="3240" y="420"/>
              <a:ext cx="13193" cy="5325"/>
            </a:xfrm>
            <a:prstGeom prst="rect">
              <a:avLst/>
            </a:prstGeom>
          </p:spPr>
        </p:pic>
        <p:grpSp>
          <p:nvGrpSpPr>
            <p:cNvPr id="25" name="组合 24"/>
            <p:cNvGrpSpPr/>
            <p:nvPr/>
          </p:nvGrpSpPr>
          <p:grpSpPr>
            <a:xfrm>
              <a:off x="11160" y="300"/>
              <a:ext cx="6079" cy="3177"/>
              <a:chOff x="11160" y="300"/>
              <a:chExt cx="6079" cy="3177"/>
            </a:xfrm>
          </p:grpSpPr>
          <p:sp>
            <p:nvSpPr>
              <p:cNvPr id="36" name="文本框 35"/>
              <p:cNvSpPr txBox="1"/>
              <p:nvPr/>
            </p:nvSpPr>
            <p:spPr>
              <a:xfrm>
                <a:off x="11520" y="300"/>
                <a:ext cx="5719" cy="1016"/>
              </a:xfrm>
              <a:prstGeom prst="rect">
                <a:avLst/>
              </a:prstGeom>
              <a:noFill/>
            </p:spPr>
            <p:txBody>
              <a:bodyPr wrap="square" rtlCol="0">
                <a:spAutoFit/>
              </a:bodyPr>
              <a:p>
                <a:r>
                  <a:rPr lang="en-US" altLang="zh-CN" i="1">
                    <a:solidFill>
                      <a:srgbClr val="00B050"/>
                    </a:solidFill>
                    <a:effectLst>
                      <a:outerShdw blurRad="38100" dist="38100" dir="2700000" algn="tl">
                        <a:srgbClr val="000000">
                          <a:alpha val="43137"/>
                        </a:srgbClr>
                      </a:outerShdw>
                    </a:effectLst>
                    <a:latin typeface="+mj-lt"/>
                    <a:cs typeface="+mj-lt"/>
                    <a:sym typeface="+mn-ea"/>
                  </a:rPr>
                  <a:t>an empty subclass to store behaviors that differ from the superclass. </a:t>
                </a:r>
                <a:endParaRPr lang="en-US" altLang="zh-CN" b="1" i="1">
                  <a:solidFill>
                    <a:srgbClr val="00B050"/>
                  </a:solidFill>
                  <a:effectLst>
                    <a:outerShdw blurRad="38100" dist="38100" dir="2700000" algn="tl">
                      <a:srgbClr val="000000">
                        <a:alpha val="43137"/>
                      </a:srgbClr>
                    </a:outerShdw>
                  </a:effectLst>
                  <a:latin typeface="+mj-lt"/>
                  <a:cs typeface="+mj-lt"/>
                  <a:sym typeface="+mn-ea"/>
                </a:endParaRPr>
              </a:p>
            </p:txBody>
          </p:sp>
          <p:sp>
            <p:nvSpPr>
              <p:cNvPr id="22" name="文本框 21"/>
              <p:cNvSpPr txBox="1"/>
              <p:nvPr/>
            </p:nvSpPr>
            <p:spPr>
              <a:xfrm>
                <a:off x="11160" y="2580"/>
                <a:ext cx="5730" cy="897"/>
              </a:xfrm>
              <a:prstGeom prst="rect">
                <a:avLst/>
              </a:prstGeom>
              <a:noFill/>
            </p:spPr>
            <p:txBody>
              <a:bodyPr wrap="square" rtlCol="0">
                <a:spAutoFit/>
              </a:bodyPr>
              <a:p>
                <a:r>
                  <a:rPr lang="en-US" altLang="zh-CN" i="1">
                    <a:solidFill>
                      <a:srgbClr val="00B050"/>
                    </a:solidFill>
                    <a:effectLst>
                      <a:outerShdw blurRad="38100" dist="38100" dir="2700000" algn="tl">
                        <a:srgbClr val="000000">
                          <a:alpha val="43137"/>
                        </a:srgbClr>
                      </a:outerShdw>
                    </a:effectLst>
                    <a:latin typeface="+mj-lt"/>
                    <a:cs typeface="+mj-lt"/>
                    <a:sym typeface="+mn-ea"/>
                  </a:rPr>
                  <a:t>a factory function to replace the original direct constructor calls.</a:t>
                </a:r>
                <a:endParaRPr lang="en-US" altLang="zh-CN" b="1" i="1">
                  <a:solidFill>
                    <a:srgbClr val="00B050"/>
                  </a:solidFill>
                  <a:effectLst>
                    <a:outerShdw blurRad="38100" dist="38100" dir="2700000" algn="tl">
                      <a:srgbClr val="000000">
                        <a:alpha val="43137"/>
                      </a:srgbClr>
                    </a:outerShdw>
                  </a:effectLst>
                  <a:latin typeface="+mj-lt"/>
                  <a:cs typeface="+mj-lt"/>
                  <a:sym typeface="+mn-ea"/>
                </a:endParaRPr>
              </a:p>
            </p:txBody>
          </p:sp>
        </p:grpSp>
      </p:grpSp>
      <p:grpSp>
        <p:nvGrpSpPr>
          <p:cNvPr id="39" name="组合 38"/>
          <p:cNvGrpSpPr/>
          <p:nvPr/>
        </p:nvGrpSpPr>
        <p:grpSpPr>
          <a:xfrm>
            <a:off x="-454025" y="571500"/>
            <a:ext cx="2637155" cy="2983865"/>
            <a:chOff x="-715" y="900"/>
            <a:chExt cx="4153" cy="4699"/>
          </a:xfrm>
        </p:grpSpPr>
        <p:sp>
          <p:nvSpPr>
            <p:cNvPr id="19" name="右箭头 18"/>
            <p:cNvSpPr/>
            <p:nvPr/>
          </p:nvSpPr>
          <p:spPr>
            <a:xfrm>
              <a:off x="-715" y="900"/>
              <a:ext cx="3955" cy="2160"/>
            </a:xfrm>
            <a:prstGeom prst="rightArrow">
              <a:avLst>
                <a:gd name="adj1" fmla="val 50000"/>
                <a:gd name="adj2" fmla="val 59120"/>
              </a:avLst>
            </a:prstGeom>
            <a:solidFill>
              <a:srgbClr val="7495AB"/>
            </a:solidFill>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grpSp>
          <p:nvGrpSpPr>
            <p:cNvPr id="43" name="组合 42"/>
            <p:cNvGrpSpPr/>
            <p:nvPr/>
          </p:nvGrpSpPr>
          <p:grpSpPr>
            <a:xfrm>
              <a:off x="126" y="3175"/>
              <a:ext cx="3313" cy="2425"/>
              <a:chOff x="11160" y="11573"/>
              <a:chExt cx="6434" cy="1437"/>
            </a:xfrm>
          </p:grpSpPr>
          <p:sp>
            <p:nvSpPr>
              <p:cNvPr id="44" name="圆角矩形 43"/>
              <p:cNvSpPr/>
              <p:nvPr/>
            </p:nvSpPr>
            <p:spPr>
              <a:xfrm>
                <a:off x="11160" y="11573"/>
                <a:ext cx="6434" cy="1437"/>
              </a:xfrm>
              <a:prstGeom prst="roundRect">
                <a:avLst/>
              </a:prstGeom>
              <a:ln w="38100"/>
            </p:spPr>
            <p:style>
              <a:lnRef idx="2">
                <a:schemeClr val="accent6"/>
              </a:lnRef>
              <a:fillRef idx="2">
                <a:schemeClr val="accent6"/>
              </a:fillRef>
              <a:effectRef idx="0">
                <a:srgbClr val="FFFFFF"/>
              </a:effectRef>
              <a:fontRef idx="minor">
                <a:schemeClr val="dk1"/>
              </a:fontRef>
            </p:style>
            <p:txBody>
              <a:bodyPr rtlCol="0" anchor="ctr"/>
              <a:p>
                <a:pPr algn="ctr"/>
                <a:endParaRPr lang="zh-CN" altLang="en-US"/>
              </a:p>
            </p:txBody>
          </p:sp>
          <p:sp>
            <p:nvSpPr>
              <p:cNvPr id="45" name="文本框 44"/>
              <p:cNvSpPr txBox="1"/>
              <p:nvPr/>
            </p:nvSpPr>
            <p:spPr>
              <a:xfrm>
                <a:off x="11614" y="11718"/>
                <a:ext cx="5476" cy="1119"/>
              </a:xfrm>
              <a:prstGeom prst="rect">
                <a:avLst/>
              </a:prstGeom>
              <a:noFill/>
            </p:spPr>
            <p:txBody>
              <a:bodyPr wrap="square" rtlCol="0">
                <a:spAutoFit/>
              </a:bodyPr>
              <a:p>
                <a:r>
                  <a:rPr lang="en-US" altLang="zh-CN" i="1">
                    <a:solidFill>
                      <a:srgbClr val="FF0000"/>
                    </a:solidFill>
                    <a:effectLst>
                      <a:outerShdw blurRad="38100" dist="38100" dir="2700000" algn="tl">
                        <a:srgbClr val="000000">
                          <a:alpha val="43137"/>
                        </a:srgbClr>
                      </a:outerShdw>
                    </a:effectLst>
                    <a:latin typeface="+mj-lt"/>
                    <a:cs typeface="+mj-lt"/>
                  </a:rPr>
                  <a:t>Next, create an </a:t>
                </a:r>
                <a:r>
                  <a:rPr lang="en-US" altLang="zh-CN" b="1" i="1">
                    <a:solidFill>
                      <a:srgbClr val="FF0000"/>
                    </a:solidFill>
                    <a:effectLst>
                      <a:outerShdw blurRad="38100" dist="38100" dir="2700000" algn="tl">
                        <a:srgbClr val="000000">
                          <a:alpha val="43137"/>
                        </a:srgbClr>
                      </a:outerShdw>
                    </a:effectLst>
                    <a:latin typeface="+mj-lt"/>
                    <a:cs typeface="+mj-lt"/>
                  </a:rPr>
                  <a:t>empty subclass</a:t>
                </a:r>
                <a:r>
                  <a:rPr lang="en-US" altLang="zh-CN" i="1">
                    <a:solidFill>
                      <a:srgbClr val="FF0000"/>
                    </a:solidFill>
                    <a:effectLst>
                      <a:outerShdw blurRad="38100" dist="38100" dir="2700000" algn="tl">
                        <a:srgbClr val="000000">
                          <a:alpha val="43137"/>
                        </a:srgbClr>
                      </a:outerShdw>
                    </a:effectLst>
                    <a:latin typeface="+mj-lt"/>
                    <a:cs typeface="+mj-lt"/>
                  </a:rPr>
                  <a:t>.</a:t>
                </a:r>
                <a:endParaRPr lang="en-US" altLang="zh-CN" i="1">
                  <a:solidFill>
                    <a:srgbClr val="FF0000"/>
                  </a:solidFill>
                  <a:effectLst>
                    <a:outerShdw blurRad="38100" dist="38100" dir="2700000" algn="tl">
                      <a:srgbClr val="000000">
                        <a:alpha val="43137"/>
                      </a:srgbClr>
                    </a:outerShdw>
                  </a:effectLst>
                  <a:latin typeface="+mj-lt"/>
                  <a:cs typeface="+mj-lt"/>
                </a:endParaRPr>
              </a:p>
              <a:p>
                <a:r>
                  <a:rPr lang="en-US" altLang="zh-CN" i="1">
                    <a:solidFill>
                      <a:srgbClr val="FF0000"/>
                    </a:solidFill>
                    <a:effectLst>
                      <a:outerShdw blurRad="38100" dist="38100" dir="2700000" algn="tl">
                        <a:srgbClr val="000000">
                          <a:alpha val="43137"/>
                        </a:srgbClr>
                      </a:outerShdw>
                    </a:effectLst>
                    <a:latin typeface="+mj-lt"/>
                    <a:cs typeface="+mj-lt"/>
                    <a:sym typeface="+mn-ea"/>
                  </a:rPr>
                  <a:t>Then, establish a </a:t>
                </a:r>
                <a:r>
                  <a:rPr lang="en-US" altLang="zh-CN" b="1" i="1">
                    <a:solidFill>
                      <a:srgbClr val="FF0000"/>
                    </a:solidFill>
                    <a:effectLst>
                      <a:outerShdw blurRad="38100" dist="38100" dir="2700000" algn="tl">
                        <a:srgbClr val="000000">
                          <a:alpha val="43137"/>
                        </a:srgbClr>
                      </a:outerShdw>
                    </a:effectLst>
                    <a:latin typeface="+mj-lt"/>
                    <a:cs typeface="+mj-lt"/>
                    <a:sym typeface="+mn-ea"/>
                  </a:rPr>
                  <a:t>factory function</a:t>
                </a:r>
                <a:endParaRPr lang="en-US" altLang="zh-CN" b="1" i="1">
                  <a:solidFill>
                    <a:srgbClr val="FF0000"/>
                  </a:solidFill>
                  <a:effectLst>
                    <a:outerShdw blurRad="38100" dist="38100" dir="2700000" algn="tl">
                      <a:srgbClr val="000000">
                        <a:alpha val="43137"/>
                      </a:srgbClr>
                    </a:outerShdw>
                  </a:effectLst>
                  <a:latin typeface="+mj-lt"/>
                  <a:cs typeface="+mj-lt"/>
                </a:endParaRPr>
              </a:p>
            </p:txBody>
          </p:sp>
        </p:grpSp>
      </p:grpSp>
      <p:grpSp>
        <p:nvGrpSpPr>
          <p:cNvPr id="41" name="组合 40"/>
          <p:cNvGrpSpPr/>
          <p:nvPr/>
        </p:nvGrpSpPr>
        <p:grpSpPr>
          <a:xfrm>
            <a:off x="2438400" y="5448300"/>
            <a:ext cx="7363460" cy="1371600"/>
            <a:chOff x="3840" y="8580"/>
            <a:chExt cx="11596" cy="2160"/>
          </a:xfrm>
        </p:grpSpPr>
        <p:sp>
          <p:nvSpPr>
            <p:cNvPr id="27" name="圆角矩形 26"/>
            <p:cNvSpPr/>
            <p:nvPr/>
          </p:nvSpPr>
          <p:spPr>
            <a:xfrm>
              <a:off x="3840" y="8580"/>
              <a:ext cx="8105" cy="480"/>
            </a:xfrm>
            <a:prstGeom prst="roundRect">
              <a:avLst/>
            </a:prstGeom>
            <a:noFill/>
            <a:ln w="127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9" name="直接箭头连接符 28"/>
            <p:cNvCxnSpPr/>
            <p:nvPr/>
          </p:nvCxnSpPr>
          <p:spPr>
            <a:xfrm flipV="1">
              <a:off x="8880" y="9060"/>
              <a:ext cx="0" cy="120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33" name="圆角矩形 32"/>
            <p:cNvSpPr/>
            <p:nvPr/>
          </p:nvSpPr>
          <p:spPr>
            <a:xfrm>
              <a:off x="4309" y="10260"/>
              <a:ext cx="5409" cy="480"/>
            </a:xfrm>
            <a:prstGeom prst="roundRect">
              <a:avLst/>
            </a:prstGeom>
            <a:noFill/>
            <a:ln w="127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文本框 33"/>
            <p:cNvSpPr txBox="1"/>
            <p:nvPr/>
          </p:nvSpPr>
          <p:spPr>
            <a:xfrm>
              <a:off x="9120" y="9180"/>
              <a:ext cx="6317" cy="1016"/>
            </a:xfrm>
            <a:prstGeom prst="rect">
              <a:avLst/>
            </a:prstGeom>
            <a:noFill/>
          </p:spPr>
          <p:txBody>
            <a:bodyPr wrap="square" rtlCol="0">
              <a:spAutoFit/>
            </a:bodyPr>
            <a:p>
              <a:r>
                <a:rPr lang="en-US" altLang="zh-CN" b="1" i="1">
                  <a:solidFill>
                    <a:srgbClr val="FF0000"/>
                  </a:solidFill>
                  <a:effectLst/>
                  <a:latin typeface="+mj-lt"/>
                  <a:cs typeface="+mj-lt"/>
                  <a:sym typeface="+mn-ea"/>
                </a:rPr>
                <a:t>use the "Extract Method" refactoring to extract the entire conditional logic block.</a:t>
              </a:r>
              <a:endParaRPr lang="en-US" altLang="zh-CN" b="1" i="1">
                <a:solidFill>
                  <a:srgbClr val="FF0000"/>
                </a:solidFill>
                <a:effectLst/>
                <a:latin typeface="+mj-lt"/>
                <a:cs typeface="+mj-lt"/>
                <a:sym typeface="+mn-ea"/>
              </a:endParaRPr>
            </a:p>
          </p:txBody>
        </p:sp>
      </p:grpSp>
      <p:grpSp>
        <p:nvGrpSpPr>
          <p:cNvPr id="48" name="组合 47"/>
          <p:cNvGrpSpPr/>
          <p:nvPr/>
        </p:nvGrpSpPr>
        <p:grpSpPr>
          <a:xfrm>
            <a:off x="11887200" y="3571875"/>
            <a:ext cx="6000750" cy="6076950"/>
            <a:chOff x="18480" y="2460"/>
            <a:chExt cx="9450" cy="9570"/>
          </a:xfrm>
        </p:grpSpPr>
        <p:pic>
          <p:nvPicPr>
            <p:cNvPr id="13" name="图片 12"/>
            <p:cNvPicPr>
              <a:picLocks noChangeAspect="1"/>
            </p:cNvPicPr>
            <p:nvPr/>
          </p:nvPicPr>
          <p:blipFill>
            <a:blip r:embed="rId8"/>
            <a:stretch>
              <a:fillRect/>
            </a:stretch>
          </p:blipFill>
          <p:spPr>
            <a:xfrm>
              <a:off x="18480" y="2580"/>
              <a:ext cx="9450" cy="9450"/>
            </a:xfrm>
            <a:prstGeom prst="rect">
              <a:avLst/>
            </a:prstGeom>
          </p:spPr>
        </p:pic>
        <p:sp>
          <p:nvSpPr>
            <p:cNvPr id="46" name="文本框 45"/>
            <p:cNvSpPr txBox="1"/>
            <p:nvPr/>
          </p:nvSpPr>
          <p:spPr>
            <a:xfrm>
              <a:off x="21600" y="2460"/>
              <a:ext cx="1832" cy="580"/>
            </a:xfrm>
            <a:prstGeom prst="rect">
              <a:avLst/>
            </a:prstGeom>
            <a:noFill/>
          </p:spPr>
          <p:txBody>
            <a:bodyPr wrap="square" rtlCol="0">
              <a:spAutoFit/>
            </a:bodyPr>
            <a:p>
              <a:r>
                <a:rPr lang="en-US" altLang="zh-CN" i="1">
                  <a:solidFill>
                    <a:srgbClr val="00B050"/>
                  </a:solidFill>
                  <a:effectLst>
                    <a:outerShdw blurRad="38100" dist="38100" dir="2700000" algn="tl">
                      <a:srgbClr val="000000">
                        <a:alpha val="43137"/>
                      </a:srgbClr>
                    </a:outerShdw>
                  </a:effectLst>
                  <a:latin typeface="+mj-lt"/>
                  <a:cs typeface="+mj-lt"/>
                  <a:sym typeface="+mn-ea"/>
                </a:rPr>
                <a:t>superclass</a:t>
              </a:r>
              <a:endParaRPr lang="en-US" altLang="zh-CN" b="1" i="1">
                <a:solidFill>
                  <a:srgbClr val="00B050"/>
                </a:solidFill>
                <a:effectLst>
                  <a:outerShdw blurRad="38100" dist="38100" dir="2700000" algn="tl">
                    <a:srgbClr val="000000">
                      <a:alpha val="43137"/>
                    </a:srgbClr>
                  </a:outerShdw>
                </a:effectLst>
                <a:latin typeface="+mj-lt"/>
                <a:cs typeface="+mj-lt"/>
                <a:sym typeface="+mn-ea"/>
              </a:endParaRPr>
            </a:p>
          </p:txBody>
        </p:sp>
        <p:sp>
          <p:nvSpPr>
            <p:cNvPr id="47" name="文本框 46"/>
            <p:cNvSpPr txBox="1"/>
            <p:nvPr/>
          </p:nvSpPr>
          <p:spPr>
            <a:xfrm>
              <a:off x="24240" y="6780"/>
              <a:ext cx="1832" cy="580"/>
            </a:xfrm>
            <a:prstGeom prst="rect">
              <a:avLst/>
            </a:prstGeom>
            <a:noFill/>
          </p:spPr>
          <p:txBody>
            <a:bodyPr wrap="square" rtlCol="0">
              <a:spAutoFit/>
            </a:bodyPr>
            <a:p>
              <a:r>
                <a:rPr lang="en-US" altLang="zh-CN" i="1">
                  <a:solidFill>
                    <a:srgbClr val="00B050"/>
                  </a:solidFill>
                  <a:effectLst>
                    <a:outerShdw blurRad="38100" dist="38100" dir="2700000" algn="tl">
                      <a:srgbClr val="000000">
                        <a:alpha val="43137"/>
                      </a:srgbClr>
                    </a:outerShdw>
                  </a:effectLst>
                  <a:latin typeface="+mj-lt"/>
                  <a:cs typeface="+mj-lt"/>
                  <a:sym typeface="+mn-ea"/>
                </a:rPr>
                <a:t>subclass</a:t>
              </a:r>
              <a:endParaRPr lang="en-US" altLang="zh-CN" b="1" i="1">
                <a:solidFill>
                  <a:srgbClr val="00B050"/>
                </a:solidFill>
                <a:effectLst>
                  <a:outerShdw blurRad="38100" dist="38100" dir="2700000" algn="tl">
                    <a:srgbClr val="000000">
                      <a:alpha val="43137"/>
                    </a:srgbClr>
                  </a:outerShdw>
                </a:effectLst>
                <a:latin typeface="+mj-lt"/>
                <a:cs typeface="+mj-lt"/>
                <a:sym typeface="+mn-ea"/>
              </a:endParaRPr>
            </a:p>
          </p:txBody>
        </p:sp>
      </p:grpSp>
      <p:sp>
        <p:nvSpPr>
          <p:cNvPr id="49" name="矩形 48"/>
          <p:cNvSpPr/>
          <p:nvPr/>
        </p:nvSpPr>
        <p:spPr>
          <a:xfrm>
            <a:off x="2366645" y="6438900"/>
            <a:ext cx="7076440" cy="3485515"/>
          </a:xfrm>
          <a:prstGeom prst="rect">
            <a:avLst/>
          </a:prstGeom>
          <a:noFill/>
          <a:ln w="38100">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52" name="组合 51"/>
          <p:cNvGrpSpPr/>
          <p:nvPr/>
        </p:nvGrpSpPr>
        <p:grpSpPr>
          <a:xfrm>
            <a:off x="9278620" y="3695700"/>
            <a:ext cx="3031490" cy="4356735"/>
            <a:chOff x="14612" y="5820"/>
            <a:chExt cx="4774" cy="6861"/>
          </a:xfrm>
        </p:grpSpPr>
        <p:grpSp>
          <p:nvGrpSpPr>
            <p:cNvPr id="42" name="组合 41"/>
            <p:cNvGrpSpPr/>
            <p:nvPr/>
          </p:nvGrpSpPr>
          <p:grpSpPr>
            <a:xfrm>
              <a:off x="14612" y="5820"/>
              <a:ext cx="4516" cy="5552"/>
              <a:chOff x="14895" y="749"/>
              <a:chExt cx="4516" cy="5552"/>
            </a:xfrm>
          </p:grpSpPr>
          <p:grpSp>
            <p:nvGrpSpPr>
              <p:cNvPr id="35" name="组合 34"/>
              <p:cNvGrpSpPr/>
              <p:nvPr/>
            </p:nvGrpSpPr>
            <p:grpSpPr>
              <a:xfrm>
                <a:off x="15931" y="749"/>
                <a:ext cx="3046" cy="3453"/>
                <a:chOff x="12108" y="7576"/>
                <a:chExt cx="5915" cy="2046"/>
              </a:xfrm>
            </p:grpSpPr>
            <p:sp>
              <p:nvSpPr>
                <p:cNvPr id="37" name="圆角矩形 36"/>
                <p:cNvSpPr/>
                <p:nvPr/>
              </p:nvSpPr>
              <p:spPr>
                <a:xfrm>
                  <a:off x="12108" y="7576"/>
                  <a:ext cx="5915" cy="2046"/>
                </a:xfrm>
                <a:prstGeom prst="roundRect">
                  <a:avLst/>
                </a:prstGeom>
                <a:ln w="38100"/>
              </p:spPr>
              <p:style>
                <a:lnRef idx="2">
                  <a:schemeClr val="accent6"/>
                </a:lnRef>
                <a:fillRef idx="2">
                  <a:schemeClr val="accent6"/>
                </a:fillRef>
                <a:effectRef idx="0">
                  <a:srgbClr val="FFFFFF"/>
                </a:effectRef>
                <a:fontRef idx="minor">
                  <a:schemeClr val="dk1"/>
                </a:fontRef>
              </p:style>
              <p:txBody>
                <a:bodyPr rtlCol="0" anchor="ctr"/>
                <a:p>
                  <a:pPr algn="ctr"/>
                  <a:endParaRPr lang="zh-CN" altLang="en-US"/>
                </a:p>
              </p:txBody>
            </p:sp>
            <p:sp>
              <p:nvSpPr>
                <p:cNvPr id="38" name="文本框 37"/>
                <p:cNvSpPr txBox="1"/>
                <p:nvPr/>
              </p:nvSpPr>
              <p:spPr>
                <a:xfrm>
                  <a:off x="12480" y="7718"/>
                  <a:ext cx="5476" cy="1636"/>
                </a:xfrm>
                <a:prstGeom prst="rect">
                  <a:avLst/>
                </a:prstGeom>
                <a:noFill/>
              </p:spPr>
              <p:txBody>
                <a:bodyPr wrap="square" rtlCol="0">
                  <a:spAutoFit/>
                </a:bodyPr>
                <a:p>
                  <a:r>
                    <a:rPr lang="en-US" altLang="zh-CN" i="1">
                      <a:solidFill>
                        <a:srgbClr val="FF0000"/>
                      </a:solidFill>
                      <a:effectLst>
                        <a:outerShdw blurRad="38100" dist="38100" dir="2700000" algn="tl">
                          <a:srgbClr val="000000">
                            <a:alpha val="43137"/>
                          </a:srgbClr>
                        </a:outerShdw>
                      </a:effectLst>
                      <a:latin typeface="+mj-lt"/>
                      <a:cs typeface="+mj-lt"/>
                    </a:rPr>
                    <a:t>Next, the “voyageAndHistoryLengthFactor” can be broken down to allow for subclassing.</a:t>
                  </a:r>
                  <a:endParaRPr lang="en-US" altLang="zh-CN" i="1">
                    <a:solidFill>
                      <a:srgbClr val="FF0000"/>
                    </a:solidFill>
                    <a:effectLst>
                      <a:outerShdw blurRad="38100" dist="38100" dir="2700000" algn="tl">
                        <a:srgbClr val="000000">
                          <a:alpha val="43137"/>
                        </a:srgbClr>
                      </a:outerShdw>
                    </a:effectLst>
                    <a:latin typeface="+mj-lt"/>
                    <a:cs typeface="+mj-lt"/>
                  </a:endParaRPr>
                </a:p>
              </p:txBody>
            </p:sp>
          </p:grpSp>
          <p:sp>
            <p:nvSpPr>
              <p:cNvPr id="21" name="右箭头 20"/>
              <p:cNvSpPr/>
              <p:nvPr/>
            </p:nvSpPr>
            <p:spPr>
              <a:xfrm rot="19560000">
                <a:off x="14895" y="5022"/>
                <a:ext cx="4516" cy="1279"/>
              </a:xfrm>
              <a:prstGeom prst="rightArrow">
                <a:avLst>
                  <a:gd name="adj1" fmla="val 50000"/>
                  <a:gd name="adj2" fmla="val 77970"/>
                </a:avLst>
              </a:prstGeom>
              <a:solidFill>
                <a:srgbClr val="7495AB"/>
              </a:solidFill>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grpSp>
        <p:sp>
          <p:nvSpPr>
            <p:cNvPr id="51" name="右箭头 50"/>
            <p:cNvSpPr/>
            <p:nvPr/>
          </p:nvSpPr>
          <p:spPr>
            <a:xfrm>
              <a:off x="14870" y="11403"/>
              <a:ext cx="4516" cy="1279"/>
            </a:xfrm>
            <a:prstGeom prst="rightArrow">
              <a:avLst>
                <a:gd name="adj1" fmla="val 50000"/>
                <a:gd name="adj2" fmla="val 77970"/>
              </a:avLst>
            </a:prstGeom>
            <a:solidFill>
              <a:srgbClr val="7495AB"/>
            </a:solidFill>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 calcmode="lin" valueType="num">
                                      <p:cBhvr additive="base">
                                        <p:cTn id="17" dur="500" fill="hold"/>
                                        <p:tgtEl>
                                          <p:spTgt spid="40"/>
                                        </p:tgtEl>
                                        <p:attrNameLst>
                                          <p:attrName>ppt_x</p:attrName>
                                        </p:attrNameLst>
                                      </p:cBhvr>
                                      <p:tavLst>
                                        <p:tav tm="0">
                                          <p:val>
                                            <p:strVal val="#ppt_x"/>
                                          </p:val>
                                        </p:tav>
                                        <p:tav tm="100000">
                                          <p:val>
                                            <p:strVal val="#ppt_x"/>
                                          </p:val>
                                        </p:tav>
                                      </p:tavLst>
                                    </p:anim>
                                    <p:anim calcmode="lin" valueType="num">
                                      <p:cBhvr additive="base">
                                        <p:cTn id="1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additive="base">
                                        <p:cTn id="27" dur="500" fill="hold"/>
                                        <p:tgtEl>
                                          <p:spTgt spid="41"/>
                                        </p:tgtEl>
                                        <p:attrNameLst>
                                          <p:attrName>ppt_x</p:attrName>
                                        </p:attrNameLst>
                                      </p:cBhvr>
                                      <p:tavLst>
                                        <p:tav tm="0">
                                          <p:val>
                                            <p:strVal val="#ppt_x"/>
                                          </p:val>
                                        </p:tav>
                                        <p:tav tm="100000">
                                          <p:val>
                                            <p:strVal val="#ppt_x"/>
                                          </p:val>
                                        </p:tav>
                                      </p:tavLst>
                                    </p:anim>
                                    <p:anim calcmode="lin" valueType="num">
                                      <p:cBhvr additive="base">
                                        <p:cTn id="2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 calcmode="lin" valueType="num">
                                      <p:cBhvr additive="base">
                                        <p:cTn id="33" dur="500" fill="hold"/>
                                        <p:tgtEl>
                                          <p:spTgt spid="49"/>
                                        </p:tgtEl>
                                        <p:attrNameLst>
                                          <p:attrName>ppt_x</p:attrName>
                                        </p:attrNameLst>
                                      </p:cBhvr>
                                      <p:tavLst>
                                        <p:tav tm="0">
                                          <p:val>
                                            <p:strVal val="#ppt_x"/>
                                          </p:val>
                                        </p:tav>
                                        <p:tav tm="100000">
                                          <p:val>
                                            <p:strVal val="#ppt_x"/>
                                          </p:val>
                                        </p:tav>
                                      </p:tavLst>
                                    </p:anim>
                                    <p:anim calcmode="lin" valueType="num">
                                      <p:cBhvr additive="base">
                                        <p:cTn id="3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2"/>
                                        </p:tgtEl>
                                        <p:attrNameLst>
                                          <p:attrName>style.visibility</p:attrName>
                                        </p:attrNameLst>
                                      </p:cBhvr>
                                      <p:to>
                                        <p:strVal val="visible"/>
                                      </p:to>
                                    </p:set>
                                    <p:anim calcmode="lin" valueType="num">
                                      <p:cBhvr additive="base">
                                        <p:cTn id="39" dur="500" fill="hold"/>
                                        <p:tgtEl>
                                          <p:spTgt spid="52"/>
                                        </p:tgtEl>
                                        <p:attrNameLst>
                                          <p:attrName>ppt_x</p:attrName>
                                        </p:attrNameLst>
                                      </p:cBhvr>
                                      <p:tavLst>
                                        <p:tav tm="0">
                                          <p:val>
                                            <p:strVal val="#ppt_x"/>
                                          </p:val>
                                        </p:tav>
                                        <p:tav tm="100000">
                                          <p:val>
                                            <p:strVal val="#ppt_x"/>
                                          </p:val>
                                        </p:tav>
                                      </p:tavLst>
                                    </p:anim>
                                    <p:anim calcmode="lin" valueType="num">
                                      <p:cBhvr additive="base">
                                        <p:cTn id="40"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ldLvl="0" animBg="1"/>
      <p:bldP spid="4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pic>
        <p:nvPicPr>
          <p:cNvPr id="3" name="Picture 3"/>
          <p:cNvPicPr>
            <a:picLocks noChangeAspect="1"/>
          </p:cNvPicPr>
          <p:nvPr/>
        </p:nvPicPr>
        <p:blipFill>
          <a:blip r:embed="rId2">
            <a:alphaModFix amt="26000"/>
            <a:extLst>
              <a:ext uri="{28A0092B-C50C-407E-A947-70E740481C1C}">
                <a14:useLocalDpi xmlns:a14="http://schemas.microsoft.com/office/drawing/2010/main" val="0"/>
              </a:ext>
            </a:extLst>
          </a:blip>
          <a:srcRect/>
          <a:stretch>
            <a:fillRect/>
          </a:stretch>
        </p:blipFill>
        <p:spPr>
          <a:xfrm rot="812167">
            <a:off x="-1961250" y="5293321"/>
            <a:ext cx="21433519" cy="20576178"/>
          </a:xfrm>
          <a:prstGeom prst="rect">
            <a:avLst/>
          </a:prstGeom>
        </p:spPr>
      </p:pic>
      <p:grpSp>
        <p:nvGrpSpPr>
          <p:cNvPr id="4" name="Group 4"/>
          <p:cNvGrpSpPr/>
          <p:nvPr/>
        </p:nvGrpSpPr>
        <p:grpSpPr>
          <a:xfrm rot="0">
            <a:off x="13634448" y="6377143"/>
            <a:ext cx="9521218" cy="9999086"/>
            <a:chOff x="0" y="0"/>
            <a:chExt cx="12694958" cy="13332115"/>
          </a:xfrm>
        </p:grpSpPr>
        <p:pic>
          <p:nvPicPr>
            <p:cNvPr id="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7"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pic>
        <p:nvPicPr>
          <p:cNvPr id="8" name="图片 7"/>
          <p:cNvPicPr>
            <a:picLocks noChangeAspect="1"/>
          </p:cNvPicPr>
          <p:nvPr/>
        </p:nvPicPr>
        <p:blipFill>
          <a:blip r:embed="rId5"/>
          <a:stretch>
            <a:fillRect/>
          </a:stretch>
        </p:blipFill>
        <p:spPr>
          <a:xfrm>
            <a:off x="9830435" y="419100"/>
            <a:ext cx="6733540" cy="9413875"/>
          </a:xfrm>
          <a:prstGeom prst="rect">
            <a:avLst/>
          </a:prstGeom>
        </p:spPr>
      </p:pic>
      <p:pic>
        <p:nvPicPr>
          <p:cNvPr id="9" name="图片 8"/>
          <p:cNvPicPr>
            <a:picLocks noChangeAspect="1"/>
          </p:cNvPicPr>
          <p:nvPr/>
        </p:nvPicPr>
        <p:blipFill>
          <a:blip r:embed="rId6"/>
          <a:stretch>
            <a:fillRect/>
          </a:stretch>
        </p:blipFill>
        <p:spPr>
          <a:xfrm>
            <a:off x="1447800" y="5143500"/>
            <a:ext cx="8090535" cy="4439285"/>
          </a:xfrm>
          <a:prstGeom prst="rect">
            <a:avLst/>
          </a:prstGeom>
        </p:spPr>
      </p:pic>
      <p:pic>
        <p:nvPicPr>
          <p:cNvPr id="10" name="图片 9"/>
          <p:cNvPicPr>
            <a:picLocks noChangeAspect="1"/>
          </p:cNvPicPr>
          <p:nvPr/>
        </p:nvPicPr>
        <p:blipFill>
          <a:blip r:embed="rId7"/>
          <a:stretch>
            <a:fillRect/>
          </a:stretch>
        </p:blipFill>
        <p:spPr>
          <a:xfrm>
            <a:off x="1447800" y="1485900"/>
            <a:ext cx="8123555" cy="3074670"/>
          </a:xfrm>
          <a:prstGeom prst="rect">
            <a:avLst/>
          </a:prstGeom>
        </p:spPr>
      </p:pic>
      <p:sp>
        <p:nvSpPr>
          <p:cNvPr id="11" name="右箭头 10"/>
          <p:cNvSpPr/>
          <p:nvPr/>
        </p:nvSpPr>
        <p:spPr>
          <a:xfrm>
            <a:off x="-850265" y="4305300"/>
            <a:ext cx="2438400" cy="13716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1981200" y="-38100"/>
            <a:ext cx="5375910" cy="1153160"/>
          </a:xfrm>
          <a:prstGeom prst="rect">
            <a:avLst/>
          </a:prstGeom>
          <a:noFill/>
        </p:spPr>
        <p:txBody>
          <a:bodyPr wrap="square" rtlCol="0">
            <a:noAutofit/>
          </a:bodyPr>
          <a:p>
            <a:endParaRPr lang="en-US" altLang="zh-CN" sz="3600" b="1">
              <a:solidFill>
                <a:srgbClr val="FF0000"/>
              </a:solidFill>
              <a:effectLst>
                <a:outerShdw blurRad="38100" dist="38100" dir="2700000" algn="tl">
                  <a:srgbClr val="000000">
                    <a:alpha val="43137"/>
                  </a:srgbClr>
                </a:outerShdw>
              </a:effectLst>
            </a:endParaRPr>
          </a:p>
          <a:p>
            <a:r>
              <a:rPr lang="en-US" altLang="zh-CN" sz="3600" b="1">
                <a:solidFill>
                  <a:srgbClr val="FF0000"/>
                </a:solidFill>
                <a:effectLst>
                  <a:outerShdw blurRad="38100" dist="38100" dir="2700000" algn="tl">
                    <a:srgbClr val="000000">
                      <a:alpha val="43137"/>
                    </a:srgbClr>
                  </a:outerShdw>
                </a:effectLst>
              </a:rPr>
              <a:t>Results: After Refactoring</a:t>
            </a:r>
            <a:endParaRPr lang="en-US" altLang="zh-CN" sz="3600" b="1">
              <a:solidFill>
                <a:srgbClr val="FF0000"/>
              </a:solidFill>
              <a:effectLst>
                <a:outerShdw blurRad="38100" dist="38100" dir="2700000" algn="tl">
                  <a:srgbClr val="000000">
                    <a:alpha val="43137"/>
                  </a:srgbClr>
                </a:outerShdw>
              </a:effectLst>
            </a:endParaRPr>
          </a:p>
        </p:txBody>
      </p:sp>
      <p:sp>
        <p:nvSpPr>
          <p:cNvPr id="12" name="五角星 11"/>
          <p:cNvSpPr/>
          <p:nvPr/>
        </p:nvSpPr>
        <p:spPr>
          <a:xfrm>
            <a:off x="15468600" y="5219700"/>
            <a:ext cx="391795" cy="381000"/>
          </a:xfrm>
          <a:prstGeom prst="star5">
            <a:avLst/>
          </a:prstGeom>
          <a:solidFill>
            <a:srgbClr val="FFFF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五角星 12"/>
          <p:cNvSpPr/>
          <p:nvPr/>
        </p:nvSpPr>
        <p:spPr>
          <a:xfrm>
            <a:off x="15392400" y="6725920"/>
            <a:ext cx="391795" cy="381000"/>
          </a:xfrm>
          <a:prstGeom prst="star5">
            <a:avLst/>
          </a:prstGeom>
          <a:solidFill>
            <a:srgbClr val="FFFF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6" name="组合 15"/>
          <p:cNvGrpSpPr/>
          <p:nvPr/>
        </p:nvGrpSpPr>
        <p:grpSpPr>
          <a:xfrm>
            <a:off x="12344400" y="7534275"/>
            <a:ext cx="5384800" cy="1645920"/>
            <a:chOff x="11400" y="11052"/>
            <a:chExt cx="8480" cy="2592"/>
          </a:xfrm>
        </p:grpSpPr>
        <p:sp>
          <p:nvSpPr>
            <p:cNvPr id="17" name="圆角矩形 16"/>
            <p:cNvSpPr/>
            <p:nvPr/>
          </p:nvSpPr>
          <p:spPr>
            <a:xfrm>
              <a:off x="11400" y="11052"/>
              <a:ext cx="8480" cy="2592"/>
            </a:xfrm>
            <a:prstGeom prst="roundRect">
              <a:avLst/>
            </a:prstGeom>
            <a:ln w="38100"/>
          </p:spPr>
          <p:style>
            <a:lnRef idx="2">
              <a:schemeClr val="accent6"/>
            </a:lnRef>
            <a:fillRef idx="2">
              <a:schemeClr val="accent6"/>
            </a:fillRef>
            <a:effectRef idx="0">
              <a:srgbClr val="FFFFFF"/>
            </a:effectRef>
            <a:fontRef idx="minor">
              <a:schemeClr val="dk1"/>
            </a:fontRef>
          </p:style>
          <p:txBody>
            <a:bodyPr rtlCol="0" anchor="ctr"/>
            <a:p>
              <a:pPr algn="ctr"/>
              <a:endParaRPr lang="zh-CN" altLang="en-US"/>
            </a:p>
          </p:txBody>
        </p:sp>
        <p:sp>
          <p:nvSpPr>
            <p:cNvPr id="14" name="文本框 13"/>
            <p:cNvSpPr txBox="1"/>
            <p:nvPr/>
          </p:nvSpPr>
          <p:spPr>
            <a:xfrm>
              <a:off x="11760" y="11367"/>
              <a:ext cx="7467" cy="2268"/>
            </a:xfrm>
            <a:prstGeom prst="rect">
              <a:avLst/>
            </a:prstGeom>
          </p:spPr>
          <p:txBody>
            <a:bodyPr wrap="square">
              <a:noAutofit/>
            </a:bodyPr>
            <a:p>
              <a:pPr algn="dist"/>
              <a:r>
                <a:rPr lang="en-US" altLang="zh-CN" b="1" i="1">
                  <a:solidFill>
                    <a:srgbClr val="FF0000"/>
                  </a:solidFill>
                </a:rPr>
                <a:t>the condition “voyage.zone === 'china' &amp;&amp; hasChina(history)” appears twice in the “captainHistoryRisk” and “voyageProfitFactor” functions </a:t>
              </a:r>
              <a:r>
                <a:rPr lang="en-US" altLang="zh-CN" b="1" i="1" u="sng">
                  <a:solidFill>
                    <a:srgbClr val="FF0000"/>
                  </a:solidFill>
                  <a:effectLst>
                    <a:outerShdw blurRad="38100" dist="38100" dir="2700000" algn="tl">
                      <a:srgbClr val="000000">
                        <a:alpha val="43137"/>
                      </a:srgbClr>
                    </a:outerShdw>
                  </a:effectLst>
                </a:rPr>
                <a:t>has been removed</a:t>
              </a:r>
              <a:r>
                <a:rPr lang="en-US" altLang="zh-CN" b="1" i="1">
                  <a:solidFill>
                    <a:srgbClr val="FF0000"/>
                  </a:solidFill>
                </a:rPr>
                <a:t> after refactoring </a:t>
              </a:r>
              <a:endParaRPr lang="en-US" altLang="zh-CN" b="1" i="1">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2" grpId="1" animBg="1"/>
      <p:bldP spid="13"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001382" y="5443144"/>
            <a:ext cx="10002764" cy="8401899"/>
            <a:chOff x="0" y="0"/>
            <a:chExt cx="13337018" cy="11202532"/>
          </a:xfrm>
        </p:grpSpPr>
        <p:pic>
          <p:nvPicPr>
            <p:cNvPr id="3"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293809">
              <a:off x="5750738" y="3129354"/>
              <a:ext cx="3782026" cy="4943825"/>
            </a:xfrm>
            <a:prstGeom prst="rect">
              <a:avLst/>
            </a:prstGeom>
          </p:spPr>
        </p:pic>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838581">
              <a:off x="668932" y="2645111"/>
              <a:ext cx="11999154" cy="5912311"/>
            </a:xfrm>
            <a:prstGeom prst="rect">
              <a:avLst/>
            </a:prstGeom>
          </p:spPr>
        </p:pic>
      </p:grpSp>
      <p:grpSp>
        <p:nvGrpSpPr>
          <p:cNvPr id="5" name="Group 5"/>
          <p:cNvGrpSpPr/>
          <p:nvPr/>
        </p:nvGrpSpPr>
        <p:grpSpPr>
          <a:xfrm rot="6646896">
            <a:off x="14013497" y="-3181377"/>
            <a:ext cx="6877785" cy="7307014"/>
            <a:chOff x="0" y="0"/>
            <a:chExt cx="9170380" cy="9742685"/>
          </a:xfrm>
        </p:grpSpPr>
        <p:pic>
          <p:nvPicPr>
            <p:cNvPr id="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10020101" flipV="1">
              <a:off x="1453372" y="609703"/>
              <a:ext cx="6263636" cy="7392704"/>
            </a:xfrm>
            <a:prstGeom prst="rect">
              <a:avLst/>
            </a:prstGeom>
          </p:spPr>
        </p:pic>
        <p:pic>
          <p:nvPicPr>
            <p:cNvPr id="7" name="Picture 7"/>
            <p:cNvPicPr>
              <a:picLocks noChangeAspect="1"/>
            </p:cNvPicPr>
            <p:nvPr/>
          </p:nvPicPr>
          <p:blipFill>
            <a:blip r:embed="rId2">
              <a:extLst>
                <a:ext uri="{28A0092B-C50C-407E-A947-70E740481C1C}">
                  <a14:useLocalDpi xmlns:a14="http://schemas.microsoft.com/office/drawing/2010/main" val="0"/>
                </a:ext>
              </a:extLst>
            </a:blip>
            <a:srcRect l="38708"/>
            <a:stretch>
              <a:fillRect/>
            </a:stretch>
          </p:blipFill>
          <p:spPr>
            <a:xfrm rot="7654232">
              <a:off x="907983" y="2069484"/>
              <a:ext cx="7354414" cy="5912311"/>
            </a:xfrm>
            <a:prstGeom prst="rect">
              <a:avLst/>
            </a:prstGeom>
          </p:spPr>
        </p:pic>
      </p:grpSp>
      <p:grpSp>
        <p:nvGrpSpPr>
          <p:cNvPr id="8" name="Group 8"/>
          <p:cNvGrpSpPr/>
          <p:nvPr/>
        </p:nvGrpSpPr>
        <p:grpSpPr>
          <a:xfrm rot="-4937986">
            <a:off x="-1726090" y="-1748908"/>
            <a:ext cx="6005388" cy="6286112"/>
            <a:chOff x="0" y="0"/>
            <a:chExt cx="8007184" cy="8381483"/>
          </a:xfrm>
        </p:grpSpPr>
        <p:pic>
          <p:nvPicPr>
            <p:cNvPr id="9" name="Picture 9"/>
            <p:cNvPicPr>
              <a:picLocks noChangeAspect="1"/>
            </p:cNvPicPr>
            <p:nvPr/>
          </p:nvPicPr>
          <p:blipFill>
            <a:blip r:embed="rId4">
              <a:alphaModFix amt="71000"/>
              <a:extLst>
                <a:ext uri="{28A0092B-C50C-407E-A947-70E740481C1C}">
                  <a14:useLocalDpi xmlns:a14="http://schemas.microsoft.com/office/drawing/2010/main" val="0"/>
                </a:ext>
              </a:extLst>
            </a:blip>
            <a:srcRect/>
            <a:stretch>
              <a:fillRect/>
            </a:stretch>
          </p:blipFill>
          <p:spPr>
            <a:xfrm rot="4068957">
              <a:off x="932313" y="1306613"/>
              <a:ext cx="6142557" cy="6142557"/>
            </a:xfrm>
            <a:prstGeom prst="rect">
              <a:avLst/>
            </a:prstGeom>
          </p:spPr>
        </p:pic>
        <p:pic>
          <p:nvPicPr>
            <p:cNvPr id="10" name="Picture 10"/>
            <p:cNvPicPr>
              <a:picLocks noChangeAspect="1"/>
            </p:cNvPicPr>
            <p:nvPr/>
          </p:nvPicPr>
          <p:blipFill>
            <a:blip r:embed="rId5">
              <a:alphaModFix amt="80000"/>
              <a:extLst>
                <a:ext uri="{28A0092B-C50C-407E-A947-70E740481C1C}">
                  <a14:useLocalDpi xmlns:a14="http://schemas.microsoft.com/office/drawing/2010/main" val="0"/>
                </a:ext>
              </a:extLst>
            </a:blip>
            <a:srcRect/>
            <a:stretch>
              <a:fillRect/>
            </a:stretch>
          </p:blipFill>
          <p:spPr>
            <a:xfrm rot="-804865">
              <a:off x="3113361" y="435226"/>
              <a:ext cx="4356786" cy="5142130"/>
            </a:xfrm>
            <a:prstGeom prst="rect">
              <a:avLst/>
            </a:prstGeom>
          </p:spPr>
        </p:pic>
      </p:grpSp>
      <p:grpSp>
        <p:nvGrpSpPr>
          <p:cNvPr id="11" name="Group 11"/>
          <p:cNvGrpSpPr/>
          <p:nvPr/>
        </p:nvGrpSpPr>
        <p:grpSpPr>
          <a:xfrm rot="0">
            <a:off x="13739375" y="6499562"/>
            <a:ext cx="5424934" cy="4641848"/>
            <a:chOff x="0" y="0"/>
            <a:chExt cx="7233245" cy="6189131"/>
          </a:xfrm>
        </p:grpSpPr>
        <p:pic>
          <p:nvPicPr>
            <p:cNvPr id="12" name="Picture 1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0" y="0"/>
              <a:ext cx="6190578" cy="5486400"/>
            </a:xfrm>
            <a:prstGeom prst="rect">
              <a:avLst/>
            </a:prstGeom>
          </p:spPr>
        </p:pic>
        <p:pic>
          <p:nvPicPr>
            <p:cNvPr id="13" name="Picture 1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rot="2336840">
              <a:off x="4054922" y="2579198"/>
              <a:ext cx="2445399" cy="3196600"/>
            </a:xfrm>
            <a:prstGeom prst="rect">
              <a:avLst/>
            </a:prstGeom>
          </p:spPr>
        </p:pic>
      </p:grpSp>
      <p:sp>
        <p:nvSpPr>
          <p:cNvPr id="14" name="TextBox 14"/>
          <p:cNvSpPr txBox="1"/>
          <p:nvPr/>
        </p:nvSpPr>
        <p:spPr>
          <a:xfrm>
            <a:off x="3004820" y="3850005"/>
            <a:ext cx="12558395" cy="1778635"/>
          </a:xfrm>
          <a:prstGeom prst="rect">
            <a:avLst/>
          </a:prstGeom>
        </p:spPr>
        <p:txBody>
          <a:bodyPr wrap="square" lIns="0" tIns="0" rIns="0" bIns="0" rtlCol="0" anchor="t">
            <a:spAutoFit/>
          </a:bodyPr>
          <a:lstStyle/>
          <a:p>
            <a:pPr algn="ctr">
              <a:lnSpc>
                <a:spcPts val="13870"/>
              </a:lnSpc>
              <a:spcBef>
                <a:spcPct val="0"/>
              </a:spcBef>
            </a:pPr>
            <a:r>
              <a:rPr lang="en-US" sz="10000" spc="217">
                <a:solidFill>
                  <a:srgbClr val="16496B"/>
                </a:solidFill>
                <a:latin typeface="Calibri" panose="020F0502020204030204" charset="0"/>
                <a:cs typeface="Calibri" panose="020F0502020204030204" charset="0"/>
              </a:rPr>
              <a:t>Benefits &amp; Drawbacks</a:t>
            </a:r>
            <a:endParaRPr lang="en-US" sz="10000" spc="217">
              <a:solidFill>
                <a:srgbClr val="16496B"/>
              </a:solidFill>
              <a:latin typeface="Calibri" panose="020F0502020204030204" charset="0"/>
              <a:cs typeface="Calibri" panose="020F0502020204030204" charset="0"/>
            </a:endParaRPr>
          </a:p>
        </p:txBody>
      </p:sp>
      <p:sp>
        <p:nvSpPr>
          <p:cNvPr id="16" name="TextBox 16"/>
          <p:cNvSpPr txBox="1"/>
          <p:nvPr/>
        </p:nvSpPr>
        <p:spPr>
          <a:xfrm>
            <a:off x="7086378" y="2608465"/>
            <a:ext cx="3615701" cy="987152"/>
          </a:xfrm>
          <a:prstGeom prst="rect">
            <a:avLst/>
          </a:prstGeom>
        </p:spPr>
        <p:txBody>
          <a:bodyPr lIns="0" tIns="0" rIns="0" bIns="0" rtlCol="0" anchor="t">
            <a:spAutoFit/>
          </a:bodyPr>
          <a:lstStyle/>
          <a:p>
            <a:pPr algn="ctr">
              <a:lnSpc>
                <a:spcPts val="7715"/>
              </a:lnSpc>
            </a:pPr>
            <a:r>
              <a:rPr lang="en-US" sz="6595" spc="217">
                <a:solidFill>
                  <a:srgbClr val="16496B"/>
                </a:solidFill>
                <a:latin typeface="Calibri" panose="020F0502020204030204" charset="0"/>
                <a:cs typeface="Calibri" panose="020F0502020204030204" charset="0"/>
              </a:rPr>
              <a:t>PART</a:t>
            </a:r>
            <a:endParaRPr lang="en-US" sz="6595" spc="217">
              <a:solidFill>
                <a:srgbClr val="16496B"/>
              </a:solidFill>
              <a:latin typeface="Calibri" panose="020F0502020204030204" charset="0"/>
              <a:cs typeface="Calibri" panose="020F0502020204030204" charset="0"/>
            </a:endParaRPr>
          </a:p>
        </p:txBody>
      </p:sp>
      <p:grpSp>
        <p:nvGrpSpPr>
          <p:cNvPr id="17" name="Group 17"/>
          <p:cNvGrpSpPr/>
          <p:nvPr/>
        </p:nvGrpSpPr>
        <p:grpSpPr>
          <a:xfrm rot="0">
            <a:off x="10202536" y="2598940"/>
            <a:ext cx="999086" cy="999086"/>
            <a:chOff x="0" y="0"/>
            <a:chExt cx="812800" cy="812800"/>
          </a:xfrm>
        </p:grpSpPr>
        <p:sp>
          <p:nvSpPr>
            <p:cNvPr id="18" name="Freeform 18"/>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6B99D"/>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660"/>
                </a:lnSpc>
                <a:spcBef>
                  <a:spcPct val="0"/>
                </a:spcBef>
              </a:pPr>
            </a:p>
          </p:txBody>
        </p:sp>
      </p:grpSp>
      <p:sp>
        <p:nvSpPr>
          <p:cNvPr id="20" name="TextBox 20"/>
          <p:cNvSpPr txBox="1"/>
          <p:nvPr/>
        </p:nvSpPr>
        <p:spPr>
          <a:xfrm>
            <a:off x="10458975" y="2480944"/>
            <a:ext cx="486208" cy="1166495"/>
          </a:xfrm>
          <a:prstGeom prst="rect">
            <a:avLst/>
          </a:prstGeom>
        </p:spPr>
        <p:txBody>
          <a:bodyPr lIns="0" tIns="0" rIns="0" bIns="0" rtlCol="0" anchor="t">
            <a:spAutoFit/>
          </a:bodyPr>
          <a:lstStyle/>
          <a:p>
            <a:pPr algn="ctr">
              <a:lnSpc>
                <a:spcPts val="9100"/>
              </a:lnSpc>
            </a:pPr>
            <a:r>
              <a:rPr lang="en-US" sz="6500">
                <a:solidFill>
                  <a:srgbClr val="FFFFFF"/>
                </a:solidFill>
                <a:latin typeface="Arial Rounded MT Bold" panose="020F0704030504030204" charset="0"/>
              </a:rPr>
              <a:t>5</a:t>
            </a:r>
            <a:endParaRPr lang="en-US" sz="6500">
              <a:solidFill>
                <a:srgbClr val="FFFFFF"/>
              </a:solidFill>
              <a:latin typeface="Arial Rounded MT Bold" panose="020F0704030504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2090874" y="-4929388"/>
            <a:ext cx="7773009" cy="7462089"/>
          </a:xfrm>
          <a:prstGeom prst="rect">
            <a:avLst/>
          </a:prstGeom>
        </p:spPr>
      </p:pic>
      <p:pic>
        <p:nvPicPr>
          <p:cNvPr id="3" name="Picture 3"/>
          <p:cNvPicPr>
            <a:picLocks noChangeAspect="1"/>
          </p:cNvPicPr>
          <p:nvPr/>
        </p:nvPicPr>
        <p:blipFill>
          <a:blip r:embed="rId2">
            <a:alphaModFix amt="26000"/>
            <a:extLst>
              <a:ext uri="{28A0092B-C50C-407E-A947-70E740481C1C}">
                <a14:useLocalDpi xmlns:a14="http://schemas.microsoft.com/office/drawing/2010/main" val="0"/>
              </a:ext>
            </a:extLst>
          </a:blip>
          <a:srcRect/>
          <a:stretch>
            <a:fillRect/>
          </a:stretch>
        </p:blipFill>
        <p:spPr>
          <a:xfrm rot="21332166">
            <a:off x="433970" y="1422361"/>
            <a:ext cx="21433519" cy="20576178"/>
          </a:xfrm>
          <a:prstGeom prst="rect">
            <a:avLst/>
          </a:prstGeom>
        </p:spPr>
      </p:pic>
      <p:grpSp>
        <p:nvGrpSpPr>
          <p:cNvPr id="4" name="Group 4"/>
          <p:cNvGrpSpPr/>
          <p:nvPr/>
        </p:nvGrpSpPr>
        <p:grpSpPr>
          <a:xfrm rot="0">
            <a:off x="13258528" y="6082503"/>
            <a:ext cx="9521218" cy="9999086"/>
            <a:chOff x="0" y="0"/>
            <a:chExt cx="12694958" cy="13332115"/>
          </a:xfrm>
        </p:grpSpPr>
        <p:pic>
          <p:nvPicPr>
            <p:cNvPr id="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7"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grpSp>
        <p:nvGrpSpPr>
          <p:cNvPr id="8" name="Group 8"/>
          <p:cNvGrpSpPr/>
          <p:nvPr/>
        </p:nvGrpSpPr>
        <p:grpSpPr>
          <a:xfrm rot="0">
            <a:off x="2389983" y="3036073"/>
            <a:ext cx="5645567" cy="810875"/>
            <a:chOff x="0" y="0"/>
            <a:chExt cx="1369514" cy="196704"/>
          </a:xfrm>
        </p:grpSpPr>
        <p:sp>
          <p:nvSpPr>
            <p:cNvPr id="9" name="Freeform 9"/>
            <p:cNvSpPr/>
            <p:nvPr/>
          </p:nvSpPr>
          <p:spPr>
            <a:xfrm>
              <a:off x="0" y="0"/>
              <a:ext cx="1369513" cy="196704"/>
            </a:xfrm>
            <a:custGeom>
              <a:avLst/>
              <a:gdLst/>
              <a:ahLst/>
              <a:cxnLst/>
              <a:rect l="l" t="t" r="r" b="b"/>
              <a:pathLst>
                <a:path w="1369513" h="196704">
                  <a:moveTo>
                    <a:pt x="0" y="0"/>
                  </a:moveTo>
                  <a:lnTo>
                    <a:pt x="1369513" y="0"/>
                  </a:lnTo>
                  <a:lnTo>
                    <a:pt x="1369513" y="196704"/>
                  </a:lnTo>
                  <a:lnTo>
                    <a:pt x="0" y="196704"/>
                  </a:lnTo>
                  <a:close/>
                </a:path>
              </a:pathLst>
            </a:custGeom>
            <a:solidFill>
              <a:srgbClr val="7495AB"/>
            </a:solidFill>
          </p:spPr>
        </p:sp>
        <p:sp>
          <p:nvSpPr>
            <p:cNvPr id="10" name="TextBox 10"/>
            <p:cNvSpPr txBox="1"/>
            <p:nvPr/>
          </p:nvSpPr>
          <p:spPr>
            <a:xfrm>
              <a:off x="0" y="-47625"/>
              <a:ext cx="812800" cy="860425"/>
            </a:xfrm>
            <a:prstGeom prst="rect">
              <a:avLst/>
            </a:prstGeom>
          </p:spPr>
          <p:txBody>
            <a:bodyPr lIns="50800" tIns="50800" rIns="50800" bIns="50800" rtlCol="0" anchor="ctr"/>
            <a:lstStyle/>
            <a:p>
              <a:pPr algn="ctr">
                <a:lnSpc>
                  <a:spcPts val="2660"/>
                </a:lnSpc>
              </a:pPr>
            </a:p>
          </p:txBody>
        </p:sp>
      </p:grpSp>
      <p:grpSp>
        <p:nvGrpSpPr>
          <p:cNvPr id="11" name="Group 11"/>
          <p:cNvGrpSpPr/>
          <p:nvPr/>
        </p:nvGrpSpPr>
        <p:grpSpPr>
          <a:xfrm rot="0">
            <a:off x="10040620" y="3035935"/>
            <a:ext cx="5863590" cy="810895"/>
            <a:chOff x="0" y="0"/>
            <a:chExt cx="1369514" cy="196704"/>
          </a:xfrm>
        </p:grpSpPr>
        <p:sp>
          <p:nvSpPr>
            <p:cNvPr id="12" name="Freeform 12"/>
            <p:cNvSpPr/>
            <p:nvPr/>
          </p:nvSpPr>
          <p:spPr>
            <a:xfrm>
              <a:off x="0" y="0"/>
              <a:ext cx="1369513" cy="196704"/>
            </a:xfrm>
            <a:custGeom>
              <a:avLst/>
              <a:gdLst/>
              <a:ahLst/>
              <a:cxnLst/>
              <a:rect l="l" t="t" r="r" b="b"/>
              <a:pathLst>
                <a:path w="1369513" h="196704">
                  <a:moveTo>
                    <a:pt x="0" y="0"/>
                  </a:moveTo>
                  <a:lnTo>
                    <a:pt x="1369513" y="0"/>
                  </a:lnTo>
                  <a:lnTo>
                    <a:pt x="1369513" y="196704"/>
                  </a:lnTo>
                  <a:lnTo>
                    <a:pt x="0" y="196704"/>
                  </a:lnTo>
                  <a:close/>
                </a:path>
              </a:pathLst>
            </a:custGeom>
            <a:solidFill>
              <a:srgbClr val="F6B99D"/>
            </a:solidFill>
          </p:spPr>
        </p:sp>
        <p:sp>
          <p:nvSpPr>
            <p:cNvPr id="13" name="TextBox 13"/>
            <p:cNvSpPr txBox="1"/>
            <p:nvPr/>
          </p:nvSpPr>
          <p:spPr>
            <a:xfrm>
              <a:off x="0" y="-47625"/>
              <a:ext cx="812800" cy="860425"/>
            </a:xfrm>
            <a:prstGeom prst="rect">
              <a:avLst/>
            </a:prstGeom>
          </p:spPr>
          <p:txBody>
            <a:bodyPr lIns="50800" tIns="50800" rIns="50800" bIns="50800" rtlCol="0" anchor="ctr"/>
            <a:lstStyle/>
            <a:p>
              <a:pPr algn="ctr">
                <a:lnSpc>
                  <a:spcPts val="2660"/>
                </a:lnSpc>
              </a:pPr>
            </a:p>
          </p:txBody>
        </p:sp>
      </p:grpSp>
      <p:grpSp>
        <p:nvGrpSpPr>
          <p:cNvPr id="14" name="Group 14"/>
          <p:cNvGrpSpPr/>
          <p:nvPr/>
        </p:nvGrpSpPr>
        <p:grpSpPr>
          <a:xfrm rot="0">
            <a:off x="2389983" y="4002069"/>
            <a:ext cx="5645567" cy="4960303"/>
            <a:chOff x="0" y="0"/>
            <a:chExt cx="1369514" cy="1203281"/>
          </a:xfrm>
        </p:grpSpPr>
        <p:sp>
          <p:nvSpPr>
            <p:cNvPr id="15" name="Freeform 15"/>
            <p:cNvSpPr/>
            <p:nvPr/>
          </p:nvSpPr>
          <p:spPr>
            <a:xfrm>
              <a:off x="0" y="0"/>
              <a:ext cx="1369513" cy="1203281"/>
            </a:xfrm>
            <a:custGeom>
              <a:avLst/>
              <a:gdLst/>
              <a:ahLst/>
              <a:cxnLst/>
              <a:rect l="l" t="t" r="r" b="b"/>
              <a:pathLst>
                <a:path w="1369513" h="1203281">
                  <a:moveTo>
                    <a:pt x="0" y="0"/>
                  </a:moveTo>
                  <a:lnTo>
                    <a:pt x="1369513" y="0"/>
                  </a:lnTo>
                  <a:lnTo>
                    <a:pt x="1369513" y="1203281"/>
                  </a:lnTo>
                  <a:lnTo>
                    <a:pt x="0" y="1203281"/>
                  </a:lnTo>
                  <a:close/>
                </a:path>
              </a:pathLst>
            </a:custGeom>
            <a:solidFill>
              <a:srgbClr val="BED2DF"/>
            </a:solidFill>
          </p:spPr>
        </p:sp>
        <p:sp>
          <p:nvSpPr>
            <p:cNvPr id="16" name="TextBox 16"/>
            <p:cNvSpPr txBox="1"/>
            <p:nvPr/>
          </p:nvSpPr>
          <p:spPr>
            <a:xfrm>
              <a:off x="0" y="-47625"/>
              <a:ext cx="812800" cy="860425"/>
            </a:xfrm>
            <a:prstGeom prst="rect">
              <a:avLst/>
            </a:prstGeom>
          </p:spPr>
          <p:txBody>
            <a:bodyPr lIns="50800" tIns="50800" rIns="50800" bIns="50800" rtlCol="0" anchor="ctr"/>
            <a:lstStyle/>
            <a:p>
              <a:pPr algn="ctr">
                <a:lnSpc>
                  <a:spcPts val="2660"/>
                </a:lnSpc>
              </a:pPr>
            </a:p>
          </p:txBody>
        </p:sp>
      </p:grpSp>
      <p:grpSp>
        <p:nvGrpSpPr>
          <p:cNvPr id="17" name="Group 17"/>
          <p:cNvGrpSpPr/>
          <p:nvPr/>
        </p:nvGrpSpPr>
        <p:grpSpPr>
          <a:xfrm rot="0">
            <a:off x="10040620" y="4001770"/>
            <a:ext cx="5882640" cy="4960620"/>
            <a:chOff x="0" y="0"/>
            <a:chExt cx="1369514" cy="1203281"/>
          </a:xfrm>
        </p:grpSpPr>
        <p:sp>
          <p:nvSpPr>
            <p:cNvPr id="18" name="Freeform 18"/>
            <p:cNvSpPr/>
            <p:nvPr/>
          </p:nvSpPr>
          <p:spPr>
            <a:xfrm>
              <a:off x="0" y="0"/>
              <a:ext cx="1369513" cy="1203281"/>
            </a:xfrm>
            <a:custGeom>
              <a:avLst/>
              <a:gdLst/>
              <a:ahLst/>
              <a:cxnLst/>
              <a:rect l="l" t="t" r="r" b="b"/>
              <a:pathLst>
                <a:path w="1369513" h="1203281">
                  <a:moveTo>
                    <a:pt x="0" y="0"/>
                  </a:moveTo>
                  <a:lnTo>
                    <a:pt x="1369513" y="0"/>
                  </a:lnTo>
                  <a:lnTo>
                    <a:pt x="1369513" y="1203281"/>
                  </a:lnTo>
                  <a:lnTo>
                    <a:pt x="0" y="1203281"/>
                  </a:lnTo>
                  <a:close/>
                </a:path>
              </a:pathLst>
            </a:custGeom>
            <a:solidFill>
              <a:srgbClr val="F8DDD0"/>
            </a:solidFill>
          </p:spPr>
        </p:sp>
        <p:sp>
          <p:nvSpPr>
            <p:cNvPr id="19" name="TextBox 19"/>
            <p:cNvSpPr txBox="1"/>
            <p:nvPr/>
          </p:nvSpPr>
          <p:spPr>
            <a:xfrm>
              <a:off x="0" y="-47625"/>
              <a:ext cx="812800" cy="860425"/>
            </a:xfrm>
            <a:prstGeom prst="rect">
              <a:avLst/>
            </a:prstGeom>
          </p:spPr>
          <p:txBody>
            <a:bodyPr lIns="50800" tIns="50800" rIns="50800" bIns="50800" rtlCol="0" anchor="ctr"/>
            <a:lstStyle/>
            <a:p>
              <a:pPr algn="ctr">
                <a:lnSpc>
                  <a:spcPts val="2660"/>
                </a:lnSpc>
              </a:pPr>
            </a:p>
          </p:txBody>
        </p:sp>
      </p:grpSp>
      <p:sp>
        <p:nvSpPr>
          <p:cNvPr id="22" name="TextBox 22"/>
          <p:cNvSpPr txBox="1"/>
          <p:nvPr/>
        </p:nvSpPr>
        <p:spPr>
          <a:xfrm>
            <a:off x="2795728" y="3174811"/>
            <a:ext cx="4834077" cy="538480"/>
          </a:xfrm>
          <a:prstGeom prst="rect">
            <a:avLst/>
          </a:prstGeom>
        </p:spPr>
        <p:txBody>
          <a:bodyPr lIns="0" tIns="0" rIns="0" bIns="0" rtlCol="0" anchor="t">
            <a:spAutoFit/>
          </a:bodyPr>
          <a:lstStyle/>
          <a:p>
            <a:pPr algn="ctr">
              <a:lnSpc>
                <a:spcPts val="4200"/>
              </a:lnSpc>
            </a:pPr>
            <a:r>
              <a:rPr lang="en-US" sz="4000" b="1">
                <a:solidFill>
                  <a:srgbClr val="FFFFFF"/>
                </a:solidFill>
                <a:ea typeface="造字工房尚黑体 粗体" charset="-122"/>
              </a:rPr>
              <a:t>Benefits</a:t>
            </a:r>
            <a:endParaRPr lang="en-US" sz="4000" b="1">
              <a:solidFill>
                <a:srgbClr val="FFFFFF"/>
              </a:solidFill>
              <a:ea typeface="造字工房尚黑体 粗体" charset="-122"/>
            </a:endParaRPr>
          </a:p>
        </p:txBody>
      </p:sp>
      <p:sp>
        <p:nvSpPr>
          <p:cNvPr id="23" name="TextBox 23"/>
          <p:cNvSpPr txBox="1"/>
          <p:nvPr/>
        </p:nvSpPr>
        <p:spPr>
          <a:xfrm>
            <a:off x="10775315" y="3175000"/>
            <a:ext cx="4505325" cy="538480"/>
          </a:xfrm>
          <a:prstGeom prst="rect">
            <a:avLst/>
          </a:prstGeom>
        </p:spPr>
        <p:txBody>
          <a:bodyPr wrap="square" lIns="0" tIns="0" rIns="0" bIns="0" rtlCol="0" anchor="t">
            <a:spAutoFit/>
          </a:bodyPr>
          <a:lstStyle/>
          <a:p>
            <a:pPr algn="ctr">
              <a:lnSpc>
                <a:spcPts val="4200"/>
              </a:lnSpc>
            </a:pPr>
            <a:r>
              <a:rPr lang="en-US" sz="4000" b="1">
                <a:solidFill>
                  <a:srgbClr val="FFFFFF"/>
                </a:solidFill>
                <a:ea typeface="造字工房尚黑体 粗体" charset="-122"/>
              </a:rPr>
              <a:t>Drawbacks</a:t>
            </a:r>
            <a:endParaRPr lang="en-US" sz="4000" b="1">
              <a:solidFill>
                <a:srgbClr val="FFFFFF"/>
              </a:solidFill>
              <a:ea typeface="造字工房尚黑体 粗体" charset="-122"/>
            </a:endParaRPr>
          </a:p>
        </p:txBody>
      </p:sp>
      <p:sp>
        <p:nvSpPr>
          <p:cNvPr id="24" name="TextBox 24"/>
          <p:cNvSpPr txBox="1"/>
          <p:nvPr/>
        </p:nvSpPr>
        <p:spPr>
          <a:xfrm>
            <a:off x="2531745" y="5102225"/>
            <a:ext cx="5249545" cy="3634105"/>
          </a:xfrm>
          <a:prstGeom prst="rect">
            <a:avLst/>
          </a:prstGeom>
        </p:spPr>
        <p:txBody>
          <a:bodyPr lIns="0" tIns="0" rIns="0" bIns="0" rtlCol="0" anchor="t">
            <a:noAutofit/>
          </a:bodyPr>
          <a:lstStyle/>
          <a:p>
            <a:pPr marL="388620" lvl="1" indent="-194310">
              <a:lnSpc>
                <a:spcPts val="2700"/>
              </a:lnSpc>
              <a:buFont typeface="Arial" panose="020B0604020202020204"/>
              <a:buChar char="•"/>
            </a:pPr>
            <a:r>
              <a:rPr lang="en-US" sz="3600" b="1" spc="44">
                <a:solidFill>
                  <a:srgbClr val="737373"/>
                </a:solidFill>
                <a:ea typeface="隶书2万字" panose="02010600010101010101" charset="-122"/>
              </a:rPr>
              <a:t>Tell-Don't-Ask principle</a:t>
            </a:r>
            <a:endParaRPr lang="en-US" sz="3600" b="1" spc="44">
              <a:solidFill>
                <a:srgbClr val="737373"/>
              </a:solidFill>
              <a:ea typeface="隶书2万字" panose="02010600010101010101" charset="-122"/>
            </a:endParaRPr>
          </a:p>
          <a:p>
            <a:pPr marL="388620" lvl="1" indent="-194310">
              <a:lnSpc>
                <a:spcPts val="2700"/>
              </a:lnSpc>
              <a:buFont typeface="Arial" panose="020B0604020202020204"/>
              <a:buChar char="•"/>
            </a:pPr>
            <a:endParaRPr lang="en-US" sz="3600" b="1" spc="44">
              <a:solidFill>
                <a:srgbClr val="737373"/>
              </a:solidFill>
              <a:ea typeface="隶书2万字" panose="02010600010101010101" charset="-122"/>
            </a:endParaRPr>
          </a:p>
          <a:p>
            <a:pPr marL="388620" lvl="1" indent="-194310">
              <a:lnSpc>
                <a:spcPts val="2700"/>
              </a:lnSpc>
              <a:buFont typeface="Arial" panose="020B0604020202020204"/>
              <a:buChar char="•"/>
            </a:pPr>
            <a:endParaRPr lang="en-US" sz="3600" b="1" spc="44">
              <a:solidFill>
                <a:srgbClr val="737373"/>
              </a:solidFill>
              <a:ea typeface="隶书2万字" panose="02010600010101010101" charset="-122"/>
            </a:endParaRPr>
          </a:p>
          <a:p>
            <a:pPr marL="388620" lvl="1" indent="-194310">
              <a:lnSpc>
                <a:spcPts val="2700"/>
              </a:lnSpc>
              <a:buFont typeface="Arial" panose="020B0604020202020204"/>
              <a:buChar char="•"/>
            </a:pPr>
            <a:r>
              <a:rPr lang="en-US" sz="3600" b="1" spc="44">
                <a:solidFill>
                  <a:srgbClr val="737373"/>
                </a:solidFill>
                <a:ea typeface="隶书2万字" panose="02010600010101010101" charset="-122"/>
              </a:rPr>
              <a:t>Removes duplicate code</a:t>
            </a:r>
            <a:endParaRPr lang="en-US" sz="3600" b="1" spc="44">
              <a:solidFill>
                <a:srgbClr val="737373"/>
              </a:solidFill>
              <a:ea typeface="隶书2万字" panose="02010600010101010101" charset="-122"/>
            </a:endParaRPr>
          </a:p>
          <a:p>
            <a:pPr marL="388620" lvl="1" indent="-194310">
              <a:lnSpc>
                <a:spcPts val="2700"/>
              </a:lnSpc>
              <a:buFont typeface="Arial" panose="020B0604020202020204"/>
              <a:buChar char="•"/>
            </a:pPr>
            <a:endParaRPr lang="en-US" sz="3600" b="1" spc="44">
              <a:solidFill>
                <a:srgbClr val="737373"/>
              </a:solidFill>
              <a:ea typeface="隶书2万字" panose="02010600010101010101" charset="-122"/>
            </a:endParaRPr>
          </a:p>
          <a:p>
            <a:pPr marL="388620" lvl="1" indent="-194310">
              <a:lnSpc>
                <a:spcPts val="2700"/>
              </a:lnSpc>
              <a:buFont typeface="Arial" panose="020B0604020202020204"/>
              <a:buChar char="•"/>
            </a:pPr>
            <a:endParaRPr lang="en-US" sz="3600" b="1" spc="44">
              <a:solidFill>
                <a:srgbClr val="737373"/>
              </a:solidFill>
              <a:ea typeface="隶书2万字" panose="02010600010101010101" charset="-122"/>
            </a:endParaRPr>
          </a:p>
          <a:p>
            <a:pPr marL="388620" lvl="1" indent="-194310">
              <a:lnSpc>
                <a:spcPts val="2700"/>
              </a:lnSpc>
              <a:buFont typeface="Arial" panose="020B0604020202020204"/>
              <a:buChar char="•"/>
            </a:pPr>
            <a:r>
              <a:rPr lang="en-US" sz="3600" b="1" spc="44">
                <a:solidFill>
                  <a:srgbClr val="737373"/>
                </a:solidFill>
                <a:ea typeface="隶书2万字" panose="02010600010101010101" charset="-122"/>
              </a:rPr>
              <a:t>Open/Closed Principle</a:t>
            </a:r>
            <a:endParaRPr lang="en-US" sz="3600" b="1" spc="44">
              <a:solidFill>
                <a:srgbClr val="737373"/>
              </a:solidFill>
              <a:ea typeface="隶书2万字" panose="02010600010101010101" charset="-122"/>
            </a:endParaRPr>
          </a:p>
        </p:txBody>
      </p:sp>
      <p:sp>
        <p:nvSpPr>
          <p:cNvPr id="26" name="TextBox 24"/>
          <p:cNvSpPr txBox="1"/>
          <p:nvPr/>
        </p:nvSpPr>
        <p:spPr>
          <a:xfrm>
            <a:off x="10040620" y="5067300"/>
            <a:ext cx="5699125" cy="3634105"/>
          </a:xfrm>
          <a:prstGeom prst="rect">
            <a:avLst/>
          </a:prstGeom>
        </p:spPr>
        <p:txBody>
          <a:bodyPr lIns="0" tIns="0" rIns="0" bIns="0" rtlCol="0" anchor="t">
            <a:noAutofit/>
          </a:bodyPr>
          <a:p>
            <a:pPr marL="388620" lvl="1" indent="-194310">
              <a:lnSpc>
                <a:spcPts val="2700"/>
              </a:lnSpc>
              <a:buFont typeface="Arial" panose="020B0604020202020204"/>
              <a:buChar char="•"/>
            </a:pPr>
            <a:r>
              <a:rPr lang="en-US" sz="3600" b="1" spc="44">
                <a:solidFill>
                  <a:srgbClr val="737373"/>
                </a:solidFill>
                <a:ea typeface="隶书2万字" panose="02010600010101010101" charset="-122"/>
                <a:sym typeface="+mn-ea"/>
              </a:rPr>
              <a:t>High initial refactoring cost</a:t>
            </a:r>
            <a:endParaRPr lang="en-US" sz="3600" b="1" spc="44">
              <a:solidFill>
                <a:srgbClr val="737373"/>
              </a:solidFill>
              <a:ea typeface="隶书2万字" panose="02010600010101010101" charset="-122"/>
              <a:sym typeface="+mn-ea"/>
            </a:endParaRPr>
          </a:p>
          <a:p>
            <a:pPr marL="388620" lvl="1" indent="-194310">
              <a:lnSpc>
                <a:spcPts val="2700"/>
              </a:lnSpc>
              <a:buFont typeface="Arial" panose="020B0604020202020204"/>
              <a:buChar char="•"/>
            </a:pPr>
            <a:endParaRPr lang="en-US" sz="3600" b="1" spc="44">
              <a:solidFill>
                <a:srgbClr val="737373"/>
              </a:solidFill>
              <a:ea typeface="隶书2万字" panose="02010600010101010101" charset="-122"/>
            </a:endParaRPr>
          </a:p>
          <a:p>
            <a:pPr marL="388620" lvl="1" indent="-194310">
              <a:lnSpc>
                <a:spcPts val="2700"/>
              </a:lnSpc>
              <a:buFont typeface="Arial" panose="020B0604020202020204"/>
              <a:buChar char="•"/>
            </a:pPr>
            <a:endParaRPr lang="en-US" sz="3600" b="1" spc="44">
              <a:solidFill>
                <a:srgbClr val="737373"/>
              </a:solidFill>
              <a:ea typeface="隶书2万字" panose="02010600010101010101" charset="-122"/>
            </a:endParaRPr>
          </a:p>
          <a:p>
            <a:pPr marL="388620" lvl="1" indent="-194310">
              <a:lnSpc>
                <a:spcPts val="2700"/>
              </a:lnSpc>
              <a:buFont typeface="Arial" panose="020B0604020202020204"/>
              <a:buChar char="•"/>
            </a:pPr>
            <a:r>
              <a:rPr lang="en-US" sz="3600" b="1" spc="44">
                <a:solidFill>
                  <a:srgbClr val="737373"/>
                </a:solidFill>
                <a:ea typeface="隶书2万字" panose="02010600010101010101" charset="-122"/>
              </a:rPr>
              <a:t>Not suitable for all conditional judgement</a:t>
            </a:r>
            <a:endParaRPr lang="en-US" sz="3600" b="1" spc="44">
              <a:solidFill>
                <a:srgbClr val="737373"/>
              </a:solidFill>
              <a:ea typeface="隶书2万字" panose="0201060001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grpSp>
        <p:nvGrpSpPr>
          <p:cNvPr id="7" name="Group 7"/>
          <p:cNvGrpSpPr/>
          <p:nvPr/>
        </p:nvGrpSpPr>
        <p:grpSpPr>
          <a:xfrm rot="0">
            <a:off x="7226935" y="1905635"/>
            <a:ext cx="3841115" cy="389255"/>
            <a:chOff x="0" y="0"/>
            <a:chExt cx="760862" cy="102569"/>
          </a:xfrm>
        </p:grpSpPr>
        <p:sp>
          <p:nvSpPr>
            <p:cNvPr id="8" name="Freeform 8"/>
            <p:cNvSpPr/>
            <p:nvPr/>
          </p:nvSpPr>
          <p:spPr>
            <a:xfrm>
              <a:off x="0" y="0"/>
              <a:ext cx="760862" cy="102569"/>
            </a:xfrm>
            <a:custGeom>
              <a:avLst/>
              <a:gdLst/>
              <a:ahLst/>
              <a:cxnLst/>
              <a:rect l="l" t="t" r="r" b="b"/>
              <a:pathLst>
                <a:path w="760862" h="102569">
                  <a:moveTo>
                    <a:pt x="0" y="0"/>
                  </a:moveTo>
                  <a:lnTo>
                    <a:pt x="760862" y="0"/>
                  </a:lnTo>
                  <a:lnTo>
                    <a:pt x="760862" y="102569"/>
                  </a:lnTo>
                  <a:lnTo>
                    <a:pt x="0" y="102569"/>
                  </a:lnTo>
                  <a:close/>
                </a:path>
              </a:pathLst>
            </a:custGeom>
            <a:solidFill>
              <a:srgbClr val="16496B">
                <a:alpha val="60784"/>
              </a:srgbClr>
            </a:solidFill>
          </p:spPr>
        </p:sp>
        <p:sp>
          <p:nvSpPr>
            <p:cNvPr id="9" name="TextBox 9"/>
            <p:cNvSpPr txBox="1"/>
            <p:nvPr/>
          </p:nvSpPr>
          <p:spPr>
            <a:xfrm>
              <a:off x="0" y="-47625"/>
              <a:ext cx="812800" cy="860425"/>
            </a:xfrm>
            <a:prstGeom prst="rect">
              <a:avLst/>
            </a:prstGeom>
          </p:spPr>
          <p:txBody>
            <a:bodyPr lIns="50800" tIns="50800" rIns="50800" bIns="50800" rtlCol="0" anchor="ctr"/>
            <a:lstStyle/>
            <a:p>
              <a:pPr algn="ctr">
                <a:lnSpc>
                  <a:spcPts val="2660"/>
                </a:lnSpc>
              </a:pPr>
            </a:p>
          </p:txBody>
        </p:sp>
      </p:grpSp>
      <p:sp>
        <p:nvSpPr>
          <p:cNvPr id="10" name="TextBox 10"/>
          <p:cNvSpPr txBox="1"/>
          <p:nvPr/>
        </p:nvSpPr>
        <p:spPr>
          <a:xfrm>
            <a:off x="6856095" y="855980"/>
            <a:ext cx="4566285" cy="1256665"/>
          </a:xfrm>
          <a:prstGeom prst="rect">
            <a:avLst/>
          </a:prstGeom>
        </p:spPr>
        <p:txBody>
          <a:bodyPr wrap="square" lIns="0" tIns="0" rIns="0" bIns="0" rtlCol="0" anchor="t">
            <a:spAutoFit/>
          </a:bodyPr>
          <a:lstStyle/>
          <a:p>
            <a:pPr algn="ctr">
              <a:lnSpc>
                <a:spcPts val="9800"/>
              </a:lnSpc>
              <a:spcBef>
                <a:spcPct val="0"/>
              </a:spcBef>
            </a:pPr>
            <a:r>
              <a:rPr lang="en-US" sz="7000">
                <a:solidFill>
                  <a:srgbClr val="16496B"/>
                </a:solidFill>
                <a:ea typeface="造字工房尚黑体 粗体" charset="-122"/>
              </a:rPr>
              <a:t>Reference</a:t>
            </a:r>
            <a:endParaRPr lang="en-US" sz="7000">
              <a:solidFill>
                <a:srgbClr val="16496B"/>
              </a:solidFill>
              <a:ea typeface="造字工房尚黑体 粗体" charset="-122"/>
            </a:endParaRPr>
          </a:p>
        </p:txBody>
      </p:sp>
      <p:sp>
        <p:nvSpPr>
          <p:cNvPr id="11" name="TextBox 11"/>
          <p:cNvSpPr txBox="1"/>
          <p:nvPr/>
        </p:nvSpPr>
        <p:spPr>
          <a:xfrm>
            <a:off x="3535063" y="3238386"/>
            <a:ext cx="12295052" cy="5129530"/>
          </a:xfrm>
          <a:prstGeom prst="rect">
            <a:avLst/>
          </a:prstGeom>
        </p:spPr>
        <p:txBody>
          <a:bodyPr lIns="0" tIns="0" rIns="0" bIns="0" rtlCol="0" anchor="t">
            <a:spAutoFit/>
          </a:bodyPr>
          <a:lstStyle/>
          <a:p>
            <a:pPr marL="571500" indent="-571500" fontAlgn="auto">
              <a:lnSpc>
                <a:spcPts val="5000"/>
              </a:lnSpc>
              <a:buFont typeface="Wingdings" panose="05000000000000000000" charset="0"/>
              <a:buChar char=""/>
            </a:pPr>
            <a:r>
              <a:rPr lang="en-US" sz="4000" spc="53">
                <a:solidFill>
                  <a:srgbClr val="737373"/>
                </a:solidFill>
                <a:ea typeface="华康黑体W7宽汉音上1L" panose="020B0700000000000000" charset="-122"/>
              </a:rPr>
              <a:t>Refactoring: Improving the Design of Existing Code (2nd Edition) (Addison-Wesley Signature Series (Fowler)) 2 </a:t>
            </a:r>
            <a:r>
              <a:rPr lang="zh-CN" altLang="en-US" sz="4000" spc="53">
                <a:solidFill>
                  <a:srgbClr val="737373"/>
                </a:solidFill>
                <a:ea typeface="华康黑体W7宽汉音上1L" panose="020B0700000000000000" charset="-122"/>
              </a:rPr>
              <a:t>——</a:t>
            </a:r>
            <a:r>
              <a:rPr lang="en-US" sz="4000" spc="53">
                <a:solidFill>
                  <a:srgbClr val="737373"/>
                </a:solidFill>
                <a:ea typeface="华康黑体W7宽汉音上1L" panose="020B0700000000000000" charset="-122"/>
              </a:rPr>
              <a:t>Martin Fowler (Author)</a:t>
            </a:r>
            <a:endParaRPr lang="en-US" sz="4000" spc="53">
              <a:solidFill>
                <a:srgbClr val="737373"/>
              </a:solidFill>
              <a:ea typeface="华康黑体W7宽汉音上1L" panose="020B0700000000000000" charset="-122"/>
            </a:endParaRPr>
          </a:p>
          <a:p>
            <a:pPr marL="571500" indent="-571500" fontAlgn="auto">
              <a:lnSpc>
                <a:spcPts val="5000"/>
              </a:lnSpc>
              <a:buFont typeface="Wingdings" panose="05000000000000000000" charset="0"/>
              <a:buChar char=""/>
            </a:pPr>
            <a:endParaRPr lang="en-US" sz="4000" spc="53">
              <a:solidFill>
                <a:srgbClr val="737373"/>
              </a:solidFill>
              <a:ea typeface="华康黑体W7宽汉音上1L" panose="020B0700000000000000" charset="-122"/>
            </a:endParaRPr>
          </a:p>
          <a:p>
            <a:pPr marL="571500" indent="-571500" fontAlgn="auto">
              <a:lnSpc>
                <a:spcPts val="5000"/>
              </a:lnSpc>
              <a:buFont typeface="Wingdings" panose="05000000000000000000" charset="0"/>
              <a:buChar char=""/>
            </a:pPr>
            <a:r>
              <a:rPr lang="en-US" sz="4000" spc="53">
                <a:solidFill>
                  <a:srgbClr val="737373"/>
                </a:solidFill>
                <a:ea typeface="华康黑体W7宽汉音上1L" panose="020B0700000000000000" charset="-122"/>
              </a:rPr>
              <a:t>https://dunwu.github.io/design/pages/65ee05/</a:t>
            </a:r>
            <a:endParaRPr lang="en-US" sz="4000" spc="53">
              <a:solidFill>
                <a:srgbClr val="737373"/>
              </a:solidFill>
              <a:ea typeface="华康黑体W7宽汉音上1L" panose="020B0700000000000000" charset="-122"/>
            </a:endParaRPr>
          </a:p>
          <a:p>
            <a:pPr marL="571500" indent="-571500" fontAlgn="auto">
              <a:lnSpc>
                <a:spcPts val="5000"/>
              </a:lnSpc>
              <a:buFont typeface="Wingdings" panose="05000000000000000000" charset="0"/>
              <a:buChar char=""/>
            </a:pPr>
            <a:endParaRPr lang="en-US" sz="4000" spc="53">
              <a:solidFill>
                <a:srgbClr val="737373"/>
              </a:solidFill>
              <a:ea typeface="华康黑体W7宽汉音上1L" panose="020B0700000000000000" charset="-122"/>
            </a:endParaRPr>
          </a:p>
          <a:p>
            <a:pPr marL="571500" indent="-571500" fontAlgn="auto">
              <a:lnSpc>
                <a:spcPts val="5000"/>
              </a:lnSpc>
              <a:buFont typeface="Wingdings" panose="05000000000000000000" charset="0"/>
              <a:buChar char=""/>
            </a:pPr>
            <a:r>
              <a:rPr lang="en-US" sz="4000" spc="53">
                <a:solidFill>
                  <a:srgbClr val="737373"/>
                </a:solidFill>
                <a:ea typeface="华康黑体W7宽汉音上1L" panose="020B0700000000000000" charset="-122"/>
              </a:rPr>
              <a:t>https://refactoring.guru/replace-conditional-with-polymorphism</a:t>
            </a:r>
            <a:endParaRPr lang="en-US" sz="4000" spc="53">
              <a:solidFill>
                <a:srgbClr val="737373"/>
              </a:solidFill>
              <a:ea typeface="华康黑体W7宽汉音上1L" panose="020B0700000000000000" charset="-122"/>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Lst>
          </a:blip>
          <a:srcRect l="38708"/>
          <a:stretch>
            <a:fillRect/>
          </a:stretch>
        </p:blipFill>
        <p:spPr>
          <a:xfrm rot="2215427">
            <a:off x="-2225240" y="6779885"/>
            <a:ext cx="5515811" cy="4434233"/>
          </a:xfrm>
          <a:prstGeom prst="rect">
            <a:avLst/>
          </a:prstGeom>
        </p:spPr>
      </p:pic>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8708"/>
          <a:stretch>
            <a:fillRect/>
          </a:stretch>
        </p:blipFill>
        <p:spPr>
          <a:xfrm rot="-8554289">
            <a:off x="14182471" y="-2073915"/>
            <a:ext cx="5515811" cy="443423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3951900" y="6655063"/>
            <a:ext cx="4642934" cy="4114800"/>
          </a:xfrm>
          <a:prstGeom prst="rect">
            <a:avLst/>
          </a:prstGeom>
        </p:spPr>
      </p:pic>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2336840">
            <a:off x="16993092" y="8589462"/>
            <a:ext cx="1834049" cy="2397450"/>
          </a:xfrm>
          <a:prstGeom prst="rect">
            <a:avLst/>
          </a:prstGeom>
        </p:spPr>
      </p:pic>
      <p:pic>
        <p:nvPicPr>
          <p:cNvPr id="4"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4293809">
            <a:off x="61378" y="7666867"/>
            <a:ext cx="2836519" cy="3707869"/>
          </a:xfrm>
          <a:prstGeom prst="rect">
            <a:avLst/>
          </a:prstGeom>
        </p:spPr>
      </p:pic>
      <p:pic>
        <p:nvPicPr>
          <p:cNvPr id="5" name="Picture 5"/>
          <p:cNvPicPr>
            <a:picLocks noChangeAspect="1"/>
          </p:cNvPicPr>
          <p:nvPr/>
        </p:nvPicPr>
        <p:blipFill>
          <a:blip r:embed="rId4">
            <a:alphaModFix amt="71000"/>
            <a:extLst>
              <a:ext uri="{28A0092B-C50C-407E-A947-70E740481C1C}">
                <a14:useLocalDpi xmlns:a14="http://schemas.microsoft.com/office/drawing/2010/main" val="0"/>
              </a:ext>
            </a:extLst>
          </a:blip>
          <a:srcRect/>
          <a:stretch>
            <a:fillRect/>
          </a:stretch>
        </p:blipFill>
        <p:spPr>
          <a:xfrm rot="4068957">
            <a:off x="14760886" y="-1274759"/>
            <a:ext cx="4606918" cy="4606918"/>
          </a:xfrm>
          <a:prstGeom prst="rect">
            <a:avLst/>
          </a:prstGeom>
        </p:spPr>
      </p:pic>
      <p:pic>
        <p:nvPicPr>
          <p:cNvPr id="6"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rot="-5326128">
            <a:off x="202301" y="-1136176"/>
            <a:ext cx="2784670" cy="3570090"/>
          </a:xfrm>
          <a:prstGeom prst="rect">
            <a:avLst/>
          </a:prstGeom>
        </p:spPr>
      </p:pic>
      <p:pic>
        <p:nvPicPr>
          <p:cNvPr id="7" name="Picture 7"/>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rot="-7124576">
            <a:off x="-1159846" y="-293030"/>
            <a:ext cx="2908298" cy="3432540"/>
          </a:xfrm>
          <a:prstGeom prst="rect">
            <a:avLst/>
          </a:prstGeom>
        </p:spPr>
      </p:pic>
      <p:pic>
        <p:nvPicPr>
          <p:cNvPr id="8" name="Picture 8"/>
          <p:cNvPicPr>
            <a:picLocks noChangeAspect="1"/>
          </p:cNvPicPr>
          <p:nvPr/>
        </p:nvPicPr>
        <p:blipFill>
          <a:blip r:embed="rId7">
            <a:alphaModFix amt="80000"/>
            <a:extLst>
              <a:ext uri="{28A0092B-C50C-407E-A947-70E740481C1C}">
                <a14:useLocalDpi xmlns:a14="http://schemas.microsoft.com/office/drawing/2010/main" val="0"/>
              </a:ext>
            </a:extLst>
          </a:blip>
          <a:srcRect/>
          <a:stretch>
            <a:fillRect/>
          </a:stretch>
        </p:blipFill>
        <p:spPr>
          <a:xfrm rot="-804865">
            <a:off x="16396672" y="-1928299"/>
            <a:ext cx="3267590" cy="3856597"/>
          </a:xfrm>
          <a:prstGeom prst="rect">
            <a:avLst/>
          </a:prstGeom>
        </p:spPr>
      </p:pic>
      <p:pic>
        <p:nvPicPr>
          <p:cNvPr id="9" name="Picture 9"/>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8361205" y="2080213"/>
            <a:ext cx="1565591" cy="1281827"/>
          </a:xfrm>
          <a:prstGeom prst="rect">
            <a:avLst/>
          </a:prstGeom>
        </p:spPr>
      </p:pic>
      <p:pic>
        <p:nvPicPr>
          <p:cNvPr id="10" name="Picture 10"/>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a:xfrm rot="1838581">
            <a:off x="-3749976" y="7303685"/>
            <a:ext cx="8999366" cy="4434233"/>
          </a:xfrm>
          <a:prstGeom prst="rect">
            <a:avLst/>
          </a:prstGeom>
        </p:spPr>
      </p:pic>
      <p:sp>
        <p:nvSpPr>
          <p:cNvPr id="12" name="TextBox 12"/>
          <p:cNvSpPr txBox="1"/>
          <p:nvPr/>
        </p:nvSpPr>
        <p:spPr>
          <a:xfrm>
            <a:off x="1844675" y="3333115"/>
            <a:ext cx="14598650" cy="2821940"/>
          </a:xfrm>
          <a:prstGeom prst="rect">
            <a:avLst/>
          </a:prstGeom>
        </p:spPr>
        <p:txBody>
          <a:bodyPr lIns="0" tIns="0" rIns="0" bIns="0" rtlCol="0" anchor="t">
            <a:noAutofit/>
          </a:bodyPr>
          <a:lstStyle/>
          <a:p>
            <a:pPr indent="0" algn="ctr" fontAlgn="auto">
              <a:lnSpc>
                <a:spcPts val="6480"/>
              </a:lnSpc>
            </a:pPr>
            <a:endParaRPr lang="en-US" sz="6600" spc="469">
              <a:solidFill>
                <a:srgbClr val="16496B"/>
              </a:solidFill>
              <a:latin typeface="Calibri" panose="020F0502020204030204" charset="0"/>
              <a:cs typeface="Calibri" panose="020F0502020204030204" charset="0"/>
              <a:sym typeface="+mn-ea"/>
            </a:endParaRPr>
          </a:p>
          <a:p>
            <a:pPr indent="0" algn="ctr" fontAlgn="auto">
              <a:lnSpc>
                <a:spcPts val="6480"/>
              </a:lnSpc>
            </a:pPr>
            <a:r>
              <a:rPr lang="en-US" sz="6600" spc="469">
                <a:solidFill>
                  <a:srgbClr val="16496B"/>
                </a:solidFill>
                <a:latin typeface="Calibri" panose="020F0502020204030204" charset="0"/>
                <a:cs typeface="Calibri" panose="020F0502020204030204" charset="0"/>
                <a:sym typeface="+mn-ea"/>
              </a:rPr>
              <a:t>Thank you teachers for your criticism and correction</a:t>
            </a:r>
            <a:endParaRPr lang="en-US" sz="6600" spc="469">
              <a:solidFill>
                <a:srgbClr val="16496B"/>
              </a:solidFill>
              <a:latin typeface="Calibri" panose="020F0502020204030204" charset="0"/>
              <a:cs typeface="Calibri" panose="020F0502020204030204" charset="0"/>
              <a:sym typeface="+mn-ea"/>
            </a:endParaRPr>
          </a:p>
        </p:txBody>
      </p:sp>
      <p:sp>
        <p:nvSpPr>
          <p:cNvPr id="14" name="AutoShape 14"/>
          <p:cNvSpPr/>
          <p:nvPr/>
        </p:nvSpPr>
        <p:spPr>
          <a:xfrm>
            <a:off x="5897880" y="6257792"/>
            <a:ext cx="6492240" cy="0"/>
          </a:xfrm>
          <a:prstGeom prst="line">
            <a:avLst/>
          </a:prstGeom>
          <a:ln w="19050" cap="flat">
            <a:solidFill>
              <a:srgbClr val="F6B99D"/>
            </a:solidFill>
            <a:prstDash val="solid"/>
            <a:headEnd type="none" w="sm" len="sm"/>
            <a:tailEnd type="none" w="sm" len="sm"/>
          </a:ln>
        </p:spPr>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DIAGRAM_VIRTUALLY_FRAME" val="{&quot;height&quot;:517.868188976378,&quot;left&quot;:81,&quot;top&quot;:211.13181102362205,&quot;width&quot;:1278}"/>
</p:tagLst>
</file>

<file path=ppt/tags/tag6.xml><?xml version="1.0" encoding="utf-8"?>
<p:tagLst xmlns:p="http://schemas.openxmlformats.org/presentationml/2006/main">
  <p:tag name="KSO_WM_DIAGRAM_VIRTUALLY_FRAME" val="{&quot;height&quot;:517.868188976378,&quot;left&quot;:81,&quot;top&quot;:211.13181102362205,&quot;width&quot;:1278}"/>
</p:tagLst>
</file>

<file path=ppt/tags/tag7.xml><?xml version="1.0" encoding="utf-8"?>
<p:tagLst xmlns:p="http://schemas.openxmlformats.org/presentationml/2006/main">
  <p:tag name="KSO_WM_DIAGRAM_VIRTUALLY_FRAME" val="{&quot;height&quot;:713.85,&quot;left&quot;:81,&quot;top&quot;:45,&quot;width&quot;:1278}"/>
</p:tagLst>
</file>

<file path=ppt/tags/tag8.xml><?xml version="1.0" encoding="utf-8"?>
<p:tagLst xmlns:p="http://schemas.openxmlformats.org/presentationml/2006/main">
  <p:tag name="KSO_WM_DIAGRAM_VIRTUALLY_FRAME" val="{&quot;height&quot;:713.85,&quot;left&quot;:81,&quot;top&quot;:45,&quot;width&quot;:1278}"/>
</p:tagLst>
</file>

<file path=ppt/tags/tag9.xml><?xml version="1.0" encoding="utf-8"?>
<p:tagLst xmlns:p="http://schemas.openxmlformats.org/presentationml/2006/main">
  <p:tag name="KSO_WM_DIAGRAM_VIRTUALLY_FRAME" val="{&quot;height&quot;:713.85,&quot;left&quot;:81,&quot;top&quot;:45,&quot;width&quot;:1278}"/>
</p:tagLst>
</file>

<file path=ppt/tags/tag10.xml><?xml version="1.0" encoding="utf-8"?>
<p:tagLst xmlns:p="http://schemas.openxmlformats.org/presentationml/2006/main">
  <p:tag name="KSO_WM_DIAGRAM_VIRTUALLY_FRAME" val="{&quot;height&quot;:713.85,&quot;left&quot;:81,&quot;top&quot;:45,&quot;width&quot;:1278}"/>
</p:tagLst>
</file>

<file path=ppt/tags/tag11.xml><?xml version="1.0" encoding="utf-8"?>
<p:tagLst xmlns:p="http://schemas.openxmlformats.org/presentationml/2006/main">
  <p:tag name="KSO_WM_DIAGRAM_VIRTUALLY_FRAME" val="{&quot;height&quot;:684,&quot;left&quot;:81,&quot;top&quot;:45,&quot;width&quot;:1278}"/>
</p:tagLst>
</file>

<file path=ppt/tags/tag12.xml><?xml version="1.0" encoding="utf-8"?>
<p:tagLst xmlns:p="http://schemas.openxmlformats.org/presentationml/2006/main">
  <p:tag name="KSO_WM_DIAGRAM_VIRTUALLY_FRAME" val="{&quot;height&quot;:684,&quot;left&quot;:81,&quot;top&quot;:45,&quot;width&quot;:1278}"/>
</p:tagLst>
</file>

<file path=ppt/tags/tag13.xml><?xml version="1.0" encoding="utf-8"?>
<p:tagLst xmlns:p="http://schemas.openxmlformats.org/presentationml/2006/main">
  <p:tag name="KSO_WM_DIAGRAM_VIRTUALLY_FRAME" val="{&quot;height&quot;:699.2134645669294,&quot;left&quot;:72.53606299212586,&quot;top&quot;:91.88511811023622,&quot;width&quot;:1360.1811023622054}"/>
</p:tagLst>
</file>

<file path=ppt/tags/tag14.xml><?xml version="1.0" encoding="utf-8"?>
<p:tagLst xmlns:p="http://schemas.openxmlformats.org/presentationml/2006/main">
  <p:tag name="KSO_WM_DIAGRAM_VIRTUALLY_FRAME" val="{&quot;height&quot;:699.2134645669294,&quot;left&quot;:72.53606299212586,&quot;top&quot;:91.88511811023622,&quot;width&quot;:1360.1811023622054}"/>
</p:tagLst>
</file>

<file path=ppt/tags/tag15.xml><?xml version="1.0" encoding="utf-8"?>
<p:tagLst xmlns:p="http://schemas.openxmlformats.org/presentationml/2006/main">
  <p:tag name="KSO_WPP_MARK_KEY" val="072db217-af38-49b9-98e0-1a06d5a1749b"/>
  <p:tag name="COMMONDATA" val="eyJoZGlkIjoiODM5MTNjZTQyOWQxNzdjMTkyMmVhYWQ1OTA5OTI2NmMifQ=="/>
  <p:tag name="commondata" val="eyJoZGlkIjoiNzlkNTQxYTE4ZDFlOTE3NGEyYmQ1YWZmMTQ1MjllMTE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6508</Words>
  <Application>WPS 演示</Application>
  <PresentationFormat>On-screen Show (4:3)</PresentationFormat>
  <Paragraphs>211</Paragraphs>
  <Slides>23</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23</vt:i4>
      </vt:variant>
    </vt:vector>
  </HeadingPairs>
  <TitlesOfParts>
    <vt:vector size="43" baseType="lpstr">
      <vt:lpstr>Arial</vt:lpstr>
      <vt:lpstr>宋体</vt:lpstr>
      <vt:lpstr>Wingdings</vt:lpstr>
      <vt:lpstr>造字工房尚黑体 粗体</vt:lpstr>
      <vt:lpstr>华康黑体W7宽汉音上1L</vt:lpstr>
      <vt:lpstr>Algerian</vt:lpstr>
      <vt:lpstr>Arial Rounded MT Bold</vt:lpstr>
      <vt:lpstr>字由点字典黑 65J</vt:lpstr>
      <vt:lpstr>黑体</vt:lpstr>
      <vt:lpstr>隶书2万字</vt:lpstr>
      <vt:lpstr>Open Sans</vt:lpstr>
      <vt:lpstr>微软雅黑</vt:lpstr>
      <vt:lpstr>Arial Unicode MS</vt:lpstr>
      <vt:lpstr>Calibri</vt:lpstr>
      <vt:lpstr>造字工房形黑体 粗体</vt:lpstr>
      <vt:lpstr>Microsoft Sans Serif</vt:lpstr>
      <vt:lpstr>Arial</vt:lpstr>
      <vt:lpstr>Wingdings</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多彩莫兰迪风答辩PPT演示文稿</dc:title>
  <dc:creator/>
  <cp:lastModifiedBy>文彧婕</cp:lastModifiedBy>
  <cp:revision>10</cp:revision>
  <dcterms:created xsi:type="dcterms:W3CDTF">2024-12-04T13:48:00Z</dcterms:created>
  <dcterms:modified xsi:type="dcterms:W3CDTF">2024-12-04T14:00:11Z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F7EA28574E7AD0322CC94F67AA402BF2_43</vt:lpwstr>
  </property>
  <property fmtid="{D5CDD505-2E9C-101B-9397-08002B2CF9AE}" pid="3" name="KSOProductBuildVer">
    <vt:lpwstr>2052-12.1.0.17140</vt:lpwstr>
  </property>
</Properties>
</file>