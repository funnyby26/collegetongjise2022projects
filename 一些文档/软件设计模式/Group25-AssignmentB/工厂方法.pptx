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handoutMasterIdLst>
    <p:handoutMasterId r:id="rId6"/>
  </p:handoutMasterIdLst>
  <p:sldIdLst>
    <p:sldId id="293" r:id="rId3"/>
    <p:sldId id="294" r:id="rId4"/>
  </p:sldIdLst>
  <p:sldSz cx="18288000" cy="10287000"/>
  <p:notesSz cx="6858000" cy="9144000"/>
  <p:embeddedFontLst>
    <p:embeddedFont>
      <p:font typeface="Calibri" panose="020F0502020204030204" charset="0"/>
      <p:regular r:id="rId11"/>
      <p:bold r:id="rId12"/>
      <p:italic r:id="rId13"/>
      <p:boldItalic r:id="rId14"/>
    </p:embeddedFont>
    <p:embeddedFont>
      <p:font typeface="黑体" panose="02010609060101010101" charset="-122"/>
      <p:regular r:id="rId15"/>
    </p:embeddedFont>
  </p:embeddedFontLst>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9" userDrawn="1">
          <p15:clr>
            <a:srgbClr val="A4A3A4"/>
          </p15:clr>
        </p15:guide>
        <p15:guide id="2" pos="294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ubaoying" initials="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495AB"/>
    <a:srgbClr val="E5DED8"/>
    <a:srgbClr val="D5E0E7"/>
    <a:srgbClr val="F6B99D"/>
    <a:srgbClr val="4F80BD"/>
    <a:srgbClr val="FCE6DF"/>
    <a:srgbClr val="96B9CF"/>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039"/>
        <p:guide pos="294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9.xml"/><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commentAuthors" Target="commentAuthor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2" Type="http://schemas.openxmlformats.org/officeDocument/2006/relationships/slideLayout" Target="../slideLayouts/slideLayout7.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6" Type="http://schemas.openxmlformats.org/officeDocument/2006/relationships/slideLayout" Target="../slideLayouts/slideLayout7.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grpSp>
        <p:nvGrpSpPr>
          <p:cNvPr id="3" name="Group 3"/>
          <p:cNvGrpSpPr/>
          <p:nvPr/>
        </p:nvGrpSpPr>
        <p:grpSpPr>
          <a:xfrm rot="0">
            <a:off x="13634448" y="6377143"/>
            <a:ext cx="9521218" cy="9999086"/>
            <a:chOff x="0" y="0"/>
            <a:chExt cx="12694958" cy="13332115"/>
          </a:xfrm>
        </p:grpSpPr>
        <p:pic>
          <p:nvPicPr>
            <p:cNvPr id="4"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7" name="对象1"/>
          <p:cNvSpPr/>
          <p:nvPr>
            <p:custDataLst>
              <p:tags r:id="rId5"/>
            </p:custDataLst>
          </p:nvPr>
        </p:nvSpPr>
        <p:spPr>
          <a:xfrm>
            <a:off x="6458001" y="2818180"/>
            <a:ext cx="9859736" cy="1711360"/>
          </a:xfrm>
          <a:custGeom>
            <a:avLst/>
            <a:gdLst>
              <a:gd name="connsiteX0" fmla="*/ 1233102 w 7588182"/>
              <a:gd name="connsiteY0" fmla="*/ 1280160 h 1280160"/>
              <a:gd name="connsiteX1" fmla="*/ 1196526 w 7588182"/>
              <a:gd name="connsiteY1" fmla="*/ 1261872 h 1280160"/>
              <a:gd name="connsiteX2" fmla="*/ 1178238 w 7588182"/>
              <a:gd name="connsiteY2" fmla="*/ 1252728 h 1280160"/>
              <a:gd name="connsiteX3" fmla="*/ 16950 w 7588182"/>
              <a:gd name="connsiteY3" fmla="*/ 82296 h 1280160"/>
              <a:gd name="connsiteX4" fmla="*/ 53526 w 7588182"/>
              <a:gd name="connsiteY4" fmla="*/ 0 h 1280160"/>
              <a:gd name="connsiteX5" fmla="*/ 7398879 w 7588182"/>
              <a:gd name="connsiteY5" fmla="*/ 0 h 1280160"/>
              <a:gd name="connsiteX6" fmla="*/ 7588182 w 7588182"/>
              <a:gd name="connsiteY6" fmla="*/ 54864 h 1280160"/>
              <a:gd name="connsiteX7" fmla="*/ 7588182 w 7588182"/>
              <a:gd name="connsiteY7" fmla="*/ 1234440 h 1280160"/>
              <a:gd name="connsiteX8" fmla="*/ 7542462 w 7588182"/>
              <a:gd name="connsiteY8" fmla="*/ 1280160 h 1280160"/>
              <a:gd name="connsiteX9" fmla="*/ 1233102 w 7588182"/>
              <a:gd name="connsiteY9" fmla="*/ 1280160 h 1280160"/>
              <a:gd name="connsiteX0-1" fmla="*/ 1233102 w 7588182"/>
              <a:gd name="connsiteY0-2" fmla="*/ 1280160 h 1280160"/>
              <a:gd name="connsiteX1-3" fmla="*/ 1196526 w 7588182"/>
              <a:gd name="connsiteY1-4" fmla="*/ 1261872 h 1280160"/>
              <a:gd name="connsiteX2-5" fmla="*/ 1178238 w 7588182"/>
              <a:gd name="connsiteY2-6" fmla="*/ 1252728 h 1280160"/>
              <a:gd name="connsiteX3-7" fmla="*/ 16950 w 7588182"/>
              <a:gd name="connsiteY3-8" fmla="*/ 82296 h 1280160"/>
              <a:gd name="connsiteX4-9" fmla="*/ 53526 w 7588182"/>
              <a:gd name="connsiteY4-10" fmla="*/ 0 h 1280160"/>
              <a:gd name="connsiteX5-11" fmla="*/ 7398879 w 7588182"/>
              <a:gd name="connsiteY5-12" fmla="*/ 0 h 1280160"/>
              <a:gd name="connsiteX6-13" fmla="*/ 7421928 w 7588182"/>
              <a:gd name="connsiteY6-14" fmla="*/ 77535 h 1280160"/>
              <a:gd name="connsiteX7-15" fmla="*/ 7588182 w 7588182"/>
              <a:gd name="connsiteY7-16" fmla="*/ 1234440 h 1280160"/>
              <a:gd name="connsiteX8-17" fmla="*/ 7542462 w 7588182"/>
              <a:gd name="connsiteY8-18" fmla="*/ 1280160 h 1280160"/>
              <a:gd name="connsiteX9-19" fmla="*/ 1233102 w 7588182"/>
              <a:gd name="connsiteY9-20" fmla="*/ 1280160 h 1280160"/>
              <a:gd name="connsiteX0-21" fmla="*/ 1233102 w 7545854"/>
              <a:gd name="connsiteY0-22" fmla="*/ 1280160 h 1280160"/>
              <a:gd name="connsiteX1-23" fmla="*/ 1196526 w 7545854"/>
              <a:gd name="connsiteY1-24" fmla="*/ 1261872 h 1280160"/>
              <a:gd name="connsiteX2-25" fmla="*/ 1178238 w 7545854"/>
              <a:gd name="connsiteY2-26" fmla="*/ 1252728 h 1280160"/>
              <a:gd name="connsiteX3-27" fmla="*/ 16950 w 7545854"/>
              <a:gd name="connsiteY3-28" fmla="*/ 82296 h 1280160"/>
              <a:gd name="connsiteX4-29" fmla="*/ 53526 w 7545854"/>
              <a:gd name="connsiteY4-30" fmla="*/ 0 h 1280160"/>
              <a:gd name="connsiteX5-31" fmla="*/ 7398879 w 7545854"/>
              <a:gd name="connsiteY5-32" fmla="*/ 0 h 1280160"/>
              <a:gd name="connsiteX6-33" fmla="*/ 7421928 w 7545854"/>
              <a:gd name="connsiteY6-34" fmla="*/ 77535 h 1280160"/>
              <a:gd name="connsiteX7-35" fmla="*/ 7421928 w 7545854"/>
              <a:gd name="connsiteY7-36" fmla="*/ 1158870 h 1280160"/>
              <a:gd name="connsiteX8-37" fmla="*/ 7542462 w 7545854"/>
              <a:gd name="connsiteY8-38" fmla="*/ 1280160 h 1280160"/>
              <a:gd name="connsiteX9-39" fmla="*/ 1233102 w 7545854"/>
              <a:gd name="connsiteY9-40" fmla="*/ 1280160 h 1280160"/>
              <a:gd name="connsiteX0-41" fmla="*/ 1233102 w 7428646"/>
              <a:gd name="connsiteY0-42" fmla="*/ 1280160 h 1287717"/>
              <a:gd name="connsiteX1-43" fmla="*/ 1196526 w 7428646"/>
              <a:gd name="connsiteY1-44" fmla="*/ 1261872 h 1287717"/>
              <a:gd name="connsiteX2-45" fmla="*/ 1178238 w 7428646"/>
              <a:gd name="connsiteY2-46" fmla="*/ 1252728 h 1287717"/>
              <a:gd name="connsiteX3-47" fmla="*/ 16950 w 7428646"/>
              <a:gd name="connsiteY3-48" fmla="*/ 82296 h 1287717"/>
              <a:gd name="connsiteX4-49" fmla="*/ 53526 w 7428646"/>
              <a:gd name="connsiteY4-50" fmla="*/ 0 h 1287717"/>
              <a:gd name="connsiteX5-51" fmla="*/ 7398879 w 7428646"/>
              <a:gd name="connsiteY5-52" fmla="*/ 0 h 1287717"/>
              <a:gd name="connsiteX6-53" fmla="*/ 7421928 w 7428646"/>
              <a:gd name="connsiteY6-54" fmla="*/ 77535 h 1287717"/>
              <a:gd name="connsiteX7-55" fmla="*/ 7421928 w 7428646"/>
              <a:gd name="connsiteY7-56" fmla="*/ 1158870 h 1287717"/>
              <a:gd name="connsiteX8-57" fmla="*/ 7413993 w 7428646"/>
              <a:gd name="connsiteY8-58" fmla="*/ 1287717 h 1287717"/>
              <a:gd name="connsiteX9-59" fmla="*/ 1233102 w 7428646"/>
              <a:gd name="connsiteY9-60" fmla="*/ 1280160 h 128771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428646" h="1287717">
                <a:moveTo>
                  <a:pt x="1233102" y="1280160"/>
                </a:moveTo>
                <a:cubicBezTo>
                  <a:pt x="1214814" y="1280160"/>
                  <a:pt x="1205670" y="1280160"/>
                  <a:pt x="1196526" y="1261872"/>
                </a:cubicBezTo>
                <a:cubicBezTo>
                  <a:pt x="1187382" y="1261872"/>
                  <a:pt x="1187382" y="1261872"/>
                  <a:pt x="1178238" y="1252728"/>
                </a:cubicBezTo>
                <a:lnTo>
                  <a:pt x="16950" y="82296"/>
                </a:lnTo>
                <a:cubicBezTo>
                  <a:pt x="-19626" y="54864"/>
                  <a:pt x="7806" y="0"/>
                  <a:pt x="53526" y="0"/>
                </a:cubicBezTo>
                <a:lnTo>
                  <a:pt x="7398879" y="0"/>
                </a:lnTo>
                <a:cubicBezTo>
                  <a:pt x="7426311" y="0"/>
                  <a:pt x="7421928" y="40959"/>
                  <a:pt x="7421928" y="77535"/>
                </a:cubicBezTo>
                <a:lnTo>
                  <a:pt x="7421928" y="1158870"/>
                </a:lnTo>
                <a:cubicBezTo>
                  <a:pt x="7421928" y="1186302"/>
                  <a:pt x="7441425" y="1287717"/>
                  <a:pt x="7413993" y="1287717"/>
                </a:cubicBezTo>
                <a:lnTo>
                  <a:pt x="1233102" y="1280160"/>
                </a:lnTo>
              </a:path>
            </a:pathLst>
          </a:custGeom>
          <a:noFill/>
          <a:ln w="12700">
            <a:gradFill>
              <a:gsLst>
                <a:gs pos="100000">
                  <a:schemeClr val="accent1">
                    <a:lumMod val="20000"/>
                    <a:lumOff val="80000"/>
                    <a:alpha val="0"/>
                  </a:schemeClr>
                </a:gs>
                <a:gs pos="2000">
                  <a:schemeClr val="accent1">
                    <a:alpha val="10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96000" tIns="0" rIns="0" bIns="0" numCol="1" spcCol="0" rtlCol="0" fromWordArt="0" anchor="ctr" anchorCtr="0" forceAA="0" compatLnSpc="1">
            <a:noAutofit/>
          </a:bodyPr>
          <a:p>
            <a:pPr>
              <a:lnSpc>
                <a:spcPct val="110000"/>
              </a:lnSpc>
              <a:spcBef>
                <a:spcPct val="0"/>
              </a:spcBef>
              <a:spcAft>
                <a:spcPct val="0"/>
              </a:spcAft>
            </a:pPr>
            <a:r>
              <a:rPr lang="zh-CN" altLang="en-US" sz="1600" dirty="0">
                <a:solidFill>
                  <a:schemeClr val="tx1">
                    <a:lumMod val="85000"/>
                    <a:lumOff val="15000"/>
                  </a:schemeClr>
                </a:solidFill>
                <a:latin typeface="+mn-ea"/>
                <a:cs typeface="+mn-ea"/>
                <a:sym typeface="+mn-ea"/>
              </a:rPr>
              <a:t>The creation process had serious issues. Without a standard way to create heroes, they could be initialized in different ways, which caused errors and inconsistencies. Since the Hero class directly relied on the Information system for data, any changes to the data structure meant the Hero class had to be updated too. </a:t>
            </a:r>
            <a:endParaRPr lang="zh-CN" altLang="en-US" sz="1600" dirty="0">
              <a:solidFill>
                <a:schemeClr val="tx1">
                  <a:lumMod val="85000"/>
                  <a:lumOff val="15000"/>
                </a:schemeClr>
              </a:solidFill>
              <a:latin typeface="+mn-ea"/>
              <a:cs typeface="+mn-ea"/>
              <a:sym typeface="+mn-ea"/>
            </a:endParaRPr>
          </a:p>
        </p:txBody>
      </p:sp>
      <p:sp>
        <p:nvSpPr>
          <p:cNvPr id="8" name="对象2"/>
          <p:cNvSpPr/>
          <p:nvPr>
            <p:custDataLst>
              <p:tags r:id="rId6"/>
            </p:custDataLst>
          </p:nvPr>
        </p:nvSpPr>
        <p:spPr>
          <a:xfrm>
            <a:off x="6457157" y="5564254"/>
            <a:ext cx="9860633" cy="1701317"/>
          </a:xfrm>
          <a:custGeom>
            <a:avLst/>
            <a:gdLst>
              <a:gd name="connsiteX0" fmla="*/ 1233102 w 7588182"/>
              <a:gd name="connsiteY0" fmla="*/ 0 h 1280160"/>
              <a:gd name="connsiteX1" fmla="*/ 1196526 w 7588182"/>
              <a:gd name="connsiteY1" fmla="*/ 18288 h 1280160"/>
              <a:gd name="connsiteX2" fmla="*/ 1178238 w 7588182"/>
              <a:gd name="connsiteY2" fmla="*/ 27432 h 1280160"/>
              <a:gd name="connsiteX3" fmla="*/ 16950 w 7588182"/>
              <a:gd name="connsiteY3" fmla="*/ 1197864 h 1280160"/>
              <a:gd name="connsiteX4" fmla="*/ 53526 w 7588182"/>
              <a:gd name="connsiteY4" fmla="*/ 1280160 h 1280160"/>
              <a:gd name="connsiteX5" fmla="*/ 7542462 w 7588182"/>
              <a:gd name="connsiteY5" fmla="*/ 1280160 h 1280160"/>
              <a:gd name="connsiteX6" fmla="*/ 7588182 w 7588182"/>
              <a:gd name="connsiteY6" fmla="*/ 1234440 h 1280160"/>
              <a:gd name="connsiteX7" fmla="*/ 7588182 w 7588182"/>
              <a:gd name="connsiteY7" fmla="*/ 54864 h 1280160"/>
              <a:gd name="connsiteX8" fmla="*/ 7300637 w 7588182"/>
              <a:gd name="connsiteY8" fmla="*/ 0 h 1280160"/>
              <a:gd name="connsiteX9" fmla="*/ 1233102 w 7588182"/>
              <a:gd name="connsiteY9" fmla="*/ 0 h 1280160"/>
              <a:gd name="connsiteX0-1" fmla="*/ 1233102 w 7588182"/>
              <a:gd name="connsiteY0-2" fmla="*/ 0 h 1280160"/>
              <a:gd name="connsiteX1-3" fmla="*/ 1196526 w 7588182"/>
              <a:gd name="connsiteY1-4" fmla="*/ 18288 h 1280160"/>
              <a:gd name="connsiteX2-5" fmla="*/ 1178238 w 7588182"/>
              <a:gd name="connsiteY2-6" fmla="*/ 27432 h 1280160"/>
              <a:gd name="connsiteX3-7" fmla="*/ 16950 w 7588182"/>
              <a:gd name="connsiteY3-8" fmla="*/ 1197864 h 1280160"/>
              <a:gd name="connsiteX4-9" fmla="*/ 53526 w 7588182"/>
              <a:gd name="connsiteY4-10" fmla="*/ 1280160 h 1280160"/>
              <a:gd name="connsiteX5-11" fmla="*/ 7542462 w 7588182"/>
              <a:gd name="connsiteY5-12" fmla="*/ 1280160 h 1280160"/>
              <a:gd name="connsiteX6-13" fmla="*/ 7588182 w 7588182"/>
              <a:gd name="connsiteY6-14" fmla="*/ 1234440 h 1280160"/>
              <a:gd name="connsiteX7-15" fmla="*/ 7421928 w 7588182"/>
              <a:gd name="connsiteY7-16" fmla="*/ 77535 h 1280160"/>
              <a:gd name="connsiteX8-17" fmla="*/ 7300637 w 7588182"/>
              <a:gd name="connsiteY8-18" fmla="*/ 0 h 1280160"/>
              <a:gd name="connsiteX9-19" fmla="*/ 1233102 w 7588182"/>
              <a:gd name="connsiteY9-20" fmla="*/ 0 h 1280160"/>
              <a:gd name="connsiteX0-21" fmla="*/ 1233102 w 7546015"/>
              <a:gd name="connsiteY0-22" fmla="*/ 0 h 1280160"/>
              <a:gd name="connsiteX1-23" fmla="*/ 1196526 w 7546015"/>
              <a:gd name="connsiteY1-24" fmla="*/ 18288 h 1280160"/>
              <a:gd name="connsiteX2-25" fmla="*/ 1178238 w 7546015"/>
              <a:gd name="connsiteY2-26" fmla="*/ 27432 h 1280160"/>
              <a:gd name="connsiteX3-27" fmla="*/ 16950 w 7546015"/>
              <a:gd name="connsiteY3-28" fmla="*/ 1197864 h 1280160"/>
              <a:gd name="connsiteX4-29" fmla="*/ 53526 w 7546015"/>
              <a:gd name="connsiteY4-30" fmla="*/ 1280160 h 1280160"/>
              <a:gd name="connsiteX5-31" fmla="*/ 7542462 w 7546015"/>
              <a:gd name="connsiteY5-32" fmla="*/ 1280160 h 1280160"/>
              <a:gd name="connsiteX6-33" fmla="*/ 7429485 w 7546015"/>
              <a:gd name="connsiteY6-34" fmla="*/ 1241997 h 1280160"/>
              <a:gd name="connsiteX7-35" fmla="*/ 7421928 w 7546015"/>
              <a:gd name="connsiteY7-36" fmla="*/ 77535 h 1280160"/>
              <a:gd name="connsiteX8-37" fmla="*/ 7300637 w 7546015"/>
              <a:gd name="connsiteY8-38" fmla="*/ 0 h 1280160"/>
              <a:gd name="connsiteX9-39" fmla="*/ 1233102 w 7546015"/>
              <a:gd name="connsiteY9-40" fmla="*/ 0 h 1280160"/>
              <a:gd name="connsiteX0-41" fmla="*/ 1233102 w 7429485"/>
              <a:gd name="connsiteY0-42" fmla="*/ 0 h 1280160"/>
              <a:gd name="connsiteX1-43" fmla="*/ 1196526 w 7429485"/>
              <a:gd name="connsiteY1-44" fmla="*/ 18288 h 1280160"/>
              <a:gd name="connsiteX2-45" fmla="*/ 1178238 w 7429485"/>
              <a:gd name="connsiteY2-46" fmla="*/ 27432 h 1280160"/>
              <a:gd name="connsiteX3-47" fmla="*/ 16950 w 7429485"/>
              <a:gd name="connsiteY3-48" fmla="*/ 1197864 h 1280160"/>
              <a:gd name="connsiteX4-49" fmla="*/ 53526 w 7429485"/>
              <a:gd name="connsiteY4-50" fmla="*/ 1280160 h 1280160"/>
              <a:gd name="connsiteX5-51" fmla="*/ 7383765 w 7429485"/>
              <a:gd name="connsiteY5-52" fmla="*/ 1280160 h 1280160"/>
              <a:gd name="connsiteX6-53" fmla="*/ 7429485 w 7429485"/>
              <a:gd name="connsiteY6-54" fmla="*/ 1241997 h 1280160"/>
              <a:gd name="connsiteX7-55" fmla="*/ 7421928 w 7429485"/>
              <a:gd name="connsiteY7-56" fmla="*/ 77535 h 1280160"/>
              <a:gd name="connsiteX8-57" fmla="*/ 7300637 w 7429485"/>
              <a:gd name="connsiteY8-58" fmla="*/ 0 h 1280160"/>
              <a:gd name="connsiteX9-59" fmla="*/ 1233102 w 7429485"/>
              <a:gd name="connsiteY9-60" fmla="*/ 0 h 128016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429485" h="1280160">
                <a:moveTo>
                  <a:pt x="1233102" y="0"/>
                </a:moveTo>
                <a:cubicBezTo>
                  <a:pt x="1214814" y="0"/>
                  <a:pt x="1205670" y="9144"/>
                  <a:pt x="1196526" y="18288"/>
                </a:cubicBezTo>
                <a:cubicBezTo>
                  <a:pt x="1187382" y="18288"/>
                  <a:pt x="1187382" y="27432"/>
                  <a:pt x="1178238" y="27432"/>
                </a:cubicBezTo>
                <a:lnTo>
                  <a:pt x="16950" y="1197864"/>
                </a:lnTo>
                <a:cubicBezTo>
                  <a:pt x="-19626" y="1225296"/>
                  <a:pt x="7806" y="1280160"/>
                  <a:pt x="53526" y="1280160"/>
                </a:cubicBezTo>
                <a:lnTo>
                  <a:pt x="7383765" y="1280160"/>
                </a:lnTo>
                <a:cubicBezTo>
                  <a:pt x="7411197" y="1280160"/>
                  <a:pt x="7429485" y="1269429"/>
                  <a:pt x="7429485" y="1241997"/>
                </a:cubicBezTo>
                <a:lnTo>
                  <a:pt x="7421928" y="77535"/>
                </a:lnTo>
                <a:cubicBezTo>
                  <a:pt x="7421928" y="40959"/>
                  <a:pt x="7328069" y="0"/>
                  <a:pt x="7300637" y="0"/>
                </a:cubicBezTo>
                <a:lnTo>
                  <a:pt x="1233102" y="0"/>
                </a:lnTo>
              </a:path>
            </a:pathLst>
          </a:custGeom>
          <a:noFill/>
          <a:ln w="12700">
            <a:gradFill>
              <a:gsLst>
                <a:gs pos="99000">
                  <a:schemeClr val="bg1"/>
                </a:gs>
                <a:gs pos="50000">
                  <a:schemeClr val="accent6">
                    <a:lumMod val="20000"/>
                    <a:lumOff val="80000"/>
                  </a:schemeClr>
                </a:gs>
                <a:gs pos="2000">
                  <a:schemeClr val="accent6">
                    <a:lumMod val="60000"/>
                    <a:lumOff val="40000"/>
                  </a:schemeClr>
                </a:gs>
              </a:gsLst>
              <a:lin ang="0" scaled="0"/>
            </a:gradFill>
          </a:ln>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1296000" tIns="0" rIns="0" bIns="0" numCol="1" spcCol="0" rtlCol="0" fromWordArt="0" anchor="ctr" anchorCtr="0" forceAA="0" compatLnSpc="1">
            <a:noAutofit/>
          </a:bodyPr>
          <a:p>
            <a:pPr>
              <a:lnSpc>
                <a:spcPct val="110000"/>
              </a:lnSpc>
              <a:spcBef>
                <a:spcPct val="0"/>
              </a:spcBef>
              <a:spcAft>
                <a:spcPct val="0"/>
              </a:spcAft>
            </a:pPr>
            <a:r>
              <a:rPr lang="zh-CN" altLang="en-US" sz="1600">
                <a:solidFill>
                  <a:schemeClr val="tx1">
                    <a:lumMod val="85000"/>
                    <a:lumOff val="15000"/>
                  </a:schemeClr>
                </a:solidFill>
                <a:latin typeface="+mn-ea"/>
                <a:cs typeface="+mn-ea"/>
                <a:sym typeface="+mn-ea"/>
              </a:rPr>
              <a:t>The system was rigid—adding or changing hero types required altering existing code, breaking the Open-Closed Principle. This made updates risky, as they could cause unexpected issues.</a:t>
            </a:r>
            <a:endParaRPr lang="zh-CN" altLang="en-US" sz="1600">
              <a:solidFill>
                <a:schemeClr val="tx1">
                  <a:lumMod val="85000"/>
                  <a:lumOff val="15000"/>
                </a:schemeClr>
              </a:solidFill>
              <a:latin typeface="+mn-ea"/>
              <a:cs typeface="+mn-ea"/>
              <a:sym typeface="+mn-ea"/>
            </a:endParaRPr>
          </a:p>
        </p:txBody>
      </p:sp>
      <p:sp>
        <p:nvSpPr>
          <p:cNvPr id="15" name="对象3"/>
          <p:cNvSpPr/>
          <p:nvPr>
            <p:custDataLst>
              <p:tags r:id="rId7"/>
            </p:custDataLst>
          </p:nvPr>
        </p:nvSpPr>
        <p:spPr>
          <a:xfrm>
            <a:off x="6437747" y="2368377"/>
            <a:ext cx="972181" cy="97218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chemeClr val="accent1"/>
          </a:solidFill>
          <a:ln w="25400">
            <a:solidFill>
              <a:srgbClr val="4F80BD"/>
            </a:solid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Autofit/>
          </a:bodyPr>
          <a:p>
            <a:pPr algn="ctr">
              <a:spcBef>
                <a:spcPct val="0"/>
              </a:spcBef>
              <a:spcAft>
                <a:spcPct val="0"/>
              </a:spcAft>
            </a:pPr>
            <a:r>
              <a:rPr lang="en-US" altLang="zh-CN" sz="2400" b="1">
                <a:solidFill>
                  <a:schemeClr val="lt1"/>
                </a:solidFill>
                <a:latin typeface="+mn-ea"/>
                <a:cs typeface="+mn-ea"/>
                <a:sym typeface="+mn-ea"/>
              </a:rPr>
              <a:t>01</a:t>
            </a:r>
            <a:endParaRPr lang="en-US" altLang="zh-CN" sz="2400" b="1">
              <a:solidFill>
                <a:schemeClr val="lt1"/>
              </a:solidFill>
              <a:latin typeface="+mn-ea"/>
              <a:cs typeface="+mn-ea"/>
              <a:sym typeface="+mn-ea"/>
            </a:endParaRPr>
          </a:p>
        </p:txBody>
      </p:sp>
      <p:sp>
        <p:nvSpPr>
          <p:cNvPr id="9" name="对象4"/>
          <p:cNvSpPr/>
          <p:nvPr>
            <p:custDataLst>
              <p:tags r:id="rId8"/>
            </p:custDataLst>
          </p:nvPr>
        </p:nvSpPr>
        <p:spPr>
          <a:xfrm>
            <a:off x="6437747" y="6761758"/>
            <a:ext cx="972181" cy="972181"/>
          </a:xfrm>
          <a:custGeom>
            <a:avLst/>
            <a:gdLst/>
            <a:ahLst/>
            <a:cxnLst/>
            <a:rect l="l" t="t" r="r" b="b"/>
            <a:pathLst>
              <a:path w="731520" h="731520">
                <a:moveTo>
                  <a:pt x="27432" y="292608"/>
                </a:moveTo>
                <a:cubicBezTo>
                  <a:pt x="-9144" y="329184"/>
                  <a:pt x="-9144" y="393192"/>
                  <a:pt x="27432" y="438912"/>
                </a:cubicBezTo>
                <a:lnTo>
                  <a:pt x="292608" y="694944"/>
                </a:lnTo>
                <a:cubicBezTo>
                  <a:pt x="329184" y="740664"/>
                  <a:pt x="393192" y="740664"/>
                  <a:pt x="438912" y="694944"/>
                </a:cubicBezTo>
                <a:lnTo>
                  <a:pt x="694944" y="438912"/>
                </a:lnTo>
                <a:cubicBezTo>
                  <a:pt x="740664" y="393192"/>
                  <a:pt x="740664" y="329184"/>
                  <a:pt x="694944" y="292608"/>
                </a:cubicBezTo>
                <a:lnTo>
                  <a:pt x="438912" y="27432"/>
                </a:lnTo>
                <a:cubicBezTo>
                  <a:pt x="393192" y="-9144"/>
                  <a:pt x="329184" y="-9144"/>
                  <a:pt x="292608" y="27432"/>
                </a:cubicBezTo>
                <a:lnTo>
                  <a:pt x="27432" y="292608"/>
                </a:lnTo>
              </a:path>
            </a:pathLst>
          </a:custGeom>
          <a:solidFill>
            <a:srgbClr val="F6B99D"/>
          </a:solidFill>
          <a:ln w="25400">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anchor="ctr">
            <a:noAutofit/>
          </a:bodyPr>
          <a:p>
            <a:pPr algn="ctr">
              <a:spcBef>
                <a:spcPct val="0"/>
              </a:spcBef>
              <a:spcAft>
                <a:spcPct val="0"/>
              </a:spcAft>
            </a:pPr>
            <a:r>
              <a:rPr lang="en-US" altLang="zh-CN" sz="2400" b="1">
                <a:solidFill>
                  <a:schemeClr val="lt1"/>
                </a:solidFill>
                <a:latin typeface="+mn-ea"/>
                <a:cs typeface="+mn-ea"/>
                <a:sym typeface="+mn-ea"/>
              </a:rPr>
              <a:t>02</a:t>
            </a:r>
            <a:endParaRPr lang="en-US" altLang="zh-CN" sz="2400" b="1">
              <a:solidFill>
                <a:schemeClr val="lt1"/>
              </a:solidFill>
              <a:latin typeface="+mn-ea"/>
              <a:cs typeface="+mn-ea"/>
              <a:sym typeface="+mn-ea"/>
            </a:endParaRPr>
          </a:p>
        </p:txBody>
      </p:sp>
      <p:sp>
        <p:nvSpPr>
          <p:cNvPr id="11" name="对象6"/>
          <p:cNvSpPr/>
          <p:nvPr>
            <p:custDataLst>
              <p:tags r:id="rId9"/>
            </p:custDataLst>
          </p:nvPr>
        </p:nvSpPr>
        <p:spPr>
          <a:xfrm>
            <a:off x="1969258" y="2431670"/>
            <a:ext cx="5430297" cy="5380806"/>
          </a:xfrm>
          <a:custGeom>
            <a:avLst/>
            <a:gdLst/>
            <a:ahLst/>
            <a:cxnLst/>
            <a:rect l="l" t="t" r="r" b="b"/>
            <a:pathLst>
              <a:path w="4059936" h="4059936">
                <a:moveTo>
                  <a:pt x="137160" y="2359152"/>
                </a:moveTo>
                <a:cubicBezTo>
                  <a:pt x="-45720" y="2176272"/>
                  <a:pt x="-45720" y="1883664"/>
                  <a:pt x="137160" y="1700784"/>
                </a:cubicBezTo>
                <a:lnTo>
                  <a:pt x="1700784" y="137160"/>
                </a:lnTo>
                <a:cubicBezTo>
                  <a:pt x="1883664" y="-45720"/>
                  <a:pt x="2176272" y="-45720"/>
                  <a:pt x="2359152" y="137160"/>
                </a:cubicBezTo>
                <a:lnTo>
                  <a:pt x="3931920" y="1700784"/>
                </a:lnTo>
                <a:cubicBezTo>
                  <a:pt x="4105656" y="1883664"/>
                  <a:pt x="4105656" y="2176272"/>
                  <a:pt x="3931920" y="2359152"/>
                </a:cubicBezTo>
                <a:lnTo>
                  <a:pt x="2359152" y="3931920"/>
                </a:lnTo>
                <a:cubicBezTo>
                  <a:pt x="2176272" y="4105656"/>
                  <a:pt x="1883664" y="4105656"/>
                  <a:pt x="1700784" y="3931920"/>
                </a:cubicBezTo>
                <a:lnTo>
                  <a:pt x="137160" y="2359152"/>
                </a:lnTo>
              </a:path>
            </a:pathLst>
          </a:custGeom>
          <a:solidFill>
            <a:schemeClr val="accent1">
              <a:lumMod val="30000"/>
              <a:lumOff val="70000"/>
              <a:alpha val="15000"/>
            </a:schemeClr>
          </a:solidFill>
        </p:spPr>
        <p:txBody>
          <a:bodyPr lIns="0" tIns="0" rIns="0" bIns="0">
            <a:noAutofit/>
          </a:bodyPr>
          <a:p>
            <a:endParaRPr lang="zh-CN" altLang="en-US" dirty="0">
              <a:solidFill>
                <a:schemeClr val="tx1"/>
              </a:solidFill>
              <a:latin typeface="+mn-ea"/>
            </a:endParaRPr>
          </a:p>
        </p:txBody>
      </p:sp>
      <p:sp>
        <p:nvSpPr>
          <p:cNvPr id="12" name="对象12"/>
          <p:cNvSpPr>
            <a:spLocks noChangeAspect="1"/>
          </p:cNvSpPr>
          <p:nvPr>
            <p:custDataLst>
              <p:tags r:id="rId10"/>
            </p:custDataLst>
          </p:nvPr>
        </p:nvSpPr>
        <p:spPr>
          <a:xfrm>
            <a:off x="2565900" y="3040127"/>
            <a:ext cx="4237357" cy="4163214"/>
          </a:xfrm>
          <a:custGeom>
            <a:avLst/>
            <a:gdLst/>
            <a:ahLst/>
            <a:cxnLst/>
            <a:rect l="l" t="t" r="r" b="b"/>
            <a:pathLst>
              <a:path w="2340864" h="2340864">
                <a:moveTo>
                  <a:pt x="987552" y="73152"/>
                </a:moveTo>
                <a:lnTo>
                  <a:pt x="73152" y="987552"/>
                </a:lnTo>
                <a:cubicBezTo>
                  <a:pt x="-27432" y="1088136"/>
                  <a:pt x="-27432" y="1252728"/>
                  <a:pt x="73152" y="1353312"/>
                </a:cubicBezTo>
                <a:lnTo>
                  <a:pt x="987552" y="2267712"/>
                </a:lnTo>
                <a:cubicBezTo>
                  <a:pt x="1088136" y="2368296"/>
                  <a:pt x="1252728" y="2368296"/>
                  <a:pt x="1353312" y="2267712"/>
                </a:cubicBezTo>
                <a:lnTo>
                  <a:pt x="2267712" y="1353312"/>
                </a:lnTo>
                <a:cubicBezTo>
                  <a:pt x="2368296" y="1252728"/>
                  <a:pt x="2368296" y="1088136"/>
                  <a:pt x="2267712" y="987552"/>
                </a:cubicBezTo>
                <a:lnTo>
                  <a:pt x="1353312" y="73152"/>
                </a:lnTo>
                <a:cubicBezTo>
                  <a:pt x="1252728" y="-27432"/>
                  <a:pt x="1088136" y="-27432"/>
                  <a:pt x="987552" y="73152"/>
                </a:cubicBezTo>
              </a:path>
            </a:pathLst>
          </a:custGeom>
          <a:noFill/>
          <a:ln w="53975">
            <a:solidFill>
              <a:srgbClr val="4F80BD"/>
            </a:solidFill>
          </a:ln>
        </p:spPr>
        <p:txBody>
          <a:bodyPr wrap="square" lIns="360000" tIns="0" rIns="360000" bIns="0" anchor="ctr" anchorCtr="0">
            <a:noAutofit/>
          </a:bodyPr>
          <a:p>
            <a:pPr algn="ctr">
              <a:spcBef>
                <a:spcPct val="0"/>
              </a:spcBef>
              <a:spcAft>
                <a:spcPct val="0"/>
              </a:spcAft>
            </a:pPr>
            <a:r>
              <a:rPr lang="en-US" altLang="zh-CN" sz="4400" b="1">
                <a:solidFill>
                  <a:schemeClr val="accent1"/>
                </a:solidFill>
                <a:latin typeface="+mn-ea"/>
                <a:cs typeface="+mn-ea"/>
                <a:sym typeface="+mn-ea"/>
              </a:rPr>
              <a:t>Problem</a:t>
            </a:r>
            <a:r>
              <a:rPr lang="en-US" altLang="zh-CN" sz="4400" b="1">
                <a:solidFill>
                  <a:schemeClr val="accent1"/>
                </a:solidFill>
                <a:latin typeface="+mn-ea"/>
                <a:cs typeface="+mn-ea"/>
                <a:sym typeface="+mn-ea"/>
              </a:rPr>
              <a:t>s</a:t>
            </a:r>
            <a:endParaRPr lang="en-US" altLang="zh-CN" sz="4400" b="1">
              <a:solidFill>
                <a:schemeClr val="accent1"/>
              </a:solidFill>
              <a:latin typeface="+mn-ea"/>
              <a:cs typeface="+mn-ea"/>
              <a:sym typeface="+mn-ea"/>
            </a:endParaRPr>
          </a:p>
        </p:txBody>
      </p:sp>
      <p:sp>
        <p:nvSpPr>
          <p:cNvPr id="10" name="文本框 9"/>
          <p:cNvSpPr txBox="1"/>
          <p:nvPr/>
        </p:nvSpPr>
        <p:spPr>
          <a:xfrm>
            <a:off x="7407910" y="7290435"/>
            <a:ext cx="3354705" cy="521970"/>
          </a:xfrm>
          <a:prstGeom prst="rect">
            <a:avLst/>
          </a:prstGeom>
          <a:noFill/>
        </p:spPr>
        <p:txBody>
          <a:bodyPr wrap="square" rtlCol="0">
            <a:spAutoFit/>
          </a:bodyPr>
          <a:p>
            <a:r>
              <a:rPr lang="zh-CN" altLang="en-US" sz="2800">
                <a:solidFill>
                  <a:srgbClr val="F6B99D"/>
                </a:solidFill>
                <a:latin typeface="+mn-ea"/>
                <a:cs typeface="+mn-ea"/>
                <a:sym typeface="+mn-ea"/>
              </a:rPr>
              <a:t>Poor flexibility</a:t>
            </a:r>
            <a:endParaRPr lang="zh-CN" altLang="en-US" sz="2800" b="1" dirty="0">
              <a:solidFill>
                <a:srgbClr val="F6B99D"/>
              </a:solidFill>
              <a:latin typeface="+mn-ea"/>
              <a:ea typeface="黑体" panose="02010609060101010101" charset="-122"/>
              <a:cs typeface="+mn-ea"/>
              <a:sym typeface="+mn-ea"/>
            </a:endParaRPr>
          </a:p>
        </p:txBody>
      </p:sp>
      <p:sp>
        <p:nvSpPr>
          <p:cNvPr id="13" name="文本框 12"/>
          <p:cNvSpPr txBox="1"/>
          <p:nvPr/>
        </p:nvSpPr>
        <p:spPr>
          <a:xfrm>
            <a:off x="7534910" y="2414270"/>
            <a:ext cx="2574290" cy="521970"/>
          </a:xfrm>
          <a:prstGeom prst="rect">
            <a:avLst/>
          </a:prstGeom>
          <a:noFill/>
        </p:spPr>
        <p:txBody>
          <a:bodyPr wrap="square" rtlCol="0">
            <a:spAutoFit/>
          </a:bodyPr>
          <a:p>
            <a:r>
              <a:rPr lang="zh-CN" altLang="en-US" sz="2800" b="1" dirty="0">
                <a:solidFill>
                  <a:srgbClr val="4F80BD"/>
                </a:solidFill>
                <a:latin typeface="黑体" panose="02010609060101010101" charset="-122"/>
                <a:ea typeface="黑体" panose="02010609060101010101" charset="-122"/>
                <a:cs typeface="+mn-ea"/>
                <a:sym typeface="+mn-ea"/>
              </a:rPr>
              <a:t>High coupling</a:t>
            </a:r>
            <a:endParaRPr lang="zh-CN" altLang="en-US" sz="2800" b="1" dirty="0">
              <a:solidFill>
                <a:srgbClr val="4F80BD"/>
              </a:solidFill>
              <a:latin typeface="黑体" panose="02010609060101010101" charset="-122"/>
              <a:ea typeface="黑体" panose="02010609060101010101" charset="-122"/>
              <a:cs typeface="+mn-ea"/>
              <a:sym typeface="+mn-ea"/>
            </a:endParaRPr>
          </a:p>
        </p:txBody>
      </p:sp>
    </p:spTree>
    <p:custDataLst>
      <p:tags r:id="rId1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a:xfrm rot="4188315">
            <a:off x="-3517084" y="-4769368"/>
            <a:ext cx="7773009" cy="7462089"/>
          </a:xfrm>
          <a:prstGeom prst="rect">
            <a:avLst/>
          </a:prstGeom>
        </p:spPr>
      </p:pic>
      <p:pic>
        <p:nvPicPr>
          <p:cNvPr id="3" name="Picture 3"/>
          <p:cNvPicPr>
            <a:picLocks noChangeAspect="1"/>
          </p:cNvPicPr>
          <p:nvPr/>
        </p:nvPicPr>
        <p:blipFill>
          <a:blip r:embed="rId2">
            <a:alphaModFix amt="26000"/>
            <a:extLst>
              <a:ext uri="{28A0092B-C50C-407E-A947-70E740481C1C}">
                <a14:useLocalDpi xmlns:a14="http://schemas.microsoft.com/office/drawing/2010/main" val="0"/>
              </a:ext>
            </a:extLst>
          </a:blip>
          <a:srcRect b="70248"/>
          <a:stretch>
            <a:fillRect/>
          </a:stretch>
        </p:blipFill>
        <p:spPr>
          <a:xfrm rot="812167">
            <a:off x="640080" y="7845425"/>
            <a:ext cx="17786985" cy="5080259"/>
          </a:xfrm>
          <a:prstGeom prst="rect">
            <a:avLst/>
          </a:prstGeom>
        </p:spPr>
      </p:pic>
      <p:grpSp>
        <p:nvGrpSpPr>
          <p:cNvPr id="4" name="Group 4"/>
          <p:cNvGrpSpPr/>
          <p:nvPr/>
        </p:nvGrpSpPr>
        <p:grpSpPr>
          <a:xfrm rot="0">
            <a:off x="13634448" y="6377143"/>
            <a:ext cx="9521218" cy="9999086"/>
            <a:chOff x="0" y="0"/>
            <a:chExt cx="12694958" cy="13332115"/>
          </a:xfrm>
        </p:grpSpPr>
        <p:pic>
          <p:nvPicPr>
            <p:cNvPr id="5"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rot="-1299492">
              <a:off x="1908412" y="1423094"/>
              <a:ext cx="9446518" cy="9068657"/>
            </a:xfrm>
            <a:prstGeom prst="rect">
              <a:avLst/>
            </a:prstGeom>
          </p:spPr>
        </p:pic>
        <p:pic>
          <p:nvPicPr>
            <p:cNvPr id="6"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rot="812167">
              <a:off x="930097" y="3283892"/>
              <a:ext cx="9446518" cy="9068657"/>
            </a:xfrm>
            <a:prstGeom prst="rect">
              <a:avLst/>
            </a:prstGeom>
          </p:spPr>
        </p:pic>
      </p:grpSp>
      <p:pic>
        <p:nvPicPr>
          <p:cNvPr id="7"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rot="2534271">
            <a:off x="-4337359" y="-3575806"/>
            <a:ext cx="6599853" cy="6335859"/>
          </a:xfrm>
          <a:prstGeom prst="rect">
            <a:avLst/>
          </a:prstGeom>
        </p:spPr>
      </p:pic>
      <p:sp>
        <p:nvSpPr>
          <p:cNvPr id="8" name="椭圆 7"/>
          <p:cNvSpPr/>
          <p:nvPr>
            <p:custDataLst>
              <p:tags r:id="rId5"/>
            </p:custDataLst>
          </p:nvPr>
        </p:nvSpPr>
        <p:spPr>
          <a:xfrm>
            <a:off x="3352768" y="7048633"/>
            <a:ext cx="11923631" cy="2530216"/>
          </a:xfrm>
          <a:prstGeom prst="ellipse">
            <a:avLst/>
          </a:prstGeom>
          <a:noFill/>
          <a:ln w="19050">
            <a:gradFill>
              <a:gsLst>
                <a:gs pos="31000">
                  <a:srgbClr val="AFC6FF">
                    <a:alpha val="0"/>
                  </a:srgbClr>
                </a:gs>
                <a:gs pos="77000">
                  <a:schemeClr val="accent1">
                    <a:lumMod val="60000"/>
                    <a:lumOff val="40000"/>
                    <a:alpha val="7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lt1"/>
              </a:solidFill>
            </a:endParaRPr>
          </a:p>
        </p:txBody>
      </p:sp>
      <p:sp>
        <p:nvSpPr>
          <p:cNvPr id="9" name="椭圆 8"/>
          <p:cNvSpPr/>
          <p:nvPr>
            <p:custDataLst>
              <p:tags r:id="rId6"/>
            </p:custDataLst>
          </p:nvPr>
        </p:nvSpPr>
        <p:spPr>
          <a:xfrm>
            <a:off x="4682145" y="7048633"/>
            <a:ext cx="9264333" cy="1848710"/>
          </a:xfrm>
          <a:prstGeom prst="ellipse">
            <a:avLst/>
          </a:prstGeom>
          <a:noFill/>
          <a:ln w="53975">
            <a:gradFill>
              <a:gsLst>
                <a:gs pos="38000">
                  <a:srgbClr val="AFC6FF">
                    <a:alpha val="0"/>
                  </a:srgbClr>
                </a:gs>
                <a:gs pos="85000">
                  <a:schemeClr val="accent1">
                    <a:alpha val="65000"/>
                  </a:schemeClr>
                </a:gs>
              </a:gsLst>
              <a:lin ang="546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algn="ctr"/>
            <a:endParaRPr lang="zh-CN" altLang="en-US">
              <a:solidFill>
                <a:schemeClr val="lt1"/>
              </a:solidFill>
            </a:endParaRPr>
          </a:p>
        </p:txBody>
      </p:sp>
      <p:sp>
        <p:nvSpPr>
          <p:cNvPr id="10" name="任意多边形 9"/>
          <p:cNvSpPr/>
          <p:nvPr>
            <p:custDataLst>
              <p:tags r:id="rId7"/>
            </p:custDataLst>
          </p:nvPr>
        </p:nvSpPr>
        <p:spPr>
          <a:xfrm>
            <a:off x="7743146" y="3273132"/>
            <a:ext cx="883881" cy="3129680"/>
          </a:xfrm>
          <a:custGeom>
            <a:avLst/>
            <a:gdLst>
              <a:gd name="connsiteX0" fmla="*/ 0 w 808"/>
              <a:gd name="connsiteY0" fmla="*/ 0 h 2861"/>
              <a:gd name="connsiteX1" fmla="*/ 808 w 808"/>
              <a:gd name="connsiteY1" fmla="*/ 159 h 2861"/>
              <a:gd name="connsiteX2" fmla="*/ 803 w 808"/>
              <a:gd name="connsiteY2" fmla="*/ 2623 h 2861"/>
              <a:gd name="connsiteX3" fmla="*/ 14 w 808"/>
              <a:gd name="connsiteY3" fmla="*/ 2861 h 2861"/>
              <a:gd name="connsiteX4" fmla="*/ 0 w 808"/>
              <a:gd name="connsiteY4" fmla="*/ 0 h 28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 h="2861">
                <a:moveTo>
                  <a:pt x="0" y="0"/>
                </a:moveTo>
                <a:lnTo>
                  <a:pt x="808" y="159"/>
                </a:lnTo>
                <a:lnTo>
                  <a:pt x="803" y="2623"/>
                </a:lnTo>
                <a:lnTo>
                  <a:pt x="14" y="2861"/>
                </a:lnTo>
                <a:lnTo>
                  <a:pt x="0" y="0"/>
                </a:lnTo>
                <a:close/>
              </a:path>
            </a:pathLst>
          </a:custGeom>
          <a:gradFill>
            <a:gsLst>
              <a:gs pos="54000">
                <a:srgbClr val="4F80BD"/>
              </a:gs>
              <a:gs pos="0">
                <a:srgbClr val="96B9CF"/>
              </a:gs>
              <a:gs pos="81000">
                <a:schemeClr val="tx2">
                  <a:lumMod val="40000"/>
                  <a:lumOff val="60000"/>
                </a:schemeClr>
              </a:gs>
              <a:gs pos="100000">
                <a:srgbClr val="D5E0E7"/>
              </a:gs>
            </a:gsLst>
            <a:lin ang="5400000" scaled="0"/>
          </a:gradFill>
          <a:ln>
            <a:gradFill>
              <a:gsLst>
                <a:gs pos="32000">
                  <a:srgbClr val="F5F8FF"/>
                </a:gs>
                <a:gs pos="0">
                  <a:srgbClr val="A5BEFF"/>
                </a:gs>
                <a:gs pos="100000">
                  <a:srgbClr val="F5F8FF"/>
                </a:gs>
                <a:gs pos="71000">
                  <a:srgbClr val="C3D4FF"/>
                </a:gs>
              </a:gsLst>
              <a:lin ang="16200000" scaled="0"/>
            </a:gradFill>
          </a:ln>
          <a:effectLst>
            <a:outerShdw blurRad="254000" dist="152400" dir="5400000" algn="t"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b="1" dirty="0">
                <a:solidFill>
                  <a:srgbClr val="FFFFFF"/>
                </a:solidFill>
                <a:latin typeface="+mn-ea"/>
                <a:cs typeface="+mn-ea"/>
                <a:sym typeface="+mn-ea"/>
              </a:rPr>
              <a:t>01</a:t>
            </a:r>
            <a:endParaRPr lang="en-US" altLang="zh-CN" b="1" dirty="0">
              <a:solidFill>
                <a:srgbClr val="FFFFFF"/>
              </a:solidFill>
              <a:latin typeface="+mn-ea"/>
              <a:cs typeface="+mn-ea"/>
              <a:sym typeface="+mn-ea"/>
            </a:endParaRPr>
          </a:p>
        </p:txBody>
      </p:sp>
      <p:sp>
        <p:nvSpPr>
          <p:cNvPr id="11" name="任意多边形 10"/>
          <p:cNvSpPr/>
          <p:nvPr>
            <p:custDataLst>
              <p:tags r:id="rId8"/>
            </p:custDataLst>
          </p:nvPr>
        </p:nvSpPr>
        <p:spPr>
          <a:xfrm>
            <a:off x="9196825" y="2458717"/>
            <a:ext cx="1323632" cy="4734447"/>
          </a:xfrm>
          <a:custGeom>
            <a:avLst/>
            <a:gdLst>
              <a:gd name="connsiteX0" fmla="*/ 0 w 1283"/>
              <a:gd name="connsiteY0" fmla="*/ 0 h 4589"/>
              <a:gd name="connsiteX1" fmla="*/ 1243 w 1283"/>
              <a:gd name="connsiteY1" fmla="*/ 473 h 4589"/>
              <a:gd name="connsiteX2" fmla="*/ 1283 w 1283"/>
              <a:gd name="connsiteY2" fmla="*/ 4117 h 4589"/>
              <a:gd name="connsiteX3" fmla="*/ 0 w 1283"/>
              <a:gd name="connsiteY3" fmla="*/ 4589 h 4589"/>
              <a:gd name="connsiteX4" fmla="*/ 0 w 1283"/>
              <a:gd name="connsiteY4" fmla="*/ 0 h 4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3" h="4589">
                <a:moveTo>
                  <a:pt x="0" y="0"/>
                </a:moveTo>
                <a:lnTo>
                  <a:pt x="1243" y="473"/>
                </a:lnTo>
                <a:lnTo>
                  <a:pt x="1283" y="4117"/>
                </a:lnTo>
                <a:lnTo>
                  <a:pt x="0" y="4589"/>
                </a:lnTo>
                <a:lnTo>
                  <a:pt x="0" y="0"/>
                </a:lnTo>
                <a:close/>
              </a:path>
            </a:pathLst>
          </a:custGeom>
          <a:gradFill>
            <a:gsLst>
              <a:gs pos="54000">
                <a:schemeClr val="accent6">
                  <a:lumMod val="60000"/>
                  <a:lumOff val="40000"/>
                </a:schemeClr>
              </a:gs>
              <a:gs pos="0">
                <a:schemeClr val="accent6">
                  <a:lumMod val="20000"/>
                  <a:lumOff val="80000"/>
                </a:schemeClr>
              </a:gs>
              <a:gs pos="81000">
                <a:schemeClr val="accent6">
                  <a:lumMod val="40000"/>
                  <a:lumOff val="60000"/>
                </a:schemeClr>
              </a:gs>
              <a:gs pos="100000">
                <a:schemeClr val="accent6">
                  <a:lumMod val="20000"/>
                  <a:lumOff val="80000"/>
                </a:schemeClr>
              </a:gs>
            </a:gsLst>
            <a:lin ang="5400000" scaled="0"/>
          </a:gradFill>
          <a:ln>
            <a:gradFill>
              <a:gsLst>
                <a:gs pos="32000">
                  <a:srgbClr val="F5F8FF"/>
                </a:gs>
                <a:gs pos="0">
                  <a:schemeClr val="accent2">
                    <a:lumMod val="20000"/>
                    <a:lumOff val="80000"/>
                    <a:alpha val="100000"/>
                  </a:schemeClr>
                </a:gs>
                <a:gs pos="100000">
                  <a:srgbClr val="F5F8FF"/>
                </a:gs>
                <a:gs pos="71000">
                  <a:schemeClr val="accent2">
                    <a:lumMod val="20000"/>
                    <a:lumOff val="80000"/>
                    <a:alpha val="100000"/>
                  </a:schemeClr>
                </a:gs>
              </a:gsLst>
              <a:lin ang="16200000" scaled="1"/>
            </a:gradFill>
          </a:ln>
          <a:effectLst>
            <a:outerShdw blurRad="254000" dist="152400" dir="5400000" algn="t"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b="1" dirty="0">
                <a:solidFill>
                  <a:srgbClr val="FFFFFF"/>
                </a:solidFill>
                <a:latin typeface="+mn-ea"/>
                <a:cs typeface="+mn-ea"/>
                <a:sym typeface="+mn-ea"/>
              </a:rPr>
              <a:t>02</a:t>
            </a:r>
            <a:endParaRPr lang="en-US" altLang="zh-CN" b="1" dirty="0">
              <a:solidFill>
                <a:srgbClr val="FFFFFF"/>
              </a:solidFill>
              <a:latin typeface="+mn-ea"/>
              <a:cs typeface="+mn-ea"/>
              <a:sym typeface="+mn-ea"/>
            </a:endParaRPr>
          </a:p>
        </p:txBody>
      </p:sp>
      <p:sp>
        <p:nvSpPr>
          <p:cNvPr id="21" name="任意多边形 20"/>
          <p:cNvSpPr/>
          <p:nvPr>
            <p:custDataLst>
              <p:tags r:id="rId9"/>
            </p:custDataLst>
          </p:nvPr>
        </p:nvSpPr>
        <p:spPr>
          <a:xfrm>
            <a:off x="2432093" y="3312683"/>
            <a:ext cx="4936535" cy="49236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chemeClr val="accent1">
                    <a:alpha val="70000"/>
                  </a:schemeClr>
                </a:gs>
              </a:gsLst>
              <a:lin ang="108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schemeClr val="lt1"/>
              </a:solidFill>
              <a:sym typeface="+mn-ea"/>
            </a:endParaRPr>
          </a:p>
        </p:txBody>
      </p:sp>
      <p:sp>
        <p:nvSpPr>
          <p:cNvPr id="26" name="任意多边形 25"/>
          <p:cNvSpPr/>
          <p:nvPr>
            <p:custDataLst>
              <p:tags r:id="rId10"/>
            </p:custDataLst>
          </p:nvPr>
        </p:nvSpPr>
        <p:spPr>
          <a:xfrm>
            <a:off x="10579100" y="2652395"/>
            <a:ext cx="5352415" cy="923290"/>
          </a:xfrm>
          <a:custGeom>
            <a:avLst/>
            <a:gdLst>
              <a:gd name="connisteX0" fmla="*/ 0 w 3169285"/>
              <a:gd name="connsiteY0" fmla="*/ 759460 h 759460"/>
              <a:gd name="connisteX1" fmla="*/ 451485 w 3169285"/>
              <a:gd name="connsiteY1" fmla="*/ 0 h 759460"/>
              <a:gd name="connisteX2" fmla="*/ 3169285 w 3169285"/>
              <a:gd name="connsiteY2" fmla="*/ 0 h 759460"/>
            </a:gdLst>
            <a:ahLst/>
            <a:cxnLst>
              <a:cxn ang="0">
                <a:pos x="connisteX0" y="connsiteY0"/>
              </a:cxn>
              <a:cxn ang="0">
                <a:pos x="connisteX1" y="connsiteY1"/>
              </a:cxn>
              <a:cxn ang="0">
                <a:pos x="connisteX2" y="connsiteY2"/>
              </a:cxn>
            </a:cxnLst>
            <a:rect l="l" t="t" r="r" b="b"/>
            <a:pathLst>
              <a:path w="3169285" h="759460">
                <a:moveTo>
                  <a:pt x="0" y="759460"/>
                </a:moveTo>
                <a:lnTo>
                  <a:pt x="451485" y="0"/>
                </a:lnTo>
                <a:lnTo>
                  <a:pt x="3169285" y="0"/>
                </a:lnTo>
              </a:path>
            </a:pathLst>
          </a:custGeom>
          <a:noFill/>
          <a:ln>
            <a:gradFill>
              <a:gsLst>
                <a:gs pos="0">
                  <a:schemeClr val="accent6"/>
                </a:gs>
                <a:gs pos="97000">
                  <a:schemeClr val="bg1"/>
                </a:gs>
                <a:gs pos="60000">
                  <a:schemeClr val="accent6">
                    <a:lumMod val="20000"/>
                    <a:lumOff val="80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p>
            <a:pPr lvl="0" algn="ctr">
              <a:buClrTx/>
              <a:buSzTx/>
              <a:buFontTx/>
            </a:pPr>
            <a:endParaRPr lang="zh-CN" altLang="en-US">
              <a:solidFill>
                <a:schemeClr val="lt1"/>
              </a:solidFill>
              <a:sym typeface="+mn-ea"/>
            </a:endParaRPr>
          </a:p>
        </p:txBody>
      </p:sp>
      <p:sp>
        <p:nvSpPr>
          <p:cNvPr id="27" name="矩形 26"/>
          <p:cNvSpPr/>
          <p:nvPr>
            <p:custDataLst>
              <p:tags r:id="rId11"/>
            </p:custDataLst>
          </p:nvPr>
        </p:nvSpPr>
        <p:spPr>
          <a:xfrm>
            <a:off x="11201400" y="2781300"/>
            <a:ext cx="7042785" cy="3328035"/>
          </a:xfrm>
          <a:prstGeom prst="rect">
            <a:avLst/>
          </a:prstGeom>
          <a:noFill/>
        </p:spPr>
        <p:txBody>
          <a:bodyPr wrap="square" lIns="0" tIns="0" rIns="0" bIns="0" rtlCol="0" anchor="t" anchorCtr="0">
            <a:noAutofit/>
          </a:bodyPr>
          <a:p>
            <a:pPr marL="285750" indent="-285750">
              <a:lnSpc>
                <a:spcPct val="130000"/>
              </a:lnSpc>
              <a:spcBef>
                <a:spcPct val="0"/>
              </a:spcBef>
              <a:spcAft>
                <a:spcPct val="0"/>
              </a:spcAft>
              <a:buFont typeface="Arial" panose="020B0604020202020204" pitchFamily="34" charset="0"/>
              <a:buChar char="•"/>
            </a:pPr>
            <a:r>
              <a:rPr lang="zh-CN" altLang="en-US" sz="1600" b="1" kern="0" dirty="0">
                <a:ln>
                  <a:noFill/>
                  <a:prstDash val="sysDot"/>
                </a:ln>
                <a:solidFill>
                  <a:schemeClr val="tx1">
                    <a:lumMod val="85000"/>
                    <a:lumOff val="15000"/>
                  </a:schemeClr>
                </a:solidFill>
                <a:latin typeface="+mn-ea"/>
                <a:cs typeface="+mn-ea"/>
                <a:sym typeface="+mn-ea"/>
              </a:rPr>
              <a:t>Single Responsibility for Each Class</a:t>
            </a:r>
            <a:r>
              <a:rPr lang="zh-CN" altLang="en-US" sz="1600" kern="0" dirty="0">
                <a:ln>
                  <a:noFill/>
                  <a:prstDash val="sysDot"/>
                </a:ln>
                <a:solidFill>
                  <a:schemeClr val="tx1">
                    <a:lumMod val="85000"/>
                    <a:lumOff val="15000"/>
                  </a:schemeClr>
                </a:solidFill>
                <a:latin typeface="+mn-ea"/>
                <a:cs typeface="+mn-ea"/>
                <a:sym typeface="+mn-ea"/>
              </a:rPr>
              <a:t>: Each class has a clear role: HeroCreator handles hero creation, while hero classes manage their own behavior, following the Single Responsibility Principle.</a:t>
            </a:r>
            <a:endParaRPr lang="zh-CN" altLang="en-US" sz="1600" kern="0" dirty="0">
              <a:ln>
                <a:noFill/>
                <a:prstDash val="sysDot"/>
              </a:ln>
              <a:solidFill>
                <a:schemeClr val="tx1">
                  <a:lumMod val="85000"/>
                  <a:lumOff val="15000"/>
                </a:schemeClr>
              </a:solidFill>
              <a:latin typeface="+mn-ea"/>
              <a:cs typeface="+mn-ea"/>
              <a:sym typeface="+mn-ea"/>
            </a:endParaRPr>
          </a:p>
          <a:p>
            <a:pPr indent="0">
              <a:lnSpc>
                <a:spcPct val="130000"/>
              </a:lnSpc>
              <a:spcBef>
                <a:spcPct val="0"/>
              </a:spcBef>
              <a:spcAft>
                <a:spcPct val="0"/>
              </a:spcAft>
              <a:buFont typeface="Arial" panose="020B0604020202020204" pitchFamily="34" charset="0"/>
              <a:buNone/>
            </a:pPr>
            <a:endParaRPr lang="zh-CN" altLang="en-US" sz="1600" kern="0" dirty="0">
              <a:ln>
                <a:noFill/>
                <a:prstDash val="sysDot"/>
              </a:ln>
              <a:solidFill>
                <a:schemeClr val="tx1">
                  <a:lumMod val="85000"/>
                  <a:lumOff val="15000"/>
                </a:schemeClr>
              </a:solidFill>
              <a:latin typeface="+mn-ea"/>
              <a:cs typeface="+mn-ea"/>
              <a:sym typeface="+mn-ea"/>
            </a:endParaRPr>
          </a:p>
          <a:p>
            <a:pPr marL="285750" indent="-285750">
              <a:lnSpc>
                <a:spcPct val="130000"/>
              </a:lnSpc>
              <a:spcBef>
                <a:spcPct val="0"/>
              </a:spcBef>
              <a:spcAft>
                <a:spcPct val="0"/>
              </a:spcAft>
              <a:buFont typeface="Arial" panose="020B0604020202020204" pitchFamily="34" charset="0"/>
              <a:buChar char="•"/>
            </a:pPr>
            <a:r>
              <a:rPr lang="zh-CN" altLang="en-US" sz="1600" b="1" kern="0" dirty="0">
                <a:ln>
                  <a:noFill/>
                  <a:prstDash val="sysDot"/>
                </a:ln>
                <a:solidFill>
                  <a:schemeClr val="tx1">
                    <a:lumMod val="85000"/>
                    <a:lumOff val="15000"/>
                  </a:schemeClr>
                </a:solidFill>
                <a:latin typeface="+mn-ea"/>
                <a:cs typeface="+mn-ea"/>
                <a:sym typeface="+mn-ea"/>
              </a:rPr>
              <a:t>Standardized Creation Process:</a:t>
            </a:r>
            <a:r>
              <a:rPr lang="zh-CN" altLang="en-US" sz="1600" kern="0" dirty="0">
                <a:ln>
                  <a:noFill/>
                  <a:prstDash val="sysDot"/>
                </a:ln>
                <a:solidFill>
                  <a:schemeClr val="tx1">
                    <a:lumMod val="85000"/>
                    <a:lumOff val="15000"/>
                  </a:schemeClr>
                </a:solidFill>
                <a:latin typeface="+mn-ea"/>
                <a:cs typeface="+mn-ea"/>
                <a:sym typeface="+mn-ea"/>
              </a:rPr>
              <a:t> The factory method standardizes hero creation, ensuring consistency across the system and making the code easier to maintain and understand.</a:t>
            </a:r>
            <a:endParaRPr lang="zh-CN" altLang="en-US" sz="1600" kern="0" dirty="0">
              <a:ln>
                <a:noFill/>
                <a:prstDash val="sysDot"/>
              </a:ln>
              <a:solidFill>
                <a:schemeClr val="tx1">
                  <a:lumMod val="85000"/>
                  <a:lumOff val="15000"/>
                </a:schemeClr>
              </a:solidFill>
              <a:latin typeface="+mn-ea"/>
              <a:cs typeface="+mn-ea"/>
              <a:sym typeface="+mn-ea"/>
            </a:endParaRPr>
          </a:p>
          <a:p>
            <a:pPr indent="0">
              <a:lnSpc>
                <a:spcPct val="130000"/>
              </a:lnSpc>
              <a:spcBef>
                <a:spcPct val="0"/>
              </a:spcBef>
              <a:spcAft>
                <a:spcPct val="0"/>
              </a:spcAft>
              <a:buFont typeface="Arial" panose="020B0604020202020204" pitchFamily="34" charset="0"/>
              <a:buNone/>
            </a:pPr>
            <a:endParaRPr lang="zh-CN" altLang="en-US" sz="1600" kern="0" dirty="0">
              <a:ln>
                <a:noFill/>
                <a:prstDash val="sysDot"/>
              </a:ln>
              <a:solidFill>
                <a:schemeClr val="tx1">
                  <a:lumMod val="85000"/>
                  <a:lumOff val="15000"/>
                </a:schemeClr>
              </a:solidFill>
              <a:latin typeface="+mn-ea"/>
              <a:cs typeface="+mn-ea"/>
              <a:sym typeface="+mn-ea"/>
            </a:endParaRPr>
          </a:p>
          <a:p>
            <a:pPr marL="285750" indent="-285750">
              <a:lnSpc>
                <a:spcPct val="130000"/>
              </a:lnSpc>
              <a:spcBef>
                <a:spcPct val="0"/>
              </a:spcBef>
              <a:spcAft>
                <a:spcPct val="0"/>
              </a:spcAft>
              <a:buFont typeface="Arial" panose="020B0604020202020204" pitchFamily="34" charset="0"/>
              <a:buChar char="•"/>
            </a:pPr>
            <a:r>
              <a:rPr lang="zh-CN" altLang="en-US" sz="1600" b="1" kern="0" dirty="0">
                <a:ln>
                  <a:noFill/>
                  <a:prstDash val="sysDot"/>
                </a:ln>
                <a:solidFill>
                  <a:schemeClr val="tx1">
                    <a:lumMod val="85000"/>
                    <a:lumOff val="15000"/>
                  </a:schemeClr>
                </a:solidFill>
                <a:latin typeface="+mn-ea"/>
                <a:cs typeface="+mn-ea"/>
                <a:sym typeface="+mn-ea"/>
              </a:rPr>
              <a:t>Simplified Dependencies:</a:t>
            </a:r>
            <a:r>
              <a:rPr lang="zh-CN" altLang="en-US" sz="1600" kern="0" dirty="0">
                <a:ln>
                  <a:noFill/>
                  <a:prstDash val="sysDot"/>
                </a:ln>
                <a:solidFill>
                  <a:schemeClr val="tx1">
                    <a:lumMod val="85000"/>
                    <a:lumOff val="15000"/>
                  </a:schemeClr>
                </a:solidFill>
                <a:latin typeface="+mn-ea"/>
                <a:cs typeface="+mn-ea"/>
                <a:sym typeface="+mn-ea"/>
              </a:rPr>
              <a:t>The Factory Method simplifies dependencies by abstracting hero creation. Clients interact with the IHero interface, reducing class coupling and making the system cleaner.</a:t>
            </a:r>
            <a:endParaRPr lang="zh-CN" altLang="en-US" sz="1600" kern="0" dirty="0">
              <a:ln>
                <a:noFill/>
                <a:prstDash val="sysDot"/>
              </a:ln>
              <a:solidFill>
                <a:schemeClr val="tx1">
                  <a:lumMod val="85000"/>
                  <a:lumOff val="15000"/>
                </a:schemeClr>
              </a:solidFill>
              <a:latin typeface="+mn-ea"/>
              <a:cs typeface="+mn-ea"/>
              <a:sym typeface="+mn-ea"/>
            </a:endParaRPr>
          </a:p>
          <a:p>
            <a:pPr indent="0">
              <a:lnSpc>
                <a:spcPct val="130000"/>
              </a:lnSpc>
              <a:spcBef>
                <a:spcPct val="0"/>
              </a:spcBef>
              <a:spcAft>
                <a:spcPct val="0"/>
              </a:spcAft>
              <a:buFont typeface="Arial" panose="020B0604020202020204" pitchFamily="34" charset="0"/>
              <a:buNone/>
            </a:pPr>
            <a:endParaRPr lang="zh-CN" altLang="en-US" sz="1600" kern="0" dirty="0">
              <a:ln>
                <a:noFill/>
                <a:prstDash val="sysDot"/>
              </a:ln>
              <a:solidFill>
                <a:schemeClr val="tx1">
                  <a:lumMod val="85000"/>
                  <a:lumOff val="15000"/>
                </a:schemeClr>
              </a:solidFill>
              <a:latin typeface="+mn-ea"/>
              <a:cs typeface="+mn-ea"/>
              <a:sym typeface="+mn-ea"/>
            </a:endParaRPr>
          </a:p>
          <a:p>
            <a:pPr marL="285750" indent="-285750">
              <a:lnSpc>
                <a:spcPct val="130000"/>
              </a:lnSpc>
              <a:spcBef>
                <a:spcPct val="0"/>
              </a:spcBef>
              <a:spcAft>
                <a:spcPct val="0"/>
              </a:spcAft>
              <a:buFont typeface="Arial" panose="020B0604020202020204" pitchFamily="34" charset="0"/>
              <a:buChar char="•"/>
            </a:pPr>
            <a:r>
              <a:rPr lang="zh-CN" altLang="en-US" sz="1600" b="1" kern="0" dirty="0">
                <a:ln>
                  <a:noFill/>
                  <a:prstDash val="sysDot"/>
                </a:ln>
                <a:solidFill>
                  <a:schemeClr val="tx1">
                    <a:lumMod val="85000"/>
                    <a:lumOff val="15000"/>
                  </a:schemeClr>
                </a:solidFill>
                <a:latin typeface="+mn-ea"/>
                <a:cs typeface="+mn-ea"/>
                <a:sym typeface="+mn-ea"/>
              </a:rPr>
              <a:t>Enforced Complete Initialization: </a:t>
            </a:r>
            <a:r>
              <a:rPr lang="zh-CN" altLang="en-US" sz="1600" kern="0" dirty="0">
                <a:ln>
                  <a:noFill/>
                  <a:prstDash val="sysDot"/>
                </a:ln>
                <a:solidFill>
                  <a:schemeClr val="tx1">
                    <a:lumMod val="85000"/>
                    <a:lumOff val="15000"/>
                  </a:schemeClr>
                </a:solidFill>
                <a:latin typeface="+mn-ea"/>
                <a:cs typeface="+mn-ea"/>
                <a:sym typeface="+mn-ea"/>
              </a:rPr>
              <a:t>The Factory Method ensures heroes are created with valid, properly initialized properties, preventing errors from uninitialized fields or methods.</a:t>
            </a:r>
            <a:endParaRPr lang="zh-CN" altLang="en-US" sz="1600" kern="0" dirty="0">
              <a:ln>
                <a:noFill/>
                <a:prstDash val="sysDot"/>
              </a:ln>
              <a:solidFill>
                <a:schemeClr val="tx1">
                  <a:lumMod val="85000"/>
                  <a:lumOff val="15000"/>
                </a:schemeClr>
              </a:solidFill>
              <a:latin typeface="+mn-ea"/>
              <a:cs typeface="+mn-ea"/>
              <a:sym typeface="+mn-ea"/>
            </a:endParaRPr>
          </a:p>
        </p:txBody>
      </p:sp>
      <p:sp>
        <p:nvSpPr>
          <p:cNvPr id="33" name="矩形 32"/>
          <p:cNvSpPr/>
          <p:nvPr>
            <p:custDataLst>
              <p:tags r:id="rId12"/>
            </p:custDataLst>
          </p:nvPr>
        </p:nvSpPr>
        <p:spPr>
          <a:xfrm>
            <a:off x="11353970" y="1866896"/>
            <a:ext cx="4133420" cy="7054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rgbClr val="F6B99D"/>
                </a:solidFill>
                <a:latin typeface="+mn-ea"/>
                <a:cs typeface="+mn-ea"/>
              </a:rPr>
              <a:t>Better Structure</a:t>
            </a:r>
            <a:endParaRPr lang="zh-CN" altLang="en-US" sz="2000" b="1" dirty="0">
              <a:solidFill>
                <a:srgbClr val="F6B99D"/>
              </a:solidFill>
              <a:latin typeface="+mn-ea"/>
              <a:cs typeface="+mn-ea"/>
            </a:endParaRPr>
          </a:p>
        </p:txBody>
      </p:sp>
      <p:sp>
        <p:nvSpPr>
          <p:cNvPr id="34" name="矩形 33"/>
          <p:cNvSpPr/>
          <p:nvPr>
            <p:custDataLst>
              <p:tags r:id="rId13"/>
            </p:custDataLst>
          </p:nvPr>
        </p:nvSpPr>
        <p:spPr>
          <a:xfrm>
            <a:off x="454660" y="3408299"/>
            <a:ext cx="6333233" cy="4272826"/>
          </a:xfrm>
          <a:prstGeom prst="rect">
            <a:avLst/>
          </a:prstGeom>
          <a:noFill/>
        </p:spPr>
        <p:txBody>
          <a:bodyPr wrap="square" lIns="0" tIns="0" rIns="0" bIns="0" rtlCol="0" anchor="t" anchorCtr="0">
            <a:noAutofit/>
          </a:bodyPr>
          <a:p>
            <a:pPr marL="285750" indent="-285750" algn="l">
              <a:lnSpc>
                <a:spcPct val="130000"/>
              </a:lnSpc>
              <a:spcBef>
                <a:spcPct val="0"/>
              </a:spcBef>
              <a:spcAft>
                <a:spcPct val="0"/>
              </a:spcAft>
              <a:buFont typeface="Arial" panose="020B0604020202020204" pitchFamily="34" charset="0"/>
              <a:buChar char="•"/>
            </a:pPr>
            <a:r>
              <a:rPr lang="zh-CN" altLang="en-US" sz="1600" b="1" dirty="0">
                <a:ln>
                  <a:noFill/>
                  <a:prstDash val="sysDot"/>
                </a:ln>
                <a:solidFill>
                  <a:schemeClr val="tx1">
                    <a:lumMod val="85000"/>
                    <a:lumOff val="15000"/>
                  </a:schemeClr>
                </a:solidFill>
                <a:latin typeface="+mn-ea"/>
                <a:cs typeface="+mn-ea"/>
              </a:rPr>
              <a:t>Easy to Add New Heroes：</a:t>
            </a:r>
            <a:r>
              <a:rPr lang="zh-CN" altLang="en-US" sz="1600" dirty="0">
                <a:ln>
                  <a:noFill/>
                  <a:prstDash val="sysDot"/>
                </a:ln>
                <a:solidFill>
                  <a:schemeClr val="tx1">
                    <a:lumMod val="85000"/>
                    <a:lumOff val="15000"/>
                  </a:schemeClr>
                </a:solidFill>
                <a:latin typeface="+mn-ea"/>
                <a:cs typeface="+mn-ea"/>
              </a:rPr>
              <a:t>The Factory Method simplifies adding new heroes. Just create a subclass of HeroCreator and implement the createHero method. This avoids changing existing code, keeping the process easy and flexible.</a:t>
            </a:r>
            <a:endParaRPr lang="zh-CN" altLang="en-US" sz="1600" dirty="0">
              <a:ln>
                <a:noFill/>
                <a:prstDash val="sysDot"/>
              </a:ln>
              <a:solidFill>
                <a:schemeClr val="tx1">
                  <a:lumMod val="85000"/>
                  <a:lumOff val="15000"/>
                </a:schemeClr>
              </a:solidFill>
              <a:latin typeface="+mn-ea"/>
              <a:cs typeface="+mn-ea"/>
            </a:endParaRPr>
          </a:p>
          <a:p>
            <a:pPr indent="0" algn="l">
              <a:lnSpc>
                <a:spcPct val="130000"/>
              </a:lnSpc>
              <a:spcBef>
                <a:spcPct val="0"/>
              </a:spcBef>
              <a:spcAft>
                <a:spcPct val="0"/>
              </a:spcAft>
              <a:buFont typeface="Arial" panose="020B0604020202020204" pitchFamily="34" charset="0"/>
              <a:buNone/>
            </a:pPr>
            <a:endParaRPr lang="zh-CN" altLang="en-US" sz="1600" dirty="0">
              <a:ln>
                <a:noFill/>
                <a:prstDash val="sysDot"/>
              </a:ln>
              <a:solidFill>
                <a:schemeClr val="tx1">
                  <a:lumMod val="85000"/>
                  <a:lumOff val="15000"/>
                </a:schemeClr>
              </a:solidFill>
              <a:latin typeface="+mn-ea"/>
              <a:cs typeface="+mn-ea"/>
            </a:endParaRPr>
          </a:p>
          <a:p>
            <a:pPr marL="285750" indent="-285750" algn="l">
              <a:lnSpc>
                <a:spcPct val="130000"/>
              </a:lnSpc>
              <a:spcBef>
                <a:spcPct val="0"/>
              </a:spcBef>
              <a:spcAft>
                <a:spcPct val="0"/>
              </a:spcAft>
              <a:buFont typeface="Arial" panose="020B0604020202020204" pitchFamily="34" charset="0"/>
              <a:buChar char="•"/>
            </a:pPr>
            <a:r>
              <a:rPr lang="zh-CN" altLang="en-US" sz="1600" b="1" dirty="0">
                <a:ln>
                  <a:noFill/>
                  <a:prstDash val="sysDot"/>
                </a:ln>
                <a:solidFill>
                  <a:schemeClr val="tx1">
                    <a:lumMod val="85000"/>
                    <a:lumOff val="15000"/>
                  </a:schemeClr>
                </a:solidFill>
                <a:latin typeface="+mn-ea"/>
                <a:cs typeface="+mn-ea"/>
              </a:rPr>
              <a:t>No Modification to Existing Code:</a:t>
            </a:r>
            <a:r>
              <a:rPr lang="zh-CN" altLang="en-US" sz="1600" dirty="0">
                <a:ln>
                  <a:noFill/>
                  <a:prstDash val="sysDot"/>
                </a:ln>
                <a:solidFill>
                  <a:schemeClr val="tx1">
                    <a:lumMod val="85000"/>
                    <a:lumOff val="15000"/>
                  </a:schemeClr>
                </a:solidFill>
                <a:latin typeface="+mn-ea"/>
                <a:cs typeface="+mn-ea"/>
              </a:rPr>
              <a:t>The Factory Method lets you add new hero classes without changing existing ones, following the Open/Closed Principle. This reduces the risk of bugs since the code using hero objects remains unchanged.</a:t>
            </a:r>
            <a:endParaRPr lang="zh-CN" altLang="en-US" sz="1600" dirty="0">
              <a:ln>
                <a:noFill/>
                <a:prstDash val="sysDot"/>
              </a:ln>
              <a:solidFill>
                <a:schemeClr val="tx1">
                  <a:lumMod val="85000"/>
                  <a:lumOff val="15000"/>
                </a:schemeClr>
              </a:solidFill>
              <a:latin typeface="+mn-ea"/>
              <a:cs typeface="+mn-ea"/>
            </a:endParaRPr>
          </a:p>
          <a:p>
            <a:pPr marL="285750" indent="-285750" algn="l">
              <a:lnSpc>
                <a:spcPct val="130000"/>
              </a:lnSpc>
              <a:spcBef>
                <a:spcPct val="0"/>
              </a:spcBef>
              <a:spcAft>
                <a:spcPct val="0"/>
              </a:spcAft>
              <a:buFont typeface="Arial" panose="020B0604020202020204" pitchFamily="34" charset="0"/>
              <a:buChar char="•"/>
            </a:pPr>
            <a:endParaRPr lang="zh-CN" altLang="en-US" sz="1600" b="1" dirty="0">
              <a:ln>
                <a:noFill/>
                <a:prstDash val="sysDot"/>
              </a:ln>
              <a:solidFill>
                <a:schemeClr val="tx1">
                  <a:lumMod val="85000"/>
                  <a:lumOff val="15000"/>
                </a:schemeClr>
              </a:solidFill>
              <a:latin typeface="+mn-ea"/>
              <a:cs typeface="+mn-ea"/>
            </a:endParaRPr>
          </a:p>
          <a:p>
            <a:pPr marL="285750" indent="-285750" algn="l">
              <a:lnSpc>
                <a:spcPct val="130000"/>
              </a:lnSpc>
              <a:spcBef>
                <a:spcPct val="0"/>
              </a:spcBef>
              <a:spcAft>
                <a:spcPct val="0"/>
              </a:spcAft>
              <a:buFont typeface="Arial" panose="020B0604020202020204" pitchFamily="34" charset="0"/>
              <a:buChar char="•"/>
            </a:pPr>
            <a:r>
              <a:rPr lang="zh-CN" altLang="en-US" sz="1600" b="1" dirty="0">
                <a:ln>
                  <a:noFill/>
                  <a:prstDash val="sysDot"/>
                </a:ln>
                <a:solidFill>
                  <a:schemeClr val="tx1">
                    <a:lumMod val="85000"/>
                    <a:lumOff val="15000"/>
                  </a:schemeClr>
                </a:solidFill>
                <a:latin typeface="+mn-ea"/>
                <a:cs typeface="+mn-ea"/>
              </a:rPr>
              <a:t>Clear Extension Points:</a:t>
            </a:r>
            <a:r>
              <a:rPr lang="zh-CN" altLang="en-US" sz="1600" dirty="0">
                <a:ln>
                  <a:noFill/>
                  <a:prstDash val="sysDot"/>
                </a:ln>
                <a:solidFill>
                  <a:schemeClr val="tx1">
                    <a:lumMod val="85000"/>
                    <a:lumOff val="15000"/>
                  </a:schemeClr>
                </a:solidFill>
                <a:latin typeface="+mn-ea"/>
                <a:cs typeface="+mn-ea"/>
              </a:rPr>
              <a:t>The Factory Method provides a clear, centralized way to add new hero types, ensuring easier updates and collaboration without changing core logic. </a:t>
            </a:r>
            <a:endParaRPr lang="zh-CN" altLang="en-US" sz="1600" dirty="0">
              <a:ln>
                <a:noFill/>
                <a:prstDash val="sysDot"/>
              </a:ln>
              <a:solidFill>
                <a:schemeClr val="tx1">
                  <a:lumMod val="85000"/>
                  <a:lumOff val="15000"/>
                </a:schemeClr>
              </a:solidFill>
              <a:latin typeface="+mn-ea"/>
              <a:cs typeface="+mn-ea"/>
            </a:endParaRPr>
          </a:p>
        </p:txBody>
      </p:sp>
      <p:sp>
        <p:nvSpPr>
          <p:cNvPr id="35" name="矩形 34"/>
          <p:cNvSpPr/>
          <p:nvPr>
            <p:custDataLst>
              <p:tags r:id="rId14"/>
            </p:custDataLst>
          </p:nvPr>
        </p:nvSpPr>
        <p:spPr>
          <a:xfrm>
            <a:off x="2805791" y="2842684"/>
            <a:ext cx="3982735" cy="394600"/>
          </a:xfrm>
          <a:prstGeom prst="rect">
            <a:avLst/>
          </a:prstGeom>
          <a:noFill/>
        </p:spPr>
        <p:txBody>
          <a:bodyPr wrap="square" lIns="0" tIns="0" rIns="0" bIns="0" rtlCol="0" anchor="b" anchorCtr="0">
            <a:noAutofit/>
          </a:bodyPr>
          <a:p>
            <a:pPr algn="r">
              <a:spcBef>
                <a:spcPct val="0"/>
              </a:spcBef>
              <a:spcAft>
                <a:spcPct val="0"/>
              </a:spcAft>
            </a:pPr>
            <a:r>
              <a:rPr lang="zh-CN" altLang="en-US" sz="2000" b="1" dirty="0">
                <a:solidFill>
                  <a:schemeClr val="accent1"/>
                </a:solidFill>
                <a:latin typeface="+mn-ea"/>
                <a:cs typeface="+mn-ea"/>
              </a:rPr>
              <a:t>Enhanced Extensibility</a:t>
            </a:r>
            <a:endParaRPr lang="zh-CN" altLang="en-US" sz="2000" b="1" dirty="0">
              <a:solidFill>
                <a:schemeClr val="accent1"/>
              </a:solidFill>
              <a:latin typeface="+mn-ea"/>
              <a:cs typeface="+mn-ea"/>
            </a:endParaRPr>
          </a:p>
        </p:txBody>
      </p:sp>
      <p:sp>
        <p:nvSpPr>
          <p:cNvPr id="36" name="文本框 35"/>
          <p:cNvSpPr txBox="1"/>
          <p:nvPr/>
        </p:nvSpPr>
        <p:spPr>
          <a:xfrm>
            <a:off x="8305800" y="393700"/>
            <a:ext cx="2562225" cy="829945"/>
          </a:xfrm>
          <a:prstGeom prst="rect">
            <a:avLst/>
          </a:prstGeom>
          <a:noFill/>
        </p:spPr>
        <p:txBody>
          <a:bodyPr wrap="square" rtlCol="0">
            <a:spAutoFit/>
          </a:bodyPr>
          <a:p>
            <a:r>
              <a:rPr lang="en-US" altLang="zh-CN" sz="4800" b="1">
                <a:solidFill>
                  <a:srgbClr val="7495AB"/>
                </a:solidFill>
              </a:rPr>
              <a:t>Benefits</a:t>
            </a:r>
            <a:endParaRPr lang="en-US" altLang="zh-CN" sz="4800" b="1">
              <a:solidFill>
                <a:srgbClr val="7495AB"/>
              </a:solidFill>
            </a:endParaRPr>
          </a:p>
        </p:txBody>
      </p:sp>
    </p:spTree>
    <p:custDataLst>
      <p:tags r:id="rId15"/>
    </p:custDataLst>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f"/>
  <p:tag name="KSO_WM_UNIT_INDEX" val="1_2_1_1"/>
  <p:tag name="KSO_WM_UNIT_ID" val="diagram20231636_1*n_h_h_f*1_2_1_1"/>
  <p:tag name="KSO_WM_TEMPLATE_CATEGORY" val="diagram"/>
  <p:tag name="KSO_WM_TEMPLATE_INDEX" val="20231636"/>
  <p:tag name="KSO_WM_UNIT_LAYERLEVEL" val="1_1_1_1"/>
  <p:tag name="KSO_WM_TAG_VERSION" val="3.0"/>
  <p:tag name="KSO_WM_BEAUTIFY_FLAG" val="#wm#"/>
  <p:tag name="KSO_WM_DIAGRAM_VERSION" val="3"/>
  <p:tag name="KSO_WM_UNIT_SUBTYPE" val="a"/>
  <p:tag name="KSO_WM_UNIT_NOCLEAR" val="0"/>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4"/>
  <p:tag name="KSO_WM_UNIT_FILL_TYPE" val="3"/>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2.xml><?xml version="1.0" encoding="utf-8"?>
<p:tagLst xmlns:p="http://schemas.openxmlformats.org/presentationml/2006/main">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n1-1"/>
  <p:tag name="KSO_WM_UNIT_TYPE" val="n_h_h_f"/>
  <p:tag name="KSO_WM_UNIT_INDEX" val="1_2_2_1"/>
  <p:tag name="KSO_WM_UNIT_ID" val="diagram20231636_1*n_h_h_f*1_2_2_1"/>
  <p:tag name="KSO_WM_TEMPLATE_CATEGORY" val="diagram"/>
  <p:tag name="KSO_WM_TEMPLATE_INDEX" val="20231636"/>
  <p:tag name="KSO_WM_UNIT_LAYERLEVEL" val="1_1_1_1"/>
  <p:tag name="KSO_WM_TAG_VERSION" val="3.0"/>
  <p:tag name="KSO_WM_BEAUTIFY_FLAG" val="#wm#"/>
  <p:tag name="KSO_WM_DIAGRAM_VERSION" val="3"/>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type&quot;:0},&quot;glow&quot;:{&quot;colorType&quot;:0},&quot;line&quot;:{&quot;gradient&quot;:[{&quot;brightness&quot;:0.800000011920929,&quot;colorType&quot;:1,&quot;foreColorIndex&quot;:6,&quot;pos&quot;:1,&quot;transparency&quot;:1},{&quot;brightness&quot;:0,&quot;colorType&quot;:1,&quot;foreColorIndex&quot;:5,&quot;pos&quot;:0.019999999552965164,&quot;transparency&quot;:0}],&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84"/>
  <p:tag name="KSO_WM_UNIT_FILL_TYPE" val="3"/>
  <p:tag name="KSO_WM_UNIT_TEXT_TYPE" val="1"/>
  <p:tag name="KSO_WM_UNIT_PRESET_TEXT" val="单击此处输入你的项正文，文字是您思想的提炼，请尽量言简意赅的阐述观点，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1_1"/>
  <p:tag name="KSO_WM_UNIT_ID" val="diagram20231636_1*n_h_h_i*1_2_1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COLOR_TRICK" val="1"/>
  <p:tag name="KSO_WM_DIAGRAM_COLOR_TEXT_CAN_REMOVE" val="n"/>
  <p:tag name="KSO_WM_DIAGRAM_GROUP_CODE" val="n1-1"/>
  <p:tag name="KSO_WM_DIAGRAM_VERSION" val="3"/>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n_h_h_i"/>
  <p:tag name="KSO_WM_UNIT_INDEX" val="1_2_2_1"/>
  <p:tag name="KSO_WM_UNIT_ID" val="diagram20231636_1*n_h_h_i*1_2_2_1"/>
  <p:tag name="KSO_WM_TEMPLATE_CATEGORY" val="diagram"/>
  <p:tag name="KSO_WM_TEMPLATE_INDEX" val="20231636"/>
  <p:tag name="KSO_WM_UNIT_LAYERLEVEL" val="1_1_1_1"/>
  <p:tag name="KSO_WM_TAG_VERSION" val="3.0"/>
  <p:tag name="KSO_WM_BEAUTIFY_FLAG" val="#wm#"/>
  <p:tag name="KSO_WM_UNIT_TEXT_FILL_FORE_SCHEMECOLOR_INDEX_BRIGHTNESS" val="0.15"/>
  <p:tag name="KSO_WM_DIAGRAM_COLOR_TRICK" val="1"/>
  <p:tag name="KSO_WM_DIAGRAM_COLOR_TEXT_CAN_REMOVE" val="n"/>
  <p:tag name="KSO_WM_DIAGRAM_GROUP_CODE" val="n1-1"/>
  <p:tag name="KSO_WM_DIAGRAM_VERSION" val="3"/>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5,6,5,6,5,6]}"/>
</p:tagLst>
</file>

<file path=ppt/tags/tag5.xml><?xml version="1.0" encoding="utf-8"?>
<p:tagLst xmlns:p="http://schemas.openxmlformats.org/presentationml/2006/main">
  <p:tag name="KSO_WM_BEAUTIFY_FLAG" val="#wm#"/>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636_1*n_h_i*1_1_2"/>
  <p:tag name="KSO_WM_TEMPLATE_CATEGORY" val="diagram"/>
  <p:tag name="KSO_WM_TEMPLATE_INDEX" val="20231636"/>
  <p:tag name="KSO_WM_UNIT_LAYERLEVEL" val="1_1_1"/>
  <p:tag name="KSO_WM_TAG_VERSION" val="3.0"/>
  <p:tag name="KSO_WM_DIAGRAM_VERSION" val="3"/>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solid&quot;:{&quot;brightness&quot;:0.699999988079071,&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7"/>
  <p:tag name="KSO_WM_DIAGRAM_USE_COLOR_VALUE" val="{&quot;color_scheme&quot;:1,&quot;color_type&quot;:1,&quot;theme_color_indexes&quot;:[5,6,5,6,5,6]}"/>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1636_1*n_h_a*1_1_1"/>
  <p:tag name="KSO_WM_TEMPLATE_CATEGORY" val="diagram"/>
  <p:tag name="KSO_WM_TEMPLATE_INDEX" val="20231636"/>
  <p:tag name="KSO_WM_UNIT_LAYERLEVEL" val="1_1_1"/>
  <p:tag name="KSO_WM_TAG_VERSION" val="3.0"/>
  <p:tag name="KSO_WM_DIAGRAM_GROUP_CODE" val="n1-1"/>
  <p:tag name="KSO_WM_UNIT_TYPE" val="n_h_a"/>
  <p:tag name="KSO_WM_UNIT_INDEX" val="1_1_1"/>
  <p:tag name="KSO_WM_UNIT_ISCONTENTSTITLE" val="0"/>
  <p:tag name="KSO_WM_UNIT_ISNUMDGMTITLE" val="0"/>
  <p:tag name="KSO_WM_UNIT_NOCLEAR" val="0"/>
  <p:tag name="KSO_WM_DIAGRAM_VERSION" val="3"/>
  <p:tag name="KSO_WM_DIAGRAM_COLOR_TRICK" val="1"/>
  <p:tag name="KSO_WM_DIAGRAM_COLOR_TEXT_CAN_REMOVE" val="n"/>
  <p:tag name="KSO_WM_DIAGRAM_MAX_ITEMCNT" val="6"/>
  <p:tag name="KSO_WM_DIAGRAM_MIN_ITEMCNT" val="2"/>
  <p:tag name="KSO_WM_DIAGRAM_VIRTUALLY_FRAME" val="{&quot;height&quot;:539.9248962402344,&quot;left&quot;:155.05968155027367,&quot;top&quot;:124.11416605311115,&quot;width&quot;:1129.8056762695317}"/>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70"/>
  <p:tag name="KSO_WM_UNIT_TEXT_TYPE" val="1"/>
  <p:tag name="KSO_WM_UNIT_PRESET_TEXT" val="添加项标题"/>
  <p:tag name="KSO_WM_UNIT_LINE_FORE_SCHEMECOLOR_INDEX" val="5"/>
  <p:tag name="KSO_WM_UNIT_TEXT_FILL_FORE_SCHEMECOLOR_INDEX" val="1"/>
  <p:tag name="KSO_WM_UNIT_TEXT_FILL_TYPE" val="1"/>
  <p:tag name="KSO_WM_DIAGRAM_USE_COLOR_VALUE" val="{&quot;color_scheme&quot;:1,&quot;color_type&quot;:1,&quot;theme_color_indexes&quot;:[5,6,5,6,5,6]}"/>
</p:tagLst>
</file>

<file path=ppt/tags/tag7.xml><?xml version="1.0" encoding="utf-8"?>
<p:tagLst xmlns:p="http://schemas.openxmlformats.org/presentationml/2006/main">
  <p:tag name="RESOURCE_RECORD_KEY" val="{&quot;13&quot;:[4364954],&quot;70&quot;:[3322475,3312650,3317673,3318865]}"/>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1*l_i*1_1"/>
  <p:tag name="KSO_WM_TEMPLATE_CATEGORY" val="diagram"/>
  <p:tag name="KSO_WM_TEMPLATE_INDEX" val="20230920"/>
  <p:tag name="KSO_WM_UNIT_LAYERLEVEL" val="1_1"/>
  <p:tag name="KSO_WM_TAG_VERSION" val="3.0"/>
  <p:tag name="KSO_WM_UNIT_TYPE" val="l_i"/>
  <p:tag name="KSO_WM_UNIT_INDEX" val="1_1"/>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920_1*l_i*1_2"/>
  <p:tag name="KSO_WM_TEMPLATE_CATEGORY" val="diagram"/>
  <p:tag name="KSO_WM_TEMPLATE_INDEX" val="20230920"/>
  <p:tag name="KSO_WM_UNIT_LAYERLEVEL" val="1_1"/>
  <p:tag name="KSO_WM_TAG_VERSION" val="3.0"/>
  <p:tag name="KSO_WM_UNIT_TYPE" val="l_i"/>
  <p:tag name="KSO_WM_UNIT_INDEX" val="1_2"/>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920_1*l_h_i*1_1_1"/>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UNIT_SUBTYPE" val="d"/>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199999928474426,&quot;rgb&quot;:&quot;#f5f8ff&quot;,&quot;transparency&quot;:0},{&quot;brightness&quot;:0,&quot;colorType&quot;:2,&quot;pos&quot;:0,&quot;rgb&quot;:&quot;#a5beff&quot;,&quot;transparency&quot;:0},{&quot;brightness&quot;:0,&quot;colorType&quot;:2,&quot;pos&quot;:1,&quot;rgb&quot;:&quot;#f5f8ff&quot;,&quot;transparency&quot;:0},{&quot;brightness&quot;:0,&quot;colorType&quot;:2,&quot;pos&quot;:0.7099999785423279,&quot;rgb&quot;:&quot;#c3d4ff&quot;,&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920_1*l_h_i*1_2_1"/>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UNIT_SUBTYPE" val="d"/>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gradient&quot;:[{&quot;brightness&quot;:0,&quot;colorType&quot;:1,&quot;foreColorIndex&quot;:6,&quot;pos&quot;:0.5400000214576721,&quot;transparency&quot;:0},{&quot;brightness&quot;:0.4000000059604645,&quot;colorType&quot;:1,&quot;foreColorIndex&quot;:6,&quot;pos&quot;:0,&quot;transparency&quot;:0},{&quot;brightness&quot;:0.4000000059604645,&quot;colorType&quot;:1,&quot;foreColorIndex&quot;:6,&quot;pos&quot;:1,&quot;transparency&quot;:0}],&quot;type&quot;:3},&quot;glow&quot;:{&quot;colorType&quot;:0},&quot;line&quot;:{&quot;gradient&quot;:[{&quot;brightness&quot;:0,&quot;colorType&quot;:2,&quot;pos&quot;:0.3199999928474426,&quot;rgb&quot;:&quot;#f5f8ff&quot;,&quot;transparency&quot;:0},{&quot;brightness&quot;:0.800000011920929,&quot;colorType&quot;:1,&quot;foreColorIndex&quot;:6,&quot;pos&quot;:0,&quot;transparency&quot;:0},{&quot;brightness&quot;:0,&quot;colorType&quot;:2,&quot;pos&quot;:1,&quot;rgb&quot;:&quot;#f5f8ff&quot;,&quot;transparency&quot;:0},{&quot;brightness&quot;:0.800000011920929,&quot;colorType&quot;:1,&quot;foreColorIndex&quot;:6,&quot;pos&quot;:0.7099999785423279,&quot;transparency&quot;:0}],&quot;type&quot;:2},&quot;shadow&quot;:{&quot;brightness&quot;:0,&quot;colorType&quot;:1,&quot;foreColorIndex&quot;:6,&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920_1*l_h_i*1_1_2"/>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920_1*l_h_i*1_2_2"/>
  <p:tag name="KSO_WM_TEMPLATE_CATEGORY" val="diagram"/>
  <p:tag name="KSO_WM_TEMPLATE_INDEX" val="20230920"/>
  <p:tag name="KSO_WM_UNIT_LAYERLEVEL" val="1_1_1"/>
  <p:tag name="KSO_WM_TAG_VERSION" val="3.0"/>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gradient&quot;:[{&quot;brightness&quot;:0,&quot;colorType&quot;:1,&quot;foreColorIndex&quot;:6,&quot;pos&quot;:0,&quot;transparency&quot;:0},{&quot;brightness&quot;:0,&quot;colorType&quot;:1,&quot;foreColorIndex&quot;:6,&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0_1*l_h_f*1_2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以便观者准确"/>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0_1*l_h_a*1_2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0_1*l_h_f*1_1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单击此处添加文本具体内容，简明扼要地阐述您的观点。根据需要可酌情增减文字"/>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0_1*l_h_a*1_1_1"/>
  <p:tag name="KSO_WM_TEMPLATE_CATEGORY" val="diagram"/>
  <p:tag name="KSO_WM_TEMPLATE_INDEX" val="20230920"/>
  <p:tag name="KSO_WM_UNIT_LAYERLEVEL" val="1_1_1"/>
  <p:tag name="KSO_WM_TAG_VERSION" val="3.0"/>
  <p:tag name="KSO_WM_DIAGRAM_GROUP_CODE" val="l1-1"/>
  <p:tag name="KSO_WM_DIAGRAM_VERSION" val="3"/>
  <p:tag name="KSO_WM_DIAGRAM_COLOR_TRICK" val="2"/>
  <p:tag name="KSO_WM_DIAGRAM_COLOR_TEXT_CAN_REMOVE" val="n"/>
  <p:tag name="KSO_WM_DIAGRAM_MAX_ITEMCNT" val="4"/>
  <p:tag name="KSO_WM_DIAGRAM_MIN_ITEMCNT" val="2"/>
  <p:tag name="KSO_WM_DIAGRAM_VIRTUALLY_FRAME" val="{&quot;height&quot;:651.4903572175898,&quot;left&quot;:35.8,&quot;top&quot;:102.74967890009148,&quot;width&quot;:1424.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PRESET_TEXT" val="添加标题"/>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8.xml><?xml version="1.0" encoding="utf-8"?>
<p:tagLst xmlns:p="http://schemas.openxmlformats.org/presentationml/2006/main">
  <p:tag name="RESOURCE_RECORD_KEY" val="{&quot;70&quot;:[3321782,3312160]}"/>
</p:tagLst>
</file>

<file path=ppt/tags/tag19.xml><?xml version="1.0" encoding="utf-8"?>
<p:tagLst xmlns:p="http://schemas.openxmlformats.org/presentationml/2006/main">
  <p:tag name="KSO_WPP_MARK_KEY" val="072db217-af38-49b9-98e0-1a06d5a1749b"/>
  <p:tag name="COMMONDATA" val="eyJoZGlkIjoiODM5MTNjZTQyOWQxNzdjMTkyMmVhYWQ1OTA5OTI2NmMifQ=="/>
  <p:tag name="commondata" val="eyJoZGlkIjoiZTM4NzlmYmEzOTBkZDkxMTZiYWQwODVlZTAzZTlkODAifQ=="/>
  <p:tag name="resource_record_key" val="{&quot;13&quot;:[4364954],&quot;70&quot;:[3322475,3318595,3312650,3317673,3321782,3318865,331216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1956</Words>
  <Application>WPS 演示</Application>
  <PresentationFormat>On-screen Show (4:3)</PresentationFormat>
  <Paragraphs>38</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Calibri</vt:lpstr>
      <vt:lpstr>微软雅黑</vt:lpstr>
      <vt:lpstr>Arial Unicode MS</vt:lpstr>
      <vt:lpstr>黑体</vt:lpstr>
      <vt:lpstr>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多彩莫兰迪风答辩PPT演示文稿</dc:title>
  <dc:creator/>
  <cp:lastModifiedBy>付宝莹</cp:lastModifiedBy>
  <cp:revision>16</cp:revision>
  <dcterms:created xsi:type="dcterms:W3CDTF">2024-12-04T13:48:00Z</dcterms:created>
  <dcterms:modified xsi:type="dcterms:W3CDTF">2025-01-05T14:10:33Z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0AA1FFF944C348CC991DEC2B651A5F28_13</vt:lpwstr>
  </property>
  <property fmtid="{D5CDD505-2E9C-101B-9397-08002B2CF9AE}" pid="3" name="KSOProductBuildVer">
    <vt:lpwstr>2052-12.1.0.17857</vt:lpwstr>
  </property>
</Properties>
</file>