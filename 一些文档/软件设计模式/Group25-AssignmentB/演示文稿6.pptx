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baoying" initials="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9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24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82.xml"/><Relationship Id="rId23" Type="http://schemas.openxmlformats.org/officeDocument/2006/relationships/tags" Target="../tags/tag81.xml"/><Relationship Id="rId22" Type="http://schemas.openxmlformats.org/officeDocument/2006/relationships/tags" Target="../tags/tag80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image" Target="../media/image2.png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6" Type="http://schemas.openxmlformats.org/officeDocument/2006/relationships/slideLayout" Target="../slideLayouts/slideLayout7.xml"/><Relationship Id="rId45" Type="http://schemas.openxmlformats.org/officeDocument/2006/relationships/tags" Target="../tags/tag123.xml"/><Relationship Id="rId44" Type="http://schemas.openxmlformats.org/officeDocument/2006/relationships/tags" Target="../tags/tag122.xml"/><Relationship Id="rId43" Type="http://schemas.openxmlformats.org/officeDocument/2006/relationships/tags" Target="../tags/tag121.xml"/><Relationship Id="rId42" Type="http://schemas.openxmlformats.org/officeDocument/2006/relationships/tags" Target="../tags/tag120.xml"/><Relationship Id="rId41" Type="http://schemas.openxmlformats.org/officeDocument/2006/relationships/tags" Target="../tags/tag119.xml"/><Relationship Id="rId40" Type="http://schemas.openxmlformats.org/officeDocument/2006/relationships/tags" Target="../tags/tag118.xml"/><Relationship Id="rId4" Type="http://schemas.openxmlformats.org/officeDocument/2006/relationships/image" Target="../media/image4.png"/><Relationship Id="rId39" Type="http://schemas.openxmlformats.org/officeDocument/2006/relationships/tags" Target="../tags/tag117.xml"/><Relationship Id="rId38" Type="http://schemas.openxmlformats.org/officeDocument/2006/relationships/tags" Target="../tags/tag116.xml"/><Relationship Id="rId37" Type="http://schemas.openxmlformats.org/officeDocument/2006/relationships/tags" Target="../tags/tag115.xml"/><Relationship Id="rId36" Type="http://schemas.openxmlformats.org/officeDocument/2006/relationships/tags" Target="../tags/tag114.xml"/><Relationship Id="rId35" Type="http://schemas.openxmlformats.org/officeDocument/2006/relationships/tags" Target="../tags/tag113.xml"/><Relationship Id="rId34" Type="http://schemas.openxmlformats.org/officeDocument/2006/relationships/tags" Target="../tags/tag112.xml"/><Relationship Id="rId33" Type="http://schemas.openxmlformats.org/officeDocument/2006/relationships/tags" Target="../tags/tag111.xml"/><Relationship Id="rId32" Type="http://schemas.openxmlformats.org/officeDocument/2006/relationships/tags" Target="../tags/tag110.xml"/><Relationship Id="rId31" Type="http://schemas.openxmlformats.org/officeDocument/2006/relationships/tags" Target="../tags/tag109.xml"/><Relationship Id="rId30" Type="http://schemas.openxmlformats.org/officeDocument/2006/relationships/tags" Target="../tags/tag108.xml"/><Relationship Id="rId3" Type="http://schemas.openxmlformats.org/officeDocument/2006/relationships/image" Target="../media/image3.png"/><Relationship Id="rId29" Type="http://schemas.openxmlformats.org/officeDocument/2006/relationships/tags" Target="../tags/tag107.xml"/><Relationship Id="rId28" Type="http://schemas.openxmlformats.org/officeDocument/2006/relationships/tags" Target="../tags/tag106.xml"/><Relationship Id="rId27" Type="http://schemas.openxmlformats.org/officeDocument/2006/relationships/tags" Target="../tags/tag105.xml"/><Relationship Id="rId26" Type="http://schemas.openxmlformats.org/officeDocument/2006/relationships/tags" Target="../tags/tag104.xml"/><Relationship Id="rId25" Type="http://schemas.openxmlformats.org/officeDocument/2006/relationships/tags" Target="../tags/tag103.xml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image" Target="../media/image2.png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4188315">
            <a:off x="-2344723" y="-3179579"/>
            <a:ext cx="5182006" cy="4974726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9089632" y="4251429"/>
            <a:ext cx="6347479" cy="6666057"/>
            <a:chOff x="0" y="0"/>
            <a:chExt cx="12694958" cy="1333211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534271">
            <a:off x="-2891573" y="-2383871"/>
            <a:ext cx="4399902" cy="4223906"/>
          </a:xfrm>
          <a:prstGeom prst="rect">
            <a:avLst/>
          </a:prstGeom>
        </p:spPr>
      </p:pic>
      <p:sp>
        <p:nvSpPr>
          <p:cNvPr id="87" name="矩形 86"/>
          <p:cNvSpPr/>
          <p:nvPr>
            <p:custDataLst>
              <p:tags r:id="rId5"/>
            </p:custDataLst>
          </p:nvPr>
        </p:nvSpPr>
        <p:spPr>
          <a:xfrm>
            <a:off x="2644252" y="3767786"/>
            <a:ext cx="414656" cy="490515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altLang="zh-CN" sz="2400" b="1" dirty="0">
              <a:ln w="12700">
                <a:solidFill>
                  <a:schemeClr val="accent2"/>
                </a:solidFill>
              </a:ln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1" name="矩形 100"/>
          <p:cNvSpPr/>
          <p:nvPr>
            <p:custDataLst>
              <p:tags r:id="rId6"/>
            </p:custDataLst>
          </p:nvPr>
        </p:nvSpPr>
        <p:spPr>
          <a:xfrm>
            <a:off x="6005991" y="3767786"/>
            <a:ext cx="414656" cy="490515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altLang="zh-CN" sz="2400" b="1" dirty="0">
              <a:ln w="12700">
                <a:solidFill>
                  <a:schemeClr val="accent1"/>
                </a:solidFill>
              </a:ln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745877" y="381116"/>
            <a:ext cx="6343945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3665">
                <a:solidFill>
                  <a:srgbClr val="16496B"/>
                </a:solidFill>
                <a:ea typeface="思源黑体-粗体 Bold" panose="020B0800000000000000" charset="-122"/>
              </a:rPr>
              <a:t>Problems</a:t>
            </a:r>
            <a:endParaRPr lang="en-US" sz="3665">
              <a:solidFill>
                <a:srgbClr val="16496B"/>
              </a:solidFill>
              <a:latin typeface="Calibri" panose="020F0502020204030204" charset="0"/>
              <a:ea typeface="思源黑体-粗体 Bold" panose="020B0800000000000000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7"/>
            </p:custDataLst>
          </p:nvPr>
        </p:nvGrpSpPr>
        <p:grpSpPr>
          <a:xfrm>
            <a:off x="1190389" y="1600200"/>
            <a:ext cx="3131311" cy="2059787"/>
            <a:chOff x="2812" y="3780"/>
            <a:chExt cx="7397" cy="4866"/>
          </a:xfrm>
        </p:grpSpPr>
        <p:sp>
          <p:nvSpPr>
            <p:cNvPr id="11" name="直角三角形 10"/>
            <p:cNvSpPr/>
            <p:nvPr>
              <p:custDataLst>
                <p:tags r:id="rId8"/>
              </p:custDataLst>
            </p:nvPr>
          </p:nvSpPr>
          <p:spPr>
            <a:xfrm flipH="1" flipV="1">
              <a:off x="2812" y="5192"/>
              <a:ext cx="263" cy="721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935">
                <a:solidFill>
                  <a:schemeClr val="lt1"/>
                </a:solidFill>
              </a:endParaRPr>
            </a:p>
          </p:txBody>
        </p:sp>
        <p:sp>
          <p:nvSpPr>
            <p:cNvPr id="8" name="矩形: 圆角 7"/>
            <p:cNvSpPr/>
            <p:nvPr>
              <p:custDataLst>
                <p:tags r:id="rId9"/>
              </p:custDataLst>
            </p:nvPr>
          </p:nvSpPr>
          <p:spPr>
            <a:xfrm>
              <a:off x="3029" y="4484"/>
              <a:ext cx="7180" cy="4162"/>
            </a:xfrm>
            <a:prstGeom prst="roundRect">
              <a:avLst>
                <a:gd name="adj" fmla="val 8073"/>
              </a:avLst>
            </a:prstGeom>
            <a:solidFill>
              <a:srgbClr val="FFFFFF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203200" dist="76200" dir="8100000" algn="tr" rotWithShape="0">
                <a:schemeClr val="accent1">
                  <a:lumMod val="75000"/>
                  <a:alpha val="20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150170" tIns="216000" rIns="144000" bIns="30776" numCol="1" spcCol="0" rtlCol="0" fromWordArt="0" anchor="ctr" anchorCtr="0" forceAA="0" compatLnSpc="1">
              <a:noAutofit/>
            </a:bodyPr>
            <a:p>
              <a:pPr>
                <a:lnSpc>
                  <a:spcPct val="130000"/>
                </a:lnSpc>
              </a:pPr>
              <a:r>
                <a:rPr lang="zh-CN" altLang="zh-CN" sz="133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endParaRPr lang="zh-CN" altLang="zh-CN" sz="133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endParaRPr lang="zh-CN" altLang="zh-CN" sz="133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133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</a:rPr>
                <a:t>The attack behavior was rigidly defined within the Attack class, preventing dynamic changes to attack patterns without altering the core class.</a:t>
              </a:r>
              <a:endParaRPr lang="zh-CN" altLang="zh-CN" sz="133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endParaRPr lang="zh-CN" altLang="zh-CN" sz="133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endParaRPr lang="zh-CN" altLang="zh-CN" sz="133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矩形: 单圆角 12"/>
            <p:cNvSpPr/>
            <p:nvPr>
              <p:custDataLst>
                <p:tags r:id="rId10"/>
              </p:custDataLst>
            </p:nvPr>
          </p:nvSpPr>
          <p:spPr>
            <a:xfrm>
              <a:off x="2812" y="4034"/>
              <a:ext cx="6450" cy="1205"/>
            </a:xfrm>
            <a:prstGeom prst="round1Rect">
              <a:avLst/>
            </a:prstGeom>
            <a:gradFill flip="none" rotWithShape="1">
              <a:gsLst>
                <a:gs pos="100000">
                  <a:schemeClr val="accent1">
                    <a:alpha val="100000"/>
                  </a:schemeClr>
                </a:gs>
                <a:gs pos="0">
                  <a:schemeClr val="accent1">
                    <a:lumMod val="70000"/>
                    <a:lumOff val="30000"/>
                    <a:alpha val="10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03200" dist="76200" dir="8100000" algn="tr" rotWithShape="0">
                <a:schemeClr val="accent1">
                  <a:lumMod val="75000"/>
                  <a:alpha val="20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indent="180975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Hardcoded behavior</a:t>
              </a:r>
              <a:endParaRPr lang="zh-CN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406" y="3780"/>
              <a:ext cx="954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</a:rPr>
                <a:t>1</a:t>
              </a:r>
              <a:endParaRPr lang="en-US" altLang="zh-CN" sz="40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1"/>
            </p:custDataLst>
          </p:nvPr>
        </p:nvGrpSpPr>
        <p:grpSpPr>
          <a:xfrm>
            <a:off x="4552103" y="1600200"/>
            <a:ext cx="3130764" cy="2060357"/>
            <a:chOff x="10753" y="3780"/>
            <a:chExt cx="7396" cy="4867"/>
          </a:xfrm>
        </p:grpSpPr>
        <p:sp>
          <p:nvSpPr>
            <p:cNvPr id="91" name="直角三角形 90"/>
            <p:cNvSpPr/>
            <p:nvPr>
              <p:custDataLst>
                <p:tags r:id="rId12"/>
              </p:custDataLst>
            </p:nvPr>
          </p:nvSpPr>
          <p:spPr>
            <a:xfrm flipH="1" flipV="1">
              <a:off x="10753" y="5192"/>
              <a:ext cx="263" cy="721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935">
                <a:solidFill>
                  <a:schemeClr val="lt1"/>
                </a:solidFill>
              </a:endParaRPr>
            </a:p>
          </p:txBody>
        </p:sp>
        <p:sp>
          <p:nvSpPr>
            <p:cNvPr id="92" name="矩形: 圆角 91"/>
            <p:cNvSpPr/>
            <p:nvPr>
              <p:custDataLst>
                <p:tags r:id="rId13"/>
              </p:custDataLst>
            </p:nvPr>
          </p:nvSpPr>
          <p:spPr>
            <a:xfrm>
              <a:off x="10969" y="4485"/>
              <a:ext cx="7180" cy="4162"/>
            </a:xfrm>
            <a:prstGeom prst="roundRect">
              <a:avLst>
                <a:gd name="adj" fmla="val 8073"/>
              </a:avLst>
            </a:prstGeom>
            <a:solidFill>
              <a:srgbClr val="FFFFFF"/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  <a:effectLst>
              <a:outerShdw blurRad="203200" dist="76200" dir="8100000" algn="tr" rotWithShape="0">
                <a:schemeClr val="accent2">
                  <a:lumMod val="75000"/>
                  <a:alpha val="20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150170" tIns="216000" rIns="144000" bIns="30776" numCol="1" spcCol="0" rtlCol="0" fromWordArt="0" anchor="ctr" anchorCtr="0" forceAA="0" compatLnSpc="1">
              <a:noAutofit/>
            </a:bodyPr>
            <a:p>
              <a:pPr>
                <a:lnSpc>
                  <a:spcPct val="130000"/>
                </a:lnSpc>
              </a:pPr>
              <a:r>
                <a:rPr lang="zh-CN" altLang="zh-CN" sz="133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Different heroes required unique attack behaviors, resulting in either complex conditional logic or redundant, duplicate code</a:t>
              </a:r>
              <a:endParaRPr lang="zh-CN" altLang="zh-CN" sz="133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3" name="矩形: 单圆角 92"/>
            <p:cNvSpPr/>
            <p:nvPr>
              <p:custDataLst>
                <p:tags r:id="rId14"/>
              </p:custDataLst>
            </p:nvPr>
          </p:nvSpPr>
          <p:spPr>
            <a:xfrm>
              <a:off x="10753" y="4034"/>
              <a:ext cx="6386" cy="1159"/>
            </a:xfrm>
            <a:prstGeom prst="round1Rect">
              <a:avLst/>
            </a:prstGeom>
            <a:gradFill flip="none" rotWithShape="1">
              <a:gsLst>
                <a:gs pos="100000">
                  <a:srgbClr val="F6B99D"/>
                </a:gs>
                <a:gs pos="0">
                  <a:schemeClr val="accent6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03200" dist="76200" dir="8100000" algn="tr" rotWithShape="0">
                <a:schemeClr val="accent2">
                  <a:lumMod val="75000"/>
                  <a:alpha val="20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indent="180975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behavior complexity</a:t>
              </a:r>
              <a:endParaRPr lang="zh-CN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6205" y="3780"/>
              <a:ext cx="1049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</a:rPr>
                <a:t>2</a:t>
              </a:r>
              <a:endParaRPr lang="en-US" altLang="zh-CN" sz="40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940887" y="1600200"/>
            <a:ext cx="3556000" cy="2059940"/>
            <a:chOff x="2812" y="3780"/>
            <a:chExt cx="8400" cy="4866"/>
          </a:xfrm>
        </p:grpSpPr>
        <p:sp>
          <p:nvSpPr>
            <p:cNvPr id="15" name="直角三角形 14"/>
            <p:cNvSpPr/>
            <p:nvPr>
              <p:custDataLst>
                <p:tags r:id="rId15"/>
              </p:custDataLst>
            </p:nvPr>
          </p:nvSpPr>
          <p:spPr>
            <a:xfrm flipH="1" flipV="1">
              <a:off x="2812" y="5192"/>
              <a:ext cx="263" cy="721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935">
                <a:solidFill>
                  <a:schemeClr val="lt1"/>
                </a:solidFill>
              </a:endParaRPr>
            </a:p>
          </p:txBody>
        </p:sp>
        <p:sp>
          <p:nvSpPr>
            <p:cNvPr id="16" name="矩形: 圆角 7"/>
            <p:cNvSpPr/>
            <p:nvPr>
              <p:custDataLst>
                <p:tags r:id="rId16"/>
              </p:custDataLst>
            </p:nvPr>
          </p:nvSpPr>
          <p:spPr>
            <a:xfrm>
              <a:off x="3029" y="4484"/>
              <a:ext cx="8183" cy="4162"/>
            </a:xfrm>
            <a:prstGeom prst="roundRect">
              <a:avLst>
                <a:gd name="adj" fmla="val 8073"/>
              </a:avLst>
            </a:prstGeom>
            <a:solidFill>
              <a:srgbClr val="FFFFFF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203200" dist="76200" dir="8100000" algn="tr" rotWithShape="0">
                <a:schemeClr val="accent1">
                  <a:lumMod val="75000"/>
                  <a:alpha val="20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150170" tIns="216000" rIns="144000" bIns="30776" numCol="1" spcCol="0" rtlCol="0" fromWordArt="0" anchor="ctr" anchorCtr="0" forceAA="0" compatLnSpc="1">
              <a:noAutofit/>
            </a:bodyPr>
            <a:p>
              <a:pPr>
                <a:lnSpc>
                  <a:spcPct val="130000"/>
                </a:lnSpc>
              </a:pPr>
              <a:r>
                <a:rPr lang="zh-CN" altLang="zh-CN" sz="133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Movement patterns and hit detection were tightly interdependent</a:t>
              </a:r>
              <a:endParaRPr lang="zh-CN" altLang="zh-CN" sz="133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>
                <a:lnSpc>
                  <a:spcPct val="130000"/>
                </a:lnSpc>
              </a:pPr>
              <a:r>
                <a:rPr lang="zh-CN" altLang="zh-CN" sz="133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challenging to modify one without inadvertently impacting the other.</a:t>
              </a:r>
              <a:endParaRPr lang="zh-CN" altLang="zh-CN" sz="133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" name="矩形: 单圆角 12"/>
            <p:cNvSpPr/>
            <p:nvPr>
              <p:custDataLst>
                <p:tags r:id="rId17"/>
              </p:custDataLst>
            </p:nvPr>
          </p:nvSpPr>
          <p:spPr>
            <a:xfrm>
              <a:off x="2812" y="4034"/>
              <a:ext cx="7154" cy="1159"/>
            </a:xfrm>
            <a:prstGeom prst="round1Rect">
              <a:avLst/>
            </a:prstGeom>
            <a:gradFill flip="none" rotWithShape="1">
              <a:gsLst>
                <a:gs pos="100000">
                  <a:schemeClr val="accent1">
                    <a:alpha val="100000"/>
                  </a:schemeClr>
                </a:gs>
                <a:gs pos="0">
                  <a:schemeClr val="accent1">
                    <a:lumMod val="70000"/>
                    <a:lumOff val="30000"/>
                    <a:alpha val="10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03200" dist="76200" dir="8100000" algn="tr" rotWithShape="0">
                <a:schemeClr val="accent1">
                  <a:lumMod val="75000"/>
                  <a:alpha val="20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indent="180975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Coupling of movement</a:t>
              </a:r>
              <a:endParaRPr lang="zh-CN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indent="180975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&amp; H</a:t>
              </a:r>
              <a:r>
                <a:rPr lang="zh-CN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it detection </a:t>
              </a:r>
              <a:endParaRPr lang="zh-CN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982" y="3780"/>
              <a:ext cx="866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</a:rPr>
                <a:t>3</a:t>
              </a:r>
              <a:endParaRPr lang="en-US" altLang="zh-CN" sz="40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20697" y="3818467"/>
            <a:ext cx="3547110" cy="2134447"/>
            <a:chOff x="2812" y="3780"/>
            <a:chExt cx="8379" cy="5042"/>
          </a:xfrm>
        </p:grpSpPr>
        <p:sp>
          <p:nvSpPr>
            <p:cNvPr id="20" name="直角三角形 19"/>
            <p:cNvSpPr/>
            <p:nvPr>
              <p:custDataLst>
                <p:tags r:id="rId18"/>
              </p:custDataLst>
            </p:nvPr>
          </p:nvSpPr>
          <p:spPr>
            <a:xfrm flipH="1" flipV="1">
              <a:off x="2812" y="5192"/>
              <a:ext cx="263" cy="721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935">
                <a:solidFill>
                  <a:schemeClr val="lt1"/>
                </a:solidFill>
              </a:endParaRPr>
            </a:p>
          </p:txBody>
        </p:sp>
        <p:sp>
          <p:nvSpPr>
            <p:cNvPr id="21" name="矩形: 圆角 7"/>
            <p:cNvSpPr/>
            <p:nvPr>
              <p:custDataLst>
                <p:tags r:id="rId19"/>
              </p:custDataLst>
            </p:nvPr>
          </p:nvSpPr>
          <p:spPr>
            <a:xfrm>
              <a:off x="2920" y="4660"/>
              <a:ext cx="8271" cy="4162"/>
            </a:xfrm>
            <a:prstGeom prst="roundRect">
              <a:avLst>
                <a:gd name="adj" fmla="val 8073"/>
              </a:avLst>
            </a:prstGeom>
            <a:solidFill>
              <a:srgbClr val="FFFFFF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203200" dist="76200" dir="8100000" algn="tr" rotWithShape="0">
                <a:schemeClr val="accent1">
                  <a:lumMod val="75000"/>
                  <a:alpha val="20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150170" tIns="216000" rIns="144000" bIns="30776" numCol="1" spcCol="0" rtlCol="0" fromWordArt="0" anchor="ctr" anchorCtr="0" forceAA="0" compatLnSpc="1">
              <a:noAutofit/>
            </a:bodyPr>
            <a:p>
              <a:pPr>
                <a:lnSpc>
                  <a:spcPct val="130000"/>
                </a:lnSpc>
              </a:pPr>
              <a:r>
                <a:rPr lang="zh-CN" altLang="zh-CN" sz="133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Testing difficulty due to tight coupling: The strong interdependence of attack behaviors made isolated testing difficult, reducing flexibility and complicating the testing process.</a:t>
              </a:r>
              <a:endParaRPr lang="zh-CN" altLang="zh-CN" sz="133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" name="矩形: 单圆角 12"/>
            <p:cNvSpPr/>
            <p:nvPr>
              <p:custDataLst>
                <p:tags r:id="rId20"/>
              </p:custDataLst>
            </p:nvPr>
          </p:nvSpPr>
          <p:spPr>
            <a:xfrm>
              <a:off x="2812" y="4034"/>
              <a:ext cx="4429" cy="1159"/>
            </a:xfrm>
            <a:prstGeom prst="round1Rect">
              <a:avLst/>
            </a:prstGeom>
            <a:gradFill flip="none" rotWithShape="1">
              <a:gsLst>
                <a:gs pos="100000">
                  <a:schemeClr val="accent1">
                    <a:alpha val="100000"/>
                  </a:schemeClr>
                </a:gs>
                <a:gs pos="0">
                  <a:schemeClr val="accent1">
                    <a:lumMod val="70000"/>
                    <a:lumOff val="30000"/>
                    <a:alpha val="10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03200" dist="76200" dir="8100000" algn="tr" rotWithShape="0">
                <a:schemeClr val="accent1">
                  <a:lumMod val="75000"/>
                  <a:alpha val="20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indent="180975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335" b="1">
                  <a:solidFill>
                    <a:schemeClr val="lt1">
                      <a:lumMod val="100000"/>
                    </a:schemeClr>
                  </a:solidFill>
                  <a:latin typeface="+mn-ea"/>
                  <a:cs typeface="+mn-ea"/>
                  <a:sym typeface="+mn-ea"/>
                </a:rPr>
                <a:t>添加标题</a:t>
              </a:r>
              <a:endParaRPr lang="zh-CN" altLang="en-US" sz="1335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006" y="3780"/>
              <a:ext cx="954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000" b="1">
                  <a:solidFill>
                    <a:schemeClr val="bg1"/>
                  </a:solidFill>
                </a:rPr>
                <a:t>5</a:t>
              </a:r>
              <a:endParaRPr lang="en-US" altLang="zh-CN" sz="40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082800" y="3835400"/>
            <a:ext cx="3740394" cy="2026920"/>
            <a:chOff x="10753" y="3859"/>
            <a:chExt cx="8920" cy="4788"/>
          </a:xfrm>
        </p:grpSpPr>
        <p:sp>
          <p:nvSpPr>
            <p:cNvPr id="26" name="直角三角形 25"/>
            <p:cNvSpPr/>
            <p:nvPr>
              <p:custDataLst>
                <p:tags r:id="rId21"/>
              </p:custDataLst>
            </p:nvPr>
          </p:nvSpPr>
          <p:spPr>
            <a:xfrm flipH="1" flipV="1">
              <a:off x="10753" y="5192"/>
              <a:ext cx="263" cy="721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935">
                <a:solidFill>
                  <a:schemeClr val="lt1"/>
                </a:solidFill>
              </a:endParaRPr>
            </a:p>
          </p:txBody>
        </p:sp>
        <p:sp>
          <p:nvSpPr>
            <p:cNvPr id="27" name="矩形: 圆角 91"/>
            <p:cNvSpPr/>
            <p:nvPr>
              <p:custDataLst>
                <p:tags r:id="rId22"/>
              </p:custDataLst>
            </p:nvPr>
          </p:nvSpPr>
          <p:spPr>
            <a:xfrm>
              <a:off x="10969" y="4485"/>
              <a:ext cx="8704" cy="4162"/>
            </a:xfrm>
            <a:prstGeom prst="roundRect">
              <a:avLst>
                <a:gd name="adj" fmla="val 8073"/>
              </a:avLst>
            </a:prstGeom>
            <a:solidFill>
              <a:srgbClr val="FFFFFF"/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  <a:effectLst>
              <a:outerShdw blurRad="203200" dist="76200" dir="8100000" algn="tr" rotWithShape="0">
                <a:schemeClr val="accent2">
                  <a:lumMod val="75000"/>
                  <a:alpha val="20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150170" tIns="216000" rIns="144000" bIns="30776" numCol="1" spcCol="0" rtlCol="0" fromWordArt="0" anchor="ctr" anchorCtr="0" forceAA="0" compatLnSpc="1">
              <a:noAutofit/>
            </a:bodyPr>
            <a:p>
              <a:pPr>
                <a:lnSpc>
                  <a:spcPct val="130000"/>
                </a:lnSpc>
              </a:pPr>
              <a:r>
                <a:rPr lang="zh-CN" altLang="zh-CN" sz="133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Adding new attack types necessitated changes to existing code, conflicting with the principle of keeping software modules open for extension but closed for modification.</a:t>
              </a:r>
              <a:endParaRPr lang="zh-CN" altLang="zh-CN" sz="133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8" name="矩形: 单圆角 92"/>
            <p:cNvSpPr/>
            <p:nvPr>
              <p:custDataLst>
                <p:tags r:id="rId23"/>
              </p:custDataLst>
            </p:nvPr>
          </p:nvSpPr>
          <p:spPr>
            <a:xfrm>
              <a:off x="10753" y="4034"/>
              <a:ext cx="7222" cy="1159"/>
            </a:xfrm>
            <a:prstGeom prst="round1Rect">
              <a:avLst/>
            </a:prstGeom>
            <a:gradFill flip="none" rotWithShape="1">
              <a:gsLst>
                <a:gs pos="100000">
                  <a:srgbClr val="F6B99D"/>
                </a:gs>
                <a:gs pos="0">
                  <a:schemeClr val="accent6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203200" dist="76200" dir="8100000" algn="tr" rotWithShape="0">
                <a:schemeClr val="accent2">
                  <a:lumMod val="75000"/>
                  <a:alpha val="20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indent="180975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Violate</a:t>
              </a:r>
              <a:endParaRPr lang="zh-CN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indent="180975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Open-Closed Principle</a:t>
              </a:r>
              <a:endParaRPr lang="zh-CN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6916" y="3859"/>
              <a:ext cx="842" cy="15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4000" b="1">
                  <a:solidFill>
                    <a:schemeClr val="bg1"/>
                  </a:solidFill>
                </a:rPr>
                <a:t>4</a:t>
              </a:r>
              <a:endParaRPr lang="en-US" altLang="zh-CN" sz="4000" b="1">
                <a:solidFill>
                  <a:schemeClr val="bg1"/>
                </a:solidFill>
              </a:endParaRPr>
            </a:p>
          </p:txBody>
        </p:sp>
      </p:grpSp>
    </p:spTree>
    <p:custDataLst>
      <p:tags r:id="rId2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4188315">
            <a:off x="-2344723" y="-3179579"/>
            <a:ext cx="5182006" cy="4974726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9089632" y="4251429"/>
            <a:ext cx="6347479" cy="6666057"/>
            <a:chOff x="0" y="0"/>
            <a:chExt cx="12694958" cy="1333211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534271">
            <a:off x="-2891573" y="-2383871"/>
            <a:ext cx="4399902" cy="4223906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2745877" y="26151"/>
            <a:ext cx="6343945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3665">
                <a:solidFill>
                  <a:srgbClr val="16496B"/>
                </a:solidFill>
                <a:latin typeface="Calibri" panose="020F0502020204030204" charset="0"/>
                <a:ea typeface="思源黑体-粗体 Bold" panose="020B0800000000000000" charset="-122"/>
              </a:rPr>
              <a:t>Benefits</a:t>
            </a:r>
            <a:endParaRPr lang="en-US" sz="3665">
              <a:solidFill>
                <a:srgbClr val="16496B"/>
              </a:solidFill>
              <a:latin typeface="Calibri" panose="020F0502020204030204" charset="0"/>
              <a:ea typeface="思源黑体-粗体 Bold" panose="020B0800000000000000" charset="-122"/>
            </a:endParaRPr>
          </a:p>
        </p:txBody>
      </p:sp>
      <p:sp>
        <p:nvSpPr>
          <p:cNvPr id="14" name="六边形 13"/>
          <p:cNvSpPr/>
          <p:nvPr>
            <p:custDataLst>
              <p:tags r:id="rId5"/>
            </p:custDataLst>
          </p:nvPr>
        </p:nvSpPr>
        <p:spPr>
          <a:xfrm rot="5400000">
            <a:off x="1019710" y="1470283"/>
            <a:ext cx="1974823" cy="1834287"/>
          </a:xfrm>
          <a:prstGeom prst="hexagon">
            <a:avLst>
              <a:gd name="adj" fmla="val 29159"/>
              <a:gd name="vf" fmla="val 115470"/>
            </a:avLst>
          </a:prstGeom>
          <a:noFill/>
          <a:ln>
            <a:gradFill>
              <a:gsLst>
                <a:gs pos="3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6"/>
            </p:custDataLst>
          </p:nvPr>
        </p:nvSpPr>
        <p:spPr>
          <a:xfrm>
            <a:off x="1217339" y="2075613"/>
            <a:ext cx="1564927" cy="915680"/>
          </a:xfrm>
          <a:custGeom>
            <a:avLst/>
            <a:gdLst>
              <a:gd name="connsiteX0" fmla="*/ 0 w 2544"/>
              <a:gd name="connsiteY0" fmla="*/ 730 h 1489"/>
              <a:gd name="connsiteX1" fmla="*/ 1264 w 2544"/>
              <a:gd name="connsiteY1" fmla="*/ 0 h 1489"/>
              <a:gd name="connsiteX2" fmla="*/ 2544 w 2544"/>
              <a:gd name="connsiteY2" fmla="*/ 741 h 1489"/>
              <a:gd name="connsiteX3" fmla="*/ 1262 w 2544"/>
              <a:gd name="connsiteY3" fmla="*/ 1489 h 1489"/>
              <a:gd name="connsiteX4" fmla="*/ 0 w 2544"/>
              <a:gd name="connsiteY4" fmla="*/ 730 h 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4" h="1489">
                <a:moveTo>
                  <a:pt x="0" y="730"/>
                </a:moveTo>
                <a:lnTo>
                  <a:pt x="1264" y="0"/>
                </a:lnTo>
                <a:lnTo>
                  <a:pt x="2544" y="741"/>
                </a:lnTo>
                <a:lnTo>
                  <a:pt x="1262" y="1489"/>
                </a:lnTo>
                <a:lnTo>
                  <a:pt x="0" y="73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55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7"/>
            </p:custDataLst>
          </p:nvPr>
        </p:nvSpPr>
        <p:spPr>
          <a:xfrm>
            <a:off x="1216607" y="2523571"/>
            <a:ext cx="779535" cy="669010"/>
          </a:xfrm>
          <a:custGeom>
            <a:avLst/>
            <a:gdLst>
              <a:gd name="connsiteX0" fmla="*/ 0 w 1350"/>
              <a:gd name="connsiteY0" fmla="*/ 0 h 1160"/>
              <a:gd name="connsiteX1" fmla="*/ 1350 w 1350"/>
              <a:gd name="connsiteY1" fmla="*/ 811 h 1160"/>
              <a:gd name="connsiteX2" fmla="*/ 1348 w 1350"/>
              <a:gd name="connsiteY2" fmla="*/ 1160 h 1160"/>
              <a:gd name="connsiteX3" fmla="*/ 4 w 1350"/>
              <a:gd name="connsiteY3" fmla="*/ 373 h 1160"/>
              <a:gd name="connsiteX4" fmla="*/ 0 w 1350"/>
              <a:gd name="connsiteY4" fmla="*/ 0 h 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0" h="1160">
                <a:moveTo>
                  <a:pt x="0" y="0"/>
                </a:moveTo>
                <a:lnTo>
                  <a:pt x="1350" y="811"/>
                </a:lnTo>
                <a:lnTo>
                  <a:pt x="1348" y="1160"/>
                </a:lnTo>
                <a:lnTo>
                  <a:pt x="4" y="37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32" name="任意多边形 31"/>
          <p:cNvSpPr/>
          <p:nvPr>
            <p:custDataLst>
              <p:tags r:id="rId8"/>
            </p:custDataLst>
          </p:nvPr>
        </p:nvSpPr>
        <p:spPr>
          <a:xfrm>
            <a:off x="1995410" y="2530891"/>
            <a:ext cx="788319" cy="661690"/>
          </a:xfrm>
          <a:custGeom>
            <a:avLst/>
            <a:gdLst>
              <a:gd name="connsiteX0" fmla="*/ 1 w 1279"/>
              <a:gd name="connsiteY0" fmla="*/ 744 h 1074"/>
              <a:gd name="connsiteX1" fmla="*/ 1279 w 1279"/>
              <a:gd name="connsiteY1" fmla="*/ 0 h 1074"/>
              <a:gd name="connsiteX2" fmla="*/ 1275 w 1279"/>
              <a:gd name="connsiteY2" fmla="*/ 333 h 1074"/>
              <a:gd name="connsiteX3" fmla="*/ 0 w 1279"/>
              <a:gd name="connsiteY3" fmla="*/ 1074 h 1074"/>
              <a:gd name="connsiteX4" fmla="*/ 1 w 1279"/>
              <a:gd name="connsiteY4" fmla="*/ 744 h 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9" h="1074">
                <a:moveTo>
                  <a:pt x="1" y="744"/>
                </a:moveTo>
                <a:lnTo>
                  <a:pt x="1279" y="0"/>
                </a:lnTo>
                <a:lnTo>
                  <a:pt x="1275" y="333"/>
                </a:lnTo>
                <a:lnTo>
                  <a:pt x="0" y="1074"/>
                </a:lnTo>
                <a:lnTo>
                  <a:pt x="1" y="74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5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33" name="任意多边形 32"/>
          <p:cNvSpPr/>
          <p:nvPr>
            <p:custDataLst>
              <p:tags r:id="rId9"/>
            </p:custDataLst>
          </p:nvPr>
        </p:nvSpPr>
        <p:spPr>
          <a:xfrm>
            <a:off x="1224658" y="1681087"/>
            <a:ext cx="1564927" cy="916412"/>
          </a:xfrm>
          <a:custGeom>
            <a:avLst/>
            <a:gdLst>
              <a:gd name="connsiteX0" fmla="*/ 0 w 2544"/>
              <a:gd name="connsiteY0" fmla="*/ 730 h 1489"/>
              <a:gd name="connsiteX1" fmla="*/ 1264 w 2544"/>
              <a:gd name="connsiteY1" fmla="*/ 0 h 1489"/>
              <a:gd name="connsiteX2" fmla="*/ 2544 w 2544"/>
              <a:gd name="connsiteY2" fmla="*/ 741 h 1489"/>
              <a:gd name="connsiteX3" fmla="*/ 1262 w 2544"/>
              <a:gd name="connsiteY3" fmla="*/ 1489 h 1489"/>
              <a:gd name="connsiteX4" fmla="*/ 0 w 2544"/>
              <a:gd name="connsiteY4" fmla="*/ 730 h 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4" h="1489">
                <a:moveTo>
                  <a:pt x="0" y="730"/>
                </a:moveTo>
                <a:lnTo>
                  <a:pt x="1264" y="0"/>
                </a:lnTo>
                <a:lnTo>
                  <a:pt x="2544" y="741"/>
                </a:lnTo>
                <a:lnTo>
                  <a:pt x="1262" y="1489"/>
                </a:lnTo>
                <a:lnTo>
                  <a:pt x="0" y="73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70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2000" b="1">
              <a:solidFill>
                <a:schemeClr val="accent1"/>
              </a:solidFill>
              <a:effectLst>
                <a:outerShdw dist="25400" dir="3000000" algn="t" rotWithShape="0">
                  <a:schemeClr val="bg1"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34" name="任意多边形 33"/>
          <p:cNvSpPr/>
          <p:nvPr>
            <p:custDataLst>
              <p:tags r:id="rId10"/>
            </p:custDataLst>
          </p:nvPr>
        </p:nvSpPr>
        <p:spPr>
          <a:xfrm>
            <a:off x="1215143" y="2128314"/>
            <a:ext cx="779535" cy="669742"/>
          </a:xfrm>
          <a:custGeom>
            <a:avLst/>
            <a:gdLst>
              <a:gd name="connsiteX0" fmla="*/ 0 w 1350"/>
              <a:gd name="connsiteY0" fmla="*/ 0 h 1160"/>
              <a:gd name="connsiteX1" fmla="*/ 1350 w 1350"/>
              <a:gd name="connsiteY1" fmla="*/ 811 h 1160"/>
              <a:gd name="connsiteX2" fmla="*/ 1348 w 1350"/>
              <a:gd name="connsiteY2" fmla="*/ 1160 h 1160"/>
              <a:gd name="connsiteX3" fmla="*/ 4 w 1350"/>
              <a:gd name="connsiteY3" fmla="*/ 373 h 1160"/>
              <a:gd name="connsiteX4" fmla="*/ 0 w 1350"/>
              <a:gd name="connsiteY4" fmla="*/ 0 h 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0" h="1160">
                <a:moveTo>
                  <a:pt x="0" y="0"/>
                </a:moveTo>
                <a:lnTo>
                  <a:pt x="1350" y="811"/>
                </a:lnTo>
                <a:lnTo>
                  <a:pt x="1348" y="1160"/>
                </a:lnTo>
                <a:lnTo>
                  <a:pt x="4" y="37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35" name="任意多边形 34"/>
          <p:cNvSpPr/>
          <p:nvPr>
            <p:custDataLst>
              <p:tags r:id="rId11"/>
            </p:custDataLst>
          </p:nvPr>
        </p:nvSpPr>
        <p:spPr>
          <a:xfrm>
            <a:off x="1993946" y="2135633"/>
            <a:ext cx="788319" cy="659494"/>
          </a:xfrm>
          <a:custGeom>
            <a:avLst/>
            <a:gdLst>
              <a:gd name="connsiteX0" fmla="*/ 1 w 1282"/>
              <a:gd name="connsiteY0" fmla="*/ 746 h 1072"/>
              <a:gd name="connsiteX1" fmla="*/ 1282 w 1282"/>
              <a:gd name="connsiteY1" fmla="*/ 0 h 1072"/>
              <a:gd name="connsiteX2" fmla="*/ 1278 w 1282"/>
              <a:gd name="connsiteY2" fmla="*/ 334 h 1072"/>
              <a:gd name="connsiteX3" fmla="*/ 0 w 1282"/>
              <a:gd name="connsiteY3" fmla="*/ 1072 h 1072"/>
              <a:gd name="connsiteX4" fmla="*/ 1 w 1282"/>
              <a:gd name="connsiteY4" fmla="*/ 746 h 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2" h="1072">
                <a:moveTo>
                  <a:pt x="1" y="746"/>
                </a:moveTo>
                <a:lnTo>
                  <a:pt x="1282" y="0"/>
                </a:lnTo>
                <a:lnTo>
                  <a:pt x="1278" y="334"/>
                </a:lnTo>
                <a:lnTo>
                  <a:pt x="0" y="1072"/>
                </a:lnTo>
                <a:lnTo>
                  <a:pt x="1" y="74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5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36" name="任意多边形 35"/>
          <p:cNvSpPr/>
          <p:nvPr>
            <p:custDataLst>
              <p:tags r:id="rId12"/>
            </p:custDataLst>
          </p:nvPr>
        </p:nvSpPr>
        <p:spPr>
          <a:xfrm>
            <a:off x="2919590" y="1527674"/>
            <a:ext cx="5222521" cy="525546"/>
          </a:xfrm>
          <a:custGeom>
            <a:avLst/>
            <a:gdLst>
              <a:gd name="connisteX0" fmla="*/ 0 w 5379720"/>
              <a:gd name="connsiteY0" fmla="*/ 541020 h 541020"/>
              <a:gd name="connisteX1" fmla="*/ 678180 w 5379720"/>
              <a:gd name="connsiteY1" fmla="*/ 0 h 541020"/>
              <a:gd name="connisteX2" fmla="*/ 5379720 w 5379720"/>
              <a:gd name="connsiteY2" fmla="*/ 0 h 5410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5379720" h="541020">
                <a:moveTo>
                  <a:pt x="0" y="541020"/>
                </a:moveTo>
                <a:lnTo>
                  <a:pt x="678180" y="0"/>
                </a:lnTo>
                <a:lnTo>
                  <a:pt x="5379720" y="0"/>
                </a:lnTo>
              </a:path>
            </a:pathLst>
          </a:custGeom>
          <a:noFill/>
          <a:ln>
            <a:solidFill>
              <a:schemeClr val="accent1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37" name="六边形 36"/>
          <p:cNvSpPr/>
          <p:nvPr>
            <p:custDataLst>
              <p:tags r:id="rId13"/>
            </p:custDataLst>
          </p:nvPr>
        </p:nvSpPr>
        <p:spPr>
          <a:xfrm rot="5400000">
            <a:off x="9187631" y="1334871"/>
            <a:ext cx="1974823" cy="1834287"/>
          </a:xfrm>
          <a:prstGeom prst="hexagon">
            <a:avLst>
              <a:gd name="adj" fmla="val 29159"/>
              <a:gd name="vf" fmla="val 115470"/>
            </a:avLst>
          </a:prstGeom>
          <a:noFill/>
          <a:ln>
            <a:gradFill>
              <a:gsLst>
                <a:gs pos="3000">
                  <a:schemeClr val="accent2">
                    <a:alpha val="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14"/>
            </p:custDataLst>
          </p:nvPr>
        </p:nvSpPr>
        <p:spPr>
          <a:xfrm>
            <a:off x="9391847" y="1939468"/>
            <a:ext cx="1564927" cy="915680"/>
          </a:xfrm>
          <a:custGeom>
            <a:avLst/>
            <a:gdLst>
              <a:gd name="connsiteX0" fmla="*/ 0 w 2544"/>
              <a:gd name="connsiteY0" fmla="*/ 730 h 1489"/>
              <a:gd name="connsiteX1" fmla="*/ 1264 w 2544"/>
              <a:gd name="connsiteY1" fmla="*/ 0 h 1489"/>
              <a:gd name="connsiteX2" fmla="*/ 2544 w 2544"/>
              <a:gd name="connsiteY2" fmla="*/ 741 h 1489"/>
              <a:gd name="connsiteX3" fmla="*/ 1262 w 2544"/>
              <a:gd name="connsiteY3" fmla="*/ 1489 h 1489"/>
              <a:gd name="connsiteX4" fmla="*/ 0 w 2544"/>
              <a:gd name="connsiteY4" fmla="*/ 730 h 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4" h="1489">
                <a:moveTo>
                  <a:pt x="0" y="730"/>
                </a:moveTo>
                <a:lnTo>
                  <a:pt x="1264" y="0"/>
                </a:lnTo>
                <a:lnTo>
                  <a:pt x="2544" y="741"/>
                </a:lnTo>
                <a:lnTo>
                  <a:pt x="1262" y="1489"/>
                </a:lnTo>
                <a:lnTo>
                  <a:pt x="0" y="73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55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15"/>
            </p:custDataLst>
          </p:nvPr>
        </p:nvSpPr>
        <p:spPr>
          <a:xfrm>
            <a:off x="9391847" y="2387427"/>
            <a:ext cx="779535" cy="669010"/>
          </a:xfrm>
          <a:custGeom>
            <a:avLst/>
            <a:gdLst>
              <a:gd name="connsiteX0" fmla="*/ 0 w 1350"/>
              <a:gd name="connsiteY0" fmla="*/ 0 h 1160"/>
              <a:gd name="connsiteX1" fmla="*/ 1350 w 1350"/>
              <a:gd name="connsiteY1" fmla="*/ 811 h 1160"/>
              <a:gd name="connsiteX2" fmla="*/ 1348 w 1350"/>
              <a:gd name="connsiteY2" fmla="*/ 1160 h 1160"/>
              <a:gd name="connsiteX3" fmla="*/ 4 w 1350"/>
              <a:gd name="connsiteY3" fmla="*/ 373 h 1160"/>
              <a:gd name="connsiteX4" fmla="*/ 0 w 1350"/>
              <a:gd name="connsiteY4" fmla="*/ 0 h 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0" h="1160">
                <a:moveTo>
                  <a:pt x="0" y="0"/>
                </a:moveTo>
                <a:lnTo>
                  <a:pt x="1350" y="811"/>
                </a:lnTo>
                <a:lnTo>
                  <a:pt x="1348" y="1160"/>
                </a:lnTo>
                <a:lnTo>
                  <a:pt x="4" y="37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1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40" name="任意多边形 39"/>
          <p:cNvSpPr/>
          <p:nvPr>
            <p:custDataLst>
              <p:tags r:id="rId16"/>
            </p:custDataLst>
          </p:nvPr>
        </p:nvSpPr>
        <p:spPr>
          <a:xfrm>
            <a:off x="10169919" y="2394746"/>
            <a:ext cx="788319" cy="659494"/>
          </a:xfrm>
          <a:custGeom>
            <a:avLst/>
            <a:gdLst>
              <a:gd name="connsiteX0" fmla="*/ 1 w 1282"/>
              <a:gd name="connsiteY0" fmla="*/ 746 h 1072"/>
              <a:gd name="connsiteX1" fmla="*/ 1282 w 1282"/>
              <a:gd name="connsiteY1" fmla="*/ 0 h 1072"/>
              <a:gd name="connsiteX2" fmla="*/ 1278 w 1282"/>
              <a:gd name="connsiteY2" fmla="*/ 334 h 1072"/>
              <a:gd name="connsiteX3" fmla="*/ 0 w 1282"/>
              <a:gd name="connsiteY3" fmla="*/ 1072 h 1072"/>
              <a:gd name="connsiteX4" fmla="*/ 1 w 1282"/>
              <a:gd name="connsiteY4" fmla="*/ 746 h 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2" h="1072">
                <a:moveTo>
                  <a:pt x="1" y="746"/>
                </a:moveTo>
                <a:lnTo>
                  <a:pt x="1282" y="0"/>
                </a:lnTo>
                <a:lnTo>
                  <a:pt x="1278" y="334"/>
                </a:lnTo>
                <a:lnTo>
                  <a:pt x="0" y="1072"/>
                </a:lnTo>
                <a:lnTo>
                  <a:pt x="1" y="746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85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41" name="任意多边形 40"/>
          <p:cNvSpPr/>
          <p:nvPr>
            <p:custDataLst>
              <p:tags r:id="rId17"/>
            </p:custDataLst>
          </p:nvPr>
        </p:nvSpPr>
        <p:spPr>
          <a:xfrm>
            <a:off x="9392579" y="1544943"/>
            <a:ext cx="1564927" cy="916412"/>
          </a:xfrm>
          <a:custGeom>
            <a:avLst/>
            <a:gdLst>
              <a:gd name="connsiteX0" fmla="*/ 0 w 2544"/>
              <a:gd name="connsiteY0" fmla="*/ 730 h 1489"/>
              <a:gd name="connsiteX1" fmla="*/ 1264 w 2544"/>
              <a:gd name="connsiteY1" fmla="*/ 0 h 1489"/>
              <a:gd name="connsiteX2" fmla="*/ 2544 w 2544"/>
              <a:gd name="connsiteY2" fmla="*/ 741 h 1489"/>
              <a:gd name="connsiteX3" fmla="*/ 1262 w 2544"/>
              <a:gd name="connsiteY3" fmla="*/ 1489 h 1489"/>
              <a:gd name="connsiteX4" fmla="*/ 0 w 2544"/>
              <a:gd name="connsiteY4" fmla="*/ 730 h 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4" h="1489">
                <a:moveTo>
                  <a:pt x="0" y="730"/>
                </a:moveTo>
                <a:lnTo>
                  <a:pt x="1264" y="0"/>
                </a:lnTo>
                <a:lnTo>
                  <a:pt x="2544" y="741"/>
                </a:lnTo>
                <a:lnTo>
                  <a:pt x="1262" y="1489"/>
                </a:lnTo>
                <a:lnTo>
                  <a:pt x="0" y="73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2000" b="1">
              <a:solidFill>
                <a:schemeClr val="accent2"/>
              </a:solidFill>
              <a:effectLst>
                <a:outerShdw dist="25400" dir="3000000" algn="t" rotWithShape="0">
                  <a:schemeClr val="bg1"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42" name="任意多边形 41"/>
          <p:cNvSpPr/>
          <p:nvPr>
            <p:custDataLst>
              <p:tags r:id="rId18"/>
            </p:custDataLst>
          </p:nvPr>
        </p:nvSpPr>
        <p:spPr>
          <a:xfrm>
            <a:off x="9383064" y="1992901"/>
            <a:ext cx="779535" cy="669742"/>
          </a:xfrm>
          <a:custGeom>
            <a:avLst/>
            <a:gdLst>
              <a:gd name="connsiteX0" fmla="*/ 0 w 1350"/>
              <a:gd name="connsiteY0" fmla="*/ 0 h 1160"/>
              <a:gd name="connsiteX1" fmla="*/ 1350 w 1350"/>
              <a:gd name="connsiteY1" fmla="*/ 811 h 1160"/>
              <a:gd name="connsiteX2" fmla="*/ 1348 w 1350"/>
              <a:gd name="connsiteY2" fmla="*/ 1160 h 1160"/>
              <a:gd name="connsiteX3" fmla="*/ 4 w 1350"/>
              <a:gd name="connsiteY3" fmla="*/ 373 h 1160"/>
              <a:gd name="connsiteX4" fmla="*/ 0 w 1350"/>
              <a:gd name="connsiteY4" fmla="*/ 0 h 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0" h="1160">
                <a:moveTo>
                  <a:pt x="0" y="0"/>
                </a:moveTo>
                <a:lnTo>
                  <a:pt x="1350" y="811"/>
                </a:lnTo>
                <a:lnTo>
                  <a:pt x="1348" y="1160"/>
                </a:lnTo>
                <a:lnTo>
                  <a:pt x="4" y="37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1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44" name="任意多边形 43"/>
          <p:cNvSpPr/>
          <p:nvPr>
            <p:custDataLst>
              <p:tags r:id="rId19"/>
            </p:custDataLst>
          </p:nvPr>
        </p:nvSpPr>
        <p:spPr>
          <a:xfrm>
            <a:off x="10161867" y="2000221"/>
            <a:ext cx="788319" cy="659494"/>
          </a:xfrm>
          <a:custGeom>
            <a:avLst/>
            <a:gdLst>
              <a:gd name="connsiteX0" fmla="*/ 1 w 1282"/>
              <a:gd name="connsiteY0" fmla="*/ 746 h 1072"/>
              <a:gd name="connsiteX1" fmla="*/ 1282 w 1282"/>
              <a:gd name="connsiteY1" fmla="*/ 0 h 1072"/>
              <a:gd name="connsiteX2" fmla="*/ 1278 w 1282"/>
              <a:gd name="connsiteY2" fmla="*/ 334 h 1072"/>
              <a:gd name="connsiteX3" fmla="*/ 0 w 1282"/>
              <a:gd name="connsiteY3" fmla="*/ 1072 h 1072"/>
              <a:gd name="connsiteX4" fmla="*/ 1 w 1282"/>
              <a:gd name="connsiteY4" fmla="*/ 746 h 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2" h="1072">
                <a:moveTo>
                  <a:pt x="1" y="746"/>
                </a:moveTo>
                <a:lnTo>
                  <a:pt x="1282" y="0"/>
                </a:lnTo>
                <a:lnTo>
                  <a:pt x="1278" y="334"/>
                </a:lnTo>
                <a:lnTo>
                  <a:pt x="0" y="1072"/>
                </a:lnTo>
                <a:lnTo>
                  <a:pt x="1" y="746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85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47" name="任意多边形 46"/>
          <p:cNvSpPr/>
          <p:nvPr>
            <p:custDataLst>
              <p:tags r:id="rId20"/>
            </p:custDataLst>
          </p:nvPr>
        </p:nvSpPr>
        <p:spPr>
          <a:xfrm>
            <a:off x="4065388" y="2371160"/>
            <a:ext cx="5187387" cy="536525"/>
          </a:xfrm>
          <a:custGeom>
            <a:avLst/>
            <a:gdLst>
              <a:gd name="connisteX0" fmla="*/ 5343525 w 5343525"/>
              <a:gd name="connsiteY0" fmla="*/ 0 h 552450"/>
              <a:gd name="connisteX1" fmla="*/ 4695825 w 5343525"/>
              <a:gd name="connsiteY1" fmla="*/ 552450 h 552450"/>
              <a:gd name="connisteX2" fmla="*/ 0 w 5343525"/>
              <a:gd name="connsiteY2" fmla="*/ 552450 h 5524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5343525" h="552450">
                <a:moveTo>
                  <a:pt x="5343525" y="0"/>
                </a:moveTo>
                <a:lnTo>
                  <a:pt x="4695825" y="552450"/>
                </a:lnTo>
                <a:lnTo>
                  <a:pt x="0" y="552450"/>
                </a:lnTo>
              </a:path>
            </a:pathLst>
          </a:cu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49" name="六边形 48"/>
          <p:cNvSpPr/>
          <p:nvPr>
            <p:custDataLst>
              <p:tags r:id="rId21"/>
            </p:custDataLst>
          </p:nvPr>
        </p:nvSpPr>
        <p:spPr>
          <a:xfrm rot="5400000">
            <a:off x="1019710" y="3983096"/>
            <a:ext cx="1974823" cy="1834287"/>
          </a:xfrm>
          <a:prstGeom prst="hexagon">
            <a:avLst>
              <a:gd name="adj" fmla="val 29159"/>
              <a:gd name="vf" fmla="val 115470"/>
            </a:avLst>
          </a:prstGeom>
          <a:noFill/>
          <a:ln>
            <a:gradFill>
              <a:gsLst>
                <a:gs pos="3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22"/>
            </p:custDataLst>
          </p:nvPr>
        </p:nvSpPr>
        <p:spPr>
          <a:xfrm>
            <a:off x="1223926" y="4588425"/>
            <a:ext cx="1564927" cy="915680"/>
          </a:xfrm>
          <a:custGeom>
            <a:avLst/>
            <a:gdLst>
              <a:gd name="connsiteX0" fmla="*/ 0 w 2544"/>
              <a:gd name="connsiteY0" fmla="*/ 730 h 1489"/>
              <a:gd name="connsiteX1" fmla="*/ 1264 w 2544"/>
              <a:gd name="connsiteY1" fmla="*/ 0 h 1489"/>
              <a:gd name="connsiteX2" fmla="*/ 2544 w 2544"/>
              <a:gd name="connsiteY2" fmla="*/ 741 h 1489"/>
              <a:gd name="connsiteX3" fmla="*/ 1262 w 2544"/>
              <a:gd name="connsiteY3" fmla="*/ 1489 h 1489"/>
              <a:gd name="connsiteX4" fmla="*/ 0 w 2544"/>
              <a:gd name="connsiteY4" fmla="*/ 730 h 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4" h="1489">
                <a:moveTo>
                  <a:pt x="0" y="730"/>
                </a:moveTo>
                <a:lnTo>
                  <a:pt x="1264" y="0"/>
                </a:lnTo>
                <a:lnTo>
                  <a:pt x="2544" y="741"/>
                </a:lnTo>
                <a:lnTo>
                  <a:pt x="1262" y="1489"/>
                </a:lnTo>
                <a:lnTo>
                  <a:pt x="0" y="73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55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23"/>
            </p:custDataLst>
          </p:nvPr>
        </p:nvSpPr>
        <p:spPr>
          <a:xfrm>
            <a:off x="1223926" y="5036383"/>
            <a:ext cx="779535" cy="669010"/>
          </a:xfrm>
          <a:custGeom>
            <a:avLst/>
            <a:gdLst>
              <a:gd name="connsiteX0" fmla="*/ 0 w 1350"/>
              <a:gd name="connsiteY0" fmla="*/ 0 h 1160"/>
              <a:gd name="connsiteX1" fmla="*/ 1350 w 1350"/>
              <a:gd name="connsiteY1" fmla="*/ 811 h 1160"/>
              <a:gd name="connsiteX2" fmla="*/ 1348 w 1350"/>
              <a:gd name="connsiteY2" fmla="*/ 1160 h 1160"/>
              <a:gd name="connsiteX3" fmla="*/ 4 w 1350"/>
              <a:gd name="connsiteY3" fmla="*/ 373 h 1160"/>
              <a:gd name="connsiteX4" fmla="*/ 0 w 1350"/>
              <a:gd name="connsiteY4" fmla="*/ 0 h 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0" h="1160">
                <a:moveTo>
                  <a:pt x="0" y="0"/>
                </a:moveTo>
                <a:lnTo>
                  <a:pt x="1350" y="811"/>
                </a:lnTo>
                <a:lnTo>
                  <a:pt x="1348" y="1160"/>
                </a:lnTo>
                <a:lnTo>
                  <a:pt x="4" y="37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61" name="任意多边形 60"/>
          <p:cNvSpPr/>
          <p:nvPr>
            <p:custDataLst>
              <p:tags r:id="rId24"/>
            </p:custDataLst>
          </p:nvPr>
        </p:nvSpPr>
        <p:spPr>
          <a:xfrm>
            <a:off x="2001998" y="5043703"/>
            <a:ext cx="788319" cy="659494"/>
          </a:xfrm>
          <a:custGeom>
            <a:avLst/>
            <a:gdLst>
              <a:gd name="connsiteX0" fmla="*/ 1 w 1282"/>
              <a:gd name="connsiteY0" fmla="*/ 746 h 1072"/>
              <a:gd name="connsiteX1" fmla="*/ 1282 w 1282"/>
              <a:gd name="connsiteY1" fmla="*/ 0 h 1072"/>
              <a:gd name="connsiteX2" fmla="*/ 1278 w 1282"/>
              <a:gd name="connsiteY2" fmla="*/ 334 h 1072"/>
              <a:gd name="connsiteX3" fmla="*/ 0 w 1282"/>
              <a:gd name="connsiteY3" fmla="*/ 1072 h 1072"/>
              <a:gd name="connsiteX4" fmla="*/ 1 w 1282"/>
              <a:gd name="connsiteY4" fmla="*/ 746 h 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2" h="1072">
                <a:moveTo>
                  <a:pt x="1" y="746"/>
                </a:moveTo>
                <a:lnTo>
                  <a:pt x="1282" y="0"/>
                </a:lnTo>
                <a:lnTo>
                  <a:pt x="1278" y="334"/>
                </a:lnTo>
                <a:lnTo>
                  <a:pt x="0" y="1072"/>
                </a:lnTo>
                <a:lnTo>
                  <a:pt x="1" y="74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5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62" name="任意多边形 61"/>
          <p:cNvSpPr/>
          <p:nvPr>
            <p:custDataLst>
              <p:tags r:id="rId25"/>
            </p:custDataLst>
          </p:nvPr>
        </p:nvSpPr>
        <p:spPr>
          <a:xfrm>
            <a:off x="1224658" y="4193168"/>
            <a:ext cx="1564927" cy="916412"/>
          </a:xfrm>
          <a:custGeom>
            <a:avLst/>
            <a:gdLst>
              <a:gd name="connsiteX0" fmla="*/ 0 w 2544"/>
              <a:gd name="connsiteY0" fmla="*/ 730 h 1489"/>
              <a:gd name="connsiteX1" fmla="*/ 1264 w 2544"/>
              <a:gd name="connsiteY1" fmla="*/ 0 h 1489"/>
              <a:gd name="connsiteX2" fmla="*/ 2544 w 2544"/>
              <a:gd name="connsiteY2" fmla="*/ 741 h 1489"/>
              <a:gd name="connsiteX3" fmla="*/ 1262 w 2544"/>
              <a:gd name="connsiteY3" fmla="*/ 1489 h 1489"/>
              <a:gd name="connsiteX4" fmla="*/ 0 w 2544"/>
              <a:gd name="connsiteY4" fmla="*/ 730 h 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4" h="1489">
                <a:moveTo>
                  <a:pt x="0" y="730"/>
                </a:moveTo>
                <a:lnTo>
                  <a:pt x="1264" y="0"/>
                </a:lnTo>
                <a:lnTo>
                  <a:pt x="2544" y="741"/>
                </a:lnTo>
                <a:lnTo>
                  <a:pt x="1262" y="1489"/>
                </a:lnTo>
                <a:lnTo>
                  <a:pt x="0" y="73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70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2000" b="1">
              <a:solidFill>
                <a:schemeClr val="accent1"/>
              </a:solidFill>
              <a:effectLst>
                <a:outerShdw dist="25400" dir="3000000" algn="t" rotWithShape="0">
                  <a:schemeClr val="bg1"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64" name="任意多边形 63"/>
          <p:cNvSpPr/>
          <p:nvPr>
            <p:custDataLst>
              <p:tags r:id="rId26"/>
            </p:custDataLst>
          </p:nvPr>
        </p:nvSpPr>
        <p:spPr>
          <a:xfrm>
            <a:off x="1215143" y="4641126"/>
            <a:ext cx="779535" cy="669742"/>
          </a:xfrm>
          <a:custGeom>
            <a:avLst/>
            <a:gdLst>
              <a:gd name="connsiteX0" fmla="*/ 0 w 1350"/>
              <a:gd name="connsiteY0" fmla="*/ 0 h 1160"/>
              <a:gd name="connsiteX1" fmla="*/ 1350 w 1350"/>
              <a:gd name="connsiteY1" fmla="*/ 811 h 1160"/>
              <a:gd name="connsiteX2" fmla="*/ 1348 w 1350"/>
              <a:gd name="connsiteY2" fmla="*/ 1160 h 1160"/>
              <a:gd name="connsiteX3" fmla="*/ 4 w 1350"/>
              <a:gd name="connsiteY3" fmla="*/ 373 h 1160"/>
              <a:gd name="connsiteX4" fmla="*/ 0 w 1350"/>
              <a:gd name="connsiteY4" fmla="*/ 0 h 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0" h="1160">
                <a:moveTo>
                  <a:pt x="0" y="0"/>
                </a:moveTo>
                <a:lnTo>
                  <a:pt x="1350" y="811"/>
                </a:lnTo>
                <a:lnTo>
                  <a:pt x="1348" y="1160"/>
                </a:lnTo>
                <a:lnTo>
                  <a:pt x="4" y="37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65" name="任意多边形 64"/>
          <p:cNvSpPr/>
          <p:nvPr>
            <p:custDataLst>
              <p:tags r:id="rId27"/>
            </p:custDataLst>
          </p:nvPr>
        </p:nvSpPr>
        <p:spPr>
          <a:xfrm>
            <a:off x="1993946" y="4648446"/>
            <a:ext cx="788319" cy="659494"/>
          </a:xfrm>
          <a:custGeom>
            <a:avLst/>
            <a:gdLst>
              <a:gd name="connsiteX0" fmla="*/ 1 w 1282"/>
              <a:gd name="connsiteY0" fmla="*/ 746 h 1072"/>
              <a:gd name="connsiteX1" fmla="*/ 1282 w 1282"/>
              <a:gd name="connsiteY1" fmla="*/ 0 h 1072"/>
              <a:gd name="connsiteX2" fmla="*/ 1278 w 1282"/>
              <a:gd name="connsiteY2" fmla="*/ 334 h 1072"/>
              <a:gd name="connsiteX3" fmla="*/ 0 w 1282"/>
              <a:gd name="connsiteY3" fmla="*/ 1072 h 1072"/>
              <a:gd name="connsiteX4" fmla="*/ 1 w 1282"/>
              <a:gd name="connsiteY4" fmla="*/ 746 h 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2" h="1072">
                <a:moveTo>
                  <a:pt x="1" y="746"/>
                </a:moveTo>
                <a:lnTo>
                  <a:pt x="1282" y="0"/>
                </a:lnTo>
                <a:lnTo>
                  <a:pt x="1278" y="334"/>
                </a:lnTo>
                <a:lnTo>
                  <a:pt x="0" y="1072"/>
                </a:lnTo>
                <a:lnTo>
                  <a:pt x="1" y="74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85000"/>
                </a:schemeClr>
              </a:gs>
              <a:gs pos="100000">
                <a:schemeClr val="accent1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66" name="任意多边形 65"/>
          <p:cNvSpPr/>
          <p:nvPr>
            <p:custDataLst>
              <p:tags r:id="rId28"/>
            </p:custDataLst>
          </p:nvPr>
        </p:nvSpPr>
        <p:spPr>
          <a:xfrm>
            <a:off x="2933781" y="4306214"/>
            <a:ext cx="5222521" cy="525546"/>
          </a:xfrm>
          <a:custGeom>
            <a:avLst/>
            <a:gdLst>
              <a:gd name="connisteX0" fmla="*/ 0 w 5379720"/>
              <a:gd name="connsiteY0" fmla="*/ 541020 h 541020"/>
              <a:gd name="connisteX1" fmla="*/ 678180 w 5379720"/>
              <a:gd name="connsiteY1" fmla="*/ 0 h 541020"/>
              <a:gd name="connisteX2" fmla="*/ 5379720 w 5379720"/>
              <a:gd name="connsiteY2" fmla="*/ 0 h 5410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5379720" h="541020">
                <a:moveTo>
                  <a:pt x="0" y="541020"/>
                </a:moveTo>
                <a:lnTo>
                  <a:pt x="678180" y="0"/>
                </a:lnTo>
                <a:lnTo>
                  <a:pt x="5379720" y="0"/>
                </a:lnTo>
              </a:path>
            </a:pathLst>
          </a:custGeom>
          <a:noFill/>
          <a:ln>
            <a:solidFill>
              <a:schemeClr val="accent1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67" name="六边形 66"/>
          <p:cNvSpPr/>
          <p:nvPr>
            <p:custDataLst>
              <p:tags r:id="rId29"/>
            </p:custDataLst>
          </p:nvPr>
        </p:nvSpPr>
        <p:spPr>
          <a:xfrm rot="5400000">
            <a:off x="9187631" y="3982364"/>
            <a:ext cx="1974823" cy="1834287"/>
          </a:xfrm>
          <a:prstGeom prst="hexagon">
            <a:avLst>
              <a:gd name="adj" fmla="val 29159"/>
              <a:gd name="vf" fmla="val 115470"/>
            </a:avLst>
          </a:prstGeom>
          <a:noFill/>
          <a:ln>
            <a:gradFill>
              <a:gsLst>
                <a:gs pos="3000">
                  <a:schemeClr val="accent2">
                    <a:alpha val="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30"/>
            </p:custDataLst>
          </p:nvPr>
        </p:nvSpPr>
        <p:spPr>
          <a:xfrm>
            <a:off x="9391847" y="4587693"/>
            <a:ext cx="1564927" cy="915680"/>
          </a:xfrm>
          <a:custGeom>
            <a:avLst/>
            <a:gdLst>
              <a:gd name="connsiteX0" fmla="*/ 0 w 2544"/>
              <a:gd name="connsiteY0" fmla="*/ 730 h 1489"/>
              <a:gd name="connsiteX1" fmla="*/ 1264 w 2544"/>
              <a:gd name="connsiteY1" fmla="*/ 0 h 1489"/>
              <a:gd name="connsiteX2" fmla="*/ 2544 w 2544"/>
              <a:gd name="connsiteY2" fmla="*/ 741 h 1489"/>
              <a:gd name="connsiteX3" fmla="*/ 1262 w 2544"/>
              <a:gd name="connsiteY3" fmla="*/ 1489 h 1489"/>
              <a:gd name="connsiteX4" fmla="*/ 0 w 2544"/>
              <a:gd name="connsiteY4" fmla="*/ 730 h 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4" h="1489">
                <a:moveTo>
                  <a:pt x="0" y="730"/>
                </a:moveTo>
                <a:lnTo>
                  <a:pt x="1264" y="0"/>
                </a:lnTo>
                <a:lnTo>
                  <a:pt x="2544" y="741"/>
                </a:lnTo>
                <a:lnTo>
                  <a:pt x="1262" y="1489"/>
                </a:lnTo>
                <a:lnTo>
                  <a:pt x="0" y="73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55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31"/>
            </p:custDataLst>
          </p:nvPr>
        </p:nvSpPr>
        <p:spPr>
          <a:xfrm>
            <a:off x="9391847" y="5035651"/>
            <a:ext cx="779535" cy="669010"/>
          </a:xfrm>
          <a:custGeom>
            <a:avLst/>
            <a:gdLst>
              <a:gd name="connsiteX0" fmla="*/ 0 w 1350"/>
              <a:gd name="connsiteY0" fmla="*/ 0 h 1160"/>
              <a:gd name="connsiteX1" fmla="*/ 1350 w 1350"/>
              <a:gd name="connsiteY1" fmla="*/ 811 h 1160"/>
              <a:gd name="connsiteX2" fmla="*/ 1348 w 1350"/>
              <a:gd name="connsiteY2" fmla="*/ 1160 h 1160"/>
              <a:gd name="connsiteX3" fmla="*/ 4 w 1350"/>
              <a:gd name="connsiteY3" fmla="*/ 373 h 1160"/>
              <a:gd name="connsiteX4" fmla="*/ 0 w 1350"/>
              <a:gd name="connsiteY4" fmla="*/ 0 h 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0" h="1160">
                <a:moveTo>
                  <a:pt x="0" y="0"/>
                </a:moveTo>
                <a:lnTo>
                  <a:pt x="1350" y="811"/>
                </a:lnTo>
                <a:lnTo>
                  <a:pt x="1348" y="1160"/>
                </a:lnTo>
                <a:lnTo>
                  <a:pt x="4" y="37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1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71" name="任意多边形 70"/>
          <p:cNvSpPr/>
          <p:nvPr>
            <p:custDataLst>
              <p:tags r:id="rId32"/>
            </p:custDataLst>
          </p:nvPr>
        </p:nvSpPr>
        <p:spPr>
          <a:xfrm>
            <a:off x="10169919" y="5042971"/>
            <a:ext cx="788319" cy="659494"/>
          </a:xfrm>
          <a:custGeom>
            <a:avLst/>
            <a:gdLst>
              <a:gd name="connsiteX0" fmla="*/ 1 w 1282"/>
              <a:gd name="connsiteY0" fmla="*/ 746 h 1072"/>
              <a:gd name="connsiteX1" fmla="*/ 1282 w 1282"/>
              <a:gd name="connsiteY1" fmla="*/ 0 h 1072"/>
              <a:gd name="connsiteX2" fmla="*/ 1278 w 1282"/>
              <a:gd name="connsiteY2" fmla="*/ 334 h 1072"/>
              <a:gd name="connsiteX3" fmla="*/ 0 w 1282"/>
              <a:gd name="connsiteY3" fmla="*/ 1072 h 1072"/>
              <a:gd name="connsiteX4" fmla="*/ 1 w 1282"/>
              <a:gd name="connsiteY4" fmla="*/ 746 h 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2" h="1072">
                <a:moveTo>
                  <a:pt x="1" y="746"/>
                </a:moveTo>
                <a:lnTo>
                  <a:pt x="1282" y="0"/>
                </a:lnTo>
                <a:lnTo>
                  <a:pt x="1278" y="334"/>
                </a:lnTo>
                <a:lnTo>
                  <a:pt x="0" y="1072"/>
                </a:lnTo>
                <a:lnTo>
                  <a:pt x="1" y="746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85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72" name="任意多边形 71"/>
          <p:cNvSpPr/>
          <p:nvPr>
            <p:custDataLst>
              <p:tags r:id="rId33"/>
            </p:custDataLst>
          </p:nvPr>
        </p:nvSpPr>
        <p:spPr>
          <a:xfrm>
            <a:off x="9392579" y="4193168"/>
            <a:ext cx="1564927" cy="916412"/>
          </a:xfrm>
          <a:custGeom>
            <a:avLst/>
            <a:gdLst>
              <a:gd name="connsiteX0" fmla="*/ 0 w 2544"/>
              <a:gd name="connsiteY0" fmla="*/ 730 h 1489"/>
              <a:gd name="connsiteX1" fmla="*/ 1264 w 2544"/>
              <a:gd name="connsiteY1" fmla="*/ 0 h 1489"/>
              <a:gd name="connsiteX2" fmla="*/ 2544 w 2544"/>
              <a:gd name="connsiteY2" fmla="*/ 741 h 1489"/>
              <a:gd name="connsiteX3" fmla="*/ 1262 w 2544"/>
              <a:gd name="connsiteY3" fmla="*/ 1489 h 1489"/>
              <a:gd name="connsiteX4" fmla="*/ 0 w 2544"/>
              <a:gd name="connsiteY4" fmla="*/ 730 h 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4" h="1489">
                <a:moveTo>
                  <a:pt x="0" y="730"/>
                </a:moveTo>
                <a:lnTo>
                  <a:pt x="1264" y="0"/>
                </a:lnTo>
                <a:lnTo>
                  <a:pt x="2544" y="741"/>
                </a:lnTo>
                <a:lnTo>
                  <a:pt x="1262" y="1489"/>
                </a:lnTo>
                <a:lnTo>
                  <a:pt x="0" y="73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2000" b="1">
              <a:solidFill>
                <a:schemeClr val="accent2"/>
              </a:solidFill>
              <a:effectLst>
                <a:outerShdw dist="25400" dir="3000000" algn="t" rotWithShape="0">
                  <a:schemeClr val="bg1"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73" name="任意多边形 72"/>
          <p:cNvSpPr/>
          <p:nvPr>
            <p:custDataLst>
              <p:tags r:id="rId34"/>
            </p:custDataLst>
          </p:nvPr>
        </p:nvSpPr>
        <p:spPr>
          <a:xfrm>
            <a:off x="9383064" y="4640394"/>
            <a:ext cx="779535" cy="669742"/>
          </a:xfrm>
          <a:custGeom>
            <a:avLst/>
            <a:gdLst>
              <a:gd name="connsiteX0" fmla="*/ 0 w 1350"/>
              <a:gd name="connsiteY0" fmla="*/ 0 h 1160"/>
              <a:gd name="connsiteX1" fmla="*/ 1350 w 1350"/>
              <a:gd name="connsiteY1" fmla="*/ 811 h 1160"/>
              <a:gd name="connsiteX2" fmla="*/ 1348 w 1350"/>
              <a:gd name="connsiteY2" fmla="*/ 1160 h 1160"/>
              <a:gd name="connsiteX3" fmla="*/ 4 w 1350"/>
              <a:gd name="connsiteY3" fmla="*/ 373 h 1160"/>
              <a:gd name="connsiteX4" fmla="*/ 0 w 1350"/>
              <a:gd name="connsiteY4" fmla="*/ 0 h 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0" h="1160">
                <a:moveTo>
                  <a:pt x="0" y="0"/>
                </a:moveTo>
                <a:lnTo>
                  <a:pt x="1350" y="811"/>
                </a:lnTo>
                <a:lnTo>
                  <a:pt x="1348" y="1160"/>
                </a:lnTo>
                <a:lnTo>
                  <a:pt x="4" y="37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1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74" name="任意多边形 73"/>
          <p:cNvSpPr/>
          <p:nvPr>
            <p:custDataLst>
              <p:tags r:id="rId35"/>
            </p:custDataLst>
          </p:nvPr>
        </p:nvSpPr>
        <p:spPr>
          <a:xfrm>
            <a:off x="10161867" y="4647714"/>
            <a:ext cx="788319" cy="659494"/>
          </a:xfrm>
          <a:custGeom>
            <a:avLst/>
            <a:gdLst>
              <a:gd name="connsiteX0" fmla="*/ 1 w 1282"/>
              <a:gd name="connsiteY0" fmla="*/ 746 h 1072"/>
              <a:gd name="connsiteX1" fmla="*/ 1282 w 1282"/>
              <a:gd name="connsiteY1" fmla="*/ 0 h 1072"/>
              <a:gd name="connsiteX2" fmla="*/ 1278 w 1282"/>
              <a:gd name="connsiteY2" fmla="*/ 334 h 1072"/>
              <a:gd name="connsiteX3" fmla="*/ 0 w 1282"/>
              <a:gd name="connsiteY3" fmla="*/ 1072 h 1072"/>
              <a:gd name="connsiteX4" fmla="*/ 1 w 1282"/>
              <a:gd name="connsiteY4" fmla="*/ 746 h 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2" h="1072">
                <a:moveTo>
                  <a:pt x="1" y="746"/>
                </a:moveTo>
                <a:lnTo>
                  <a:pt x="1282" y="0"/>
                </a:lnTo>
                <a:lnTo>
                  <a:pt x="1278" y="334"/>
                </a:lnTo>
                <a:lnTo>
                  <a:pt x="0" y="1072"/>
                </a:lnTo>
                <a:lnTo>
                  <a:pt x="1" y="746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85000"/>
                </a:schemeClr>
              </a:gs>
              <a:gs pos="100000">
                <a:schemeClr val="accent2"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75" name="任意多边形 74"/>
          <p:cNvSpPr/>
          <p:nvPr>
            <p:custDataLst>
              <p:tags r:id="rId36"/>
            </p:custDataLst>
          </p:nvPr>
        </p:nvSpPr>
        <p:spPr>
          <a:xfrm>
            <a:off x="4065388" y="5175498"/>
            <a:ext cx="5187387" cy="536525"/>
          </a:xfrm>
          <a:custGeom>
            <a:avLst/>
            <a:gdLst>
              <a:gd name="connisteX0" fmla="*/ 5343525 w 5343525"/>
              <a:gd name="connsiteY0" fmla="*/ 0 h 552450"/>
              <a:gd name="connisteX1" fmla="*/ 4695825 w 5343525"/>
              <a:gd name="connsiteY1" fmla="*/ 552450 h 552450"/>
              <a:gd name="connisteX2" fmla="*/ 0 w 5343525"/>
              <a:gd name="connsiteY2" fmla="*/ 552450 h 5524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5343525" h="552450">
                <a:moveTo>
                  <a:pt x="5343525" y="0"/>
                </a:moveTo>
                <a:lnTo>
                  <a:pt x="4695825" y="552450"/>
                </a:lnTo>
                <a:lnTo>
                  <a:pt x="0" y="552450"/>
                </a:lnTo>
              </a:path>
            </a:pathLst>
          </a:cu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45" name="矩形 44"/>
          <p:cNvSpPr/>
          <p:nvPr>
            <p:custDataLst>
              <p:tags r:id="rId37"/>
            </p:custDataLst>
          </p:nvPr>
        </p:nvSpPr>
        <p:spPr>
          <a:xfrm>
            <a:off x="3607168" y="1570943"/>
            <a:ext cx="4850412" cy="81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Attack class focuses on lifecycle and coordination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Behaviors focus on movement and hit detection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Each class has a single, clear responsibility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6" name="矩形 45"/>
          <p:cNvSpPr/>
          <p:nvPr>
            <p:custDataLst>
              <p:tags r:id="rId38"/>
            </p:custDataLst>
          </p:nvPr>
        </p:nvSpPr>
        <p:spPr>
          <a:xfrm>
            <a:off x="3606899" y="1064345"/>
            <a:ext cx="4851418" cy="4303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1"/>
                </a:solidFill>
                <a:latin typeface="+mn-ea"/>
                <a:cs typeface="+mn-ea"/>
              </a:rPr>
              <a:t>Separation of Concerns</a:t>
            </a:r>
            <a:endParaRPr lang="en-US" altLang="zh-CN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48" name="矩形 47"/>
          <p:cNvSpPr/>
          <p:nvPr>
            <p:custDataLst>
              <p:tags r:id="rId39"/>
            </p:custDataLst>
          </p:nvPr>
        </p:nvSpPr>
        <p:spPr>
          <a:xfrm>
            <a:off x="3591022" y="2935940"/>
            <a:ext cx="6482603" cy="81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285750" indent="-285750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New attack behaviors can be added without modifying Attack class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 marL="285750" indent="-285750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Behaviors can be changed at runtime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 marL="285750" indent="-285750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Easy to implement special attack patterns for different heroes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0" name="矩形 49"/>
          <p:cNvSpPr/>
          <p:nvPr>
            <p:custDataLst>
              <p:tags r:id="rId40"/>
            </p:custDataLst>
          </p:nvPr>
        </p:nvSpPr>
        <p:spPr>
          <a:xfrm>
            <a:off x="3736007" y="2429717"/>
            <a:ext cx="4851419" cy="4303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2"/>
                </a:solidFill>
                <a:latin typeface="+mn-ea"/>
                <a:cs typeface="+mn-ea"/>
              </a:rPr>
              <a:t>Flexibility and Extensibility</a:t>
            </a:r>
            <a:endParaRPr lang="en-US" altLang="zh-CN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51" name="矩形 50"/>
          <p:cNvSpPr/>
          <p:nvPr>
            <p:custDataLst>
              <p:tags r:id="rId41"/>
            </p:custDataLst>
          </p:nvPr>
        </p:nvSpPr>
        <p:spPr>
          <a:xfrm>
            <a:off x="3621358" y="4357170"/>
            <a:ext cx="5973491" cy="81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Changes to movement patterns don't affect core Attack logic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Hit detection can be modified independently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Clearer code organization and responsibility separation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2" name="矩形 51"/>
          <p:cNvSpPr/>
          <p:nvPr>
            <p:custDataLst>
              <p:tags r:id="rId42"/>
            </p:custDataLst>
          </p:nvPr>
        </p:nvSpPr>
        <p:spPr>
          <a:xfrm>
            <a:off x="3621089" y="3850936"/>
            <a:ext cx="4851418" cy="4303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1"/>
                </a:solidFill>
                <a:latin typeface="+mn-ea"/>
                <a:cs typeface="+mn-ea"/>
              </a:rPr>
              <a:t>Better Maintainability</a:t>
            </a:r>
            <a:endParaRPr lang="en-US" altLang="zh-CN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3" name="矩形 52"/>
          <p:cNvSpPr/>
          <p:nvPr>
            <p:custDataLst>
              <p:tags r:id="rId43"/>
            </p:custDataLst>
          </p:nvPr>
        </p:nvSpPr>
        <p:spPr>
          <a:xfrm>
            <a:off x="3621405" y="5755640"/>
            <a:ext cx="4965700" cy="8102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285750" indent="-285750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Heroes can switch attack patterns dynamically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 marL="285750" indent="-285750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Different behaviors can be used based on conditions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 marL="285750" indent="-285750"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Easier to implement power-ups or special states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4" name="矩形 53"/>
          <p:cNvSpPr/>
          <p:nvPr>
            <p:custDataLst>
              <p:tags r:id="rId44"/>
            </p:custDataLst>
          </p:nvPr>
        </p:nvSpPr>
        <p:spPr>
          <a:xfrm>
            <a:off x="3736007" y="5249425"/>
            <a:ext cx="4851419" cy="4303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accent2"/>
                </a:solidFill>
                <a:latin typeface="+mn-ea"/>
                <a:cs typeface="+mn-ea"/>
              </a:rPr>
              <a:t>Runtime Behavior Changes</a:t>
            </a:r>
            <a:endParaRPr lang="en-US" altLang="zh-CN" b="1">
              <a:solidFill>
                <a:schemeClr val="accent2"/>
              </a:solidFill>
              <a:latin typeface="+mn-ea"/>
              <a:cs typeface="+mn-ea"/>
            </a:endParaRPr>
          </a:p>
        </p:txBody>
      </p:sp>
    </p:spTree>
    <p:custDataLst>
      <p:tags r:id="rId4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i*1_4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4_1"/>
  <p:tag name="KSO_WM_UNIT_TEXT_FILL_TYPE" val="1"/>
  <p:tag name="KSO_WM_DIAGRAM_MAX_ITEMCNT" val="6"/>
  <p:tag name="KSO_WM_DIAGRAM_MIN_ITEMCNT" val="2"/>
  <p:tag name="KSO_WM_DIAGRAM_VIRTUALLY_FRAME" val="{&quot;height&quot;:420.2750454735944,&quot;left&quot;:93.73141732283464,&quot;top&quot;:85.8,&quot;width&quot;:843.69956076794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i*1_5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5_1"/>
  <p:tag name="KSO_WM_UNIT_TEXT_FILL_TYPE" val="1"/>
  <p:tag name="KSO_WM_DIAGRAM_MAX_ITEMCNT" val="6"/>
  <p:tag name="KSO_WM_DIAGRAM_MIN_ITEMCNT" val="2"/>
  <p:tag name="KSO_WM_DIAGRAM_VIRTUALLY_FRAME" val="{&quot;height&quot;:420.2750454735944,&quot;left&quot;:93.73141732283464,&quot;top&quot;:85.8,&quot;width&quot;:843.69956076794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5.xml><?xml version="1.0" encoding="utf-8"?>
<p:tagLst xmlns:p="http://schemas.openxmlformats.org/presentationml/2006/main">
  <p:tag name="KSO_WM_DIAGRAM_VIRTUALLY_FRAME" val="{&quot;height&quot;:630.4750454735944,&quot;left&quot;:139.96910064937566,&quot;top&quot;:85.8,&quot;width&quot;:1164.5118774414063}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i*1_1_2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420.2750454735944,&quot;left&quot;:93.73141732283464,&quot;top&quot;:85.8,&quot;width&quot;:843.6995607679473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5,6,5,6,5,6]}"/>
</p:tagLst>
</file>

<file path=ppt/tags/tag6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84_4*l_h_f*1_1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20.2750454735944,&quot;left&quot;:93.73141732283464,&quot;top&quot;:85.8,&quot;width&quot;:843.699560767947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单击此处输入你的智能图形项正文，文字是您思想的提炼，请尽量言简意赅"/>
  <p:tag name="KSO_WM_UNIT_LINE_FORE_SCHEMECOLOR_INDEX" val="5"/>
  <p:tag name="KSO_WM_UNIT_TEXT_TYPE" val="1"/>
  <p:tag name="KSO_WM_DIAGRAM_USE_COLOR_VALUE" val="{&quot;color_scheme&quot;:1,&quot;color_type&quot;:1,&quot;theme_color_indexes&quot;:[5,6,5,6,5,6]}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a*1_1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MAX_ITEMCNT" val="6"/>
  <p:tag name="KSO_WM_DIAGRAM_MIN_ITEMCNT" val="2"/>
  <p:tag name="KSO_WM_DIAGRAM_VIRTUALLY_FRAME" val="{&quot;height&quot;:420.2750454735944,&quot;left&quot;:93.73141732283464,&quot;top&quot;:85.8,&quot;width&quot;:843.6995607679473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UNIT_PRESET_TEXT" val="添加标题"/>
  <p:tag name="KSO_WM_UNIT_FILL_TYPE" val="3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69.xml><?xml version="1.0" encoding="utf-8"?>
<p:tagLst xmlns:p="http://schemas.openxmlformats.org/presentationml/2006/main">
  <p:tag name="KSO_WM_DIAGRAM_VIRTUALLY_FRAME" val="{&quot;height&quot;:630.4750454735944,&quot;left&quot;:139.96910064937566,&quot;top&quot;:85.8,&quot;width&quot;:1164.5118774414063}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i*1_2_2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420.2750454735944,&quot;left&quot;:93.73141732283464,&quot;top&quot;:85.8,&quot;width&quot;:843.6995607679473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5,6,5,6,5,6]}"/>
</p:tagLst>
</file>

<file path=ppt/tags/tag7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684_4*l_h_f*1_2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20.2750454735944,&quot;left&quot;:93.73141732283464,&quot;top&quot;:85.8,&quot;width&quot;:843.699560767947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单击此处输入你的智能图形项正文，文字是您思想的提炼，请尽量言简意赅"/>
  <p:tag name="KSO_WM_UNIT_LINE_FORE_SCHEMECOLOR_INDEX" val="5"/>
  <p:tag name="KSO_WM_UNIT_TEXT_TYPE" val="1"/>
  <p:tag name="KSO_WM_DIAGRAM_USE_COLOR_VALUE" val="{&quot;color_scheme&quot;:1,&quot;color_type&quot;:1,&quot;theme_color_indexes&quot;:[5,6,5,6,5,6]}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a*1_2_1"/>
  <p:tag name="KSO_WM_TEMPLATE_CATEGORY" val="diagram"/>
  <p:tag name="KSO_WM_TEMPLATE_INDEX" val="2023168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DIAGRAM_MAX_ITEMCNT" val="6"/>
  <p:tag name="KSO_WM_DIAGRAM_MIN_ITEMCNT" val="2"/>
  <p:tag name="KSO_WM_DIAGRAM_VIRTUALLY_FRAME" val="{&quot;height&quot;:420.2750454735944,&quot;left&quot;:93.73141732283464,&quot;top&quot;:85.8,&quot;width&quot;:843.6995607679473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UNIT_PRESET_TEXT" val="添加标题"/>
  <p:tag name="KSO_WM_UNIT_FILL_TYPE" val="3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i*1_1_2"/>
  <p:tag name="KSO_WM_TEMPLATE_CATEGORY" val="diagram"/>
  <p:tag name="KSO_WM_TEMPLATE_INDEX" val="202316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630.4750454735944,&quot;left&quot;:139.96910064937566,&quot;top&quot;:85.8,&quot;width&quot;:1164.5118774414063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5,6,5,6,5,6]}"/>
</p:tagLst>
</file>

<file path=ppt/tags/tag7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84_4*l_h_f*1_1_1"/>
  <p:tag name="KSO_WM_TEMPLATE_CATEGORY" val="diagram"/>
  <p:tag name="KSO_WM_TEMPLATE_INDEX" val="202316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630.4750454735944,&quot;left&quot;:139.96910064937566,&quot;top&quot;:85.8,&quot;width&quot;:1164.51187744140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单击此处输入你的智能图形项正文，文字是您思想的提炼，请尽量言简意赅"/>
  <p:tag name="KSO_WM_UNIT_LINE_FORE_SCHEMECOLOR_INDEX" val="5"/>
  <p:tag name="KSO_WM_UNIT_TEXT_TYPE" val="1"/>
  <p:tag name="KSO_WM_DIAGRAM_USE_COLOR_VALUE" val="{&quot;color_scheme&quot;:1,&quot;color_type&quot;:1,&quot;theme_color_indexes&quot;:[5,6,5,6,5,6]}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a*1_1_1"/>
  <p:tag name="KSO_WM_TEMPLATE_CATEGORY" val="diagram"/>
  <p:tag name="KSO_WM_TEMPLATE_INDEX" val="202316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MAX_ITEMCNT" val="6"/>
  <p:tag name="KSO_WM_DIAGRAM_MIN_ITEMCNT" val="2"/>
  <p:tag name="KSO_WM_DIAGRAM_VIRTUALLY_FRAME" val="{&quot;height&quot;:630.4750454735944,&quot;left&quot;:139.96910064937566,&quot;top&quot;:85.8,&quot;width&quot;:1164.5118774414063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UNIT_PRESET_TEXT" val="添加标题"/>
  <p:tag name="KSO_WM_UNIT_FILL_TYPE" val="3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i*1_1_2"/>
  <p:tag name="KSO_WM_TEMPLATE_CATEGORY" val="diagram"/>
  <p:tag name="KSO_WM_TEMPLATE_INDEX" val="202316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630.4750454735944,&quot;left&quot;:139.96910064937566,&quot;top&quot;:85.8,&quot;width&quot;:1164.5118774414063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5,6,5,6,5,6]}"/>
</p:tagLst>
</file>

<file path=ppt/tags/tag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84_4*l_h_f*1_1_1"/>
  <p:tag name="KSO_WM_TEMPLATE_CATEGORY" val="diagram"/>
  <p:tag name="KSO_WM_TEMPLATE_INDEX" val="202316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630.4750454735944,&quot;left&quot;:139.96910064937566,&quot;top&quot;:85.8,&quot;width&quot;:1164.51187744140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单击此处输入你的智能图形项正文，文字是您思想的提炼，请尽量言简意赅"/>
  <p:tag name="KSO_WM_UNIT_LINE_FORE_SCHEMECOLOR_INDEX" val="5"/>
  <p:tag name="KSO_WM_UNIT_TEXT_TYPE" val="1"/>
  <p:tag name="KSO_WM_DIAGRAM_USE_COLOR_VALUE" val="{&quot;color_scheme&quot;:1,&quot;color_type&quot;:1,&quot;theme_color_indexes&quot;:[5,6,5,6,5,6]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a*1_1_1"/>
  <p:tag name="KSO_WM_TEMPLATE_CATEGORY" val="diagram"/>
  <p:tag name="KSO_WM_TEMPLATE_INDEX" val="202316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MAX_ITEMCNT" val="6"/>
  <p:tag name="KSO_WM_DIAGRAM_MIN_ITEMCNT" val="2"/>
  <p:tag name="KSO_WM_DIAGRAM_VIRTUALLY_FRAME" val="{&quot;height&quot;:630.4750454735944,&quot;left&quot;:139.96910064937566,&quot;top&quot;:85.8,&quot;width&quot;:1164.5118774414063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UNIT_PRESET_TEXT" val="添加标题"/>
  <p:tag name="KSO_WM_UNIT_FILL_TYPE" val="3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i*1_2_2"/>
  <p:tag name="KSO_WM_TEMPLATE_CATEGORY" val="diagram"/>
  <p:tag name="KSO_WM_TEMPLATE_INDEX" val="202316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630.4750454735944,&quot;left&quot;:139.96910064937566,&quot;top&quot;:85.8,&quot;width&quot;:1164.5118774414063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5,6,5,6,5,6]}"/>
</p:tagLst>
</file>

<file path=ppt/tags/tag8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684_4*l_h_f*1_2_1"/>
  <p:tag name="KSO_WM_TEMPLATE_CATEGORY" val="diagram"/>
  <p:tag name="KSO_WM_TEMPLATE_INDEX" val="202316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630.4750454735944,&quot;left&quot;:139.96910064937566,&quot;top&quot;:85.8,&quot;width&quot;:1164.511877441406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单击此处输入你的智能图形项正文，文字是您思想的提炼，请尽量言简意赅"/>
  <p:tag name="KSO_WM_UNIT_LINE_FORE_SCHEMECOLOR_INDEX" val="5"/>
  <p:tag name="KSO_WM_UNIT_TEXT_TYPE" val="1"/>
  <p:tag name="KSO_WM_DIAGRAM_USE_COLOR_VALUE" val="{&quot;color_scheme&quot;:1,&quot;color_type&quot;:1,&quot;theme_color_indexes&quot;:[5,6,5,6,5,6]}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84_4*l_h_a*1_2_1"/>
  <p:tag name="KSO_WM_TEMPLATE_CATEGORY" val="diagram"/>
  <p:tag name="KSO_WM_TEMPLATE_INDEX" val="202316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DIAGRAM_MAX_ITEMCNT" val="6"/>
  <p:tag name="KSO_WM_DIAGRAM_MIN_ITEMCNT" val="2"/>
  <p:tag name="KSO_WM_DIAGRAM_VIRTUALLY_FRAME" val="{&quot;height&quot;:630.4750454735944,&quot;left&quot;:139.96910064937566,&quot;top&quot;:85.8,&quot;width&quot;:1164.5118774414063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UNIT_PRESET_TEXT" val="添加标题"/>
  <p:tag name="KSO_WM_UNIT_FILL_TYPE" val="3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82.xml><?xml version="1.0" encoding="utf-8"?>
<p:tagLst xmlns:p="http://schemas.openxmlformats.org/presentationml/2006/main">
  <p:tag name="RESOURCE_RECORD_KEY" val="{&quot;13&quot;:[4364954],&quot;70&quot;:[3322475,3312650,3317673,3319350]}"/>
</p:tagLst>
</file>

<file path=ppt/tags/tag83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0946_1*l_h_i*1_1_3"/>
  <p:tag name="KSO_WM_TEMPLATE_CATEGORY" val="diagram"/>
  <p:tag name="KSO_WM_TEMPLATE_INDEX" val="20230946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29999999329447746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4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0946_1*l_h_i*1_1_4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.800000011920929,&quot;colorType&quot;:1,&quot;foreColorIndex&quot;:5,&quot;pos&quot;:0,&quot;transparency&quot;:0.44999998807907104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5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30946_1*l_h_i*1_1_5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8899999856948853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6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6"/>
  <p:tag name="KSO_WM_UNIT_ID" val="diagram20230946_1*l_h_i*1_1_6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15000000596046448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7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0946_1*l_h_i*1_1_2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UNIT_TEX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.800000011920929,&quot;colorType&quot;:1,&quot;foreColorIndex&quot;:5,&quot;pos&quot;:0,&quot;transparency&quot;:0.30000001192092896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14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8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7"/>
  <p:tag name="KSO_WM_UNIT_ID" val="diagram20230946_1*l_h_i*1_1_7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8899999856948853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9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8"/>
  <p:tag name="KSO_WM_UNIT_ID" val="diagram20230946_1*l_h_i*1_1_8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15000000596046448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0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0946_1*l_h_i*1_1_1"/>
  <p:tag name="KSO_WM_TEMPLATE_CATEGORY" val="diagram"/>
  <p:tag name="KSO_WM_TEMPLATE_INDEX" val="20230946"/>
  <p:tag name="KSO_WM_UNIT_LAYERLEVEL" val="1_1_1"/>
  <p:tag name="KSO_WM_TAG_VERSION" val="3.0"/>
  <p:tag name="KSO_WM_UNIT_LINE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1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5"/>
  <p:tag name="KSO_WM_UNIT_ID" val="diagram20230946_1*l_h_i*1_2_5"/>
  <p:tag name="KSO_WM_TEMPLATE_CATEGORY" val="diagram"/>
  <p:tag name="KSO_WM_TEMPLATE_INDEX" val="20230946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29999999329447746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2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6"/>
  <p:tag name="KSO_WM_UNIT_ID" val="diagram20230946_1*l_h_i*1_2_6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.800000011920929,&quot;colorType&quot;:1,&quot;foreColorIndex&quot;:5,&quot;pos&quot;:0,&quot;transparency&quot;:0.44999998807907104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3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0946_1*l_h_i*1_2_1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8899999856948853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4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7"/>
  <p:tag name="KSO_WM_UNIT_ID" val="diagram20230946_1*l_h_i*1_2_7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15000000596046448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5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0946_1*l_h_i*1_2_4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UNIT_TEX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.800000011920929,&quot;colorType&quot;:1,&quot;foreColorIndex&quot;:5,&quot;pos&quot;:0,&quot;transparency&quot;:0.30000001192092896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14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6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0946_1*l_h_i*1_2_2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8899999856948853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7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8"/>
  <p:tag name="KSO_WM_UNIT_ID" val="diagram20230946_1*l_h_i*1_2_8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15000000596046448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8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0946_1*l_h_i*1_2_3"/>
  <p:tag name="KSO_WM_TEMPLATE_CATEGORY" val="diagram"/>
  <p:tag name="KSO_WM_TEMPLATE_INDEX" val="20230946"/>
  <p:tag name="KSO_WM_UNIT_LAYERLEVEL" val="1_1_1"/>
  <p:tag name="KSO_WM_TAG_VERSION" val="3.0"/>
  <p:tag name="KSO_WM_UNIT_LINE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9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0946_1*l_h_i*1_3_3"/>
  <p:tag name="KSO_WM_TEMPLATE_CATEGORY" val="diagram"/>
  <p:tag name="KSO_WM_TEMPLATE_INDEX" val="20230946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29999999329447746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0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30946_1*l_h_i*1_3_4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.800000011920929,&quot;colorType&quot;:1,&quot;foreColorIndex&quot;:5,&quot;pos&quot;:0,&quot;transparency&quot;:0.44999998807907104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1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5"/>
  <p:tag name="KSO_WM_UNIT_ID" val="diagram20230946_1*l_h_i*1_3_5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8899999856948853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2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6"/>
  <p:tag name="KSO_WM_UNIT_ID" val="diagram20230946_1*l_h_i*1_3_6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15000000596046448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3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0946_1*l_h_i*1_3_2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UNIT_TEX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.800000011920929,&quot;colorType&quot;:1,&quot;foreColorIndex&quot;:5,&quot;pos&quot;:0,&quot;transparency&quot;:0.30000001192092896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14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4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7"/>
  <p:tag name="KSO_WM_UNIT_ID" val="diagram20230946_1*l_h_i*1_3_7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8899999856948853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5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8"/>
  <p:tag name="KSO_WM_UNIT_ID" val="diagram20230946_1*l_h_i*1_3_8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15000000596046448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6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0946_1*l_h_i*1_3_1"/>
  <p:tag name="KSO_WM_TEMPLATE_CATEGORY" val="diagram"/>
  <p:tag name="KSO_WM_TEMPLATE_INDEX" val="20230946"/>
  <p:tag name="KSO_WM_UNIT_LAYERLEVEL" val="1_1_1"/>
  <p:tag name="KSO_WM_TAG_VERSION" val="3.0"/>
  <p:tag name="KSO_WM_UNIT_LINE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7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5"/>
  <p:tag name="KSO_WM_UNIT_ID" val="diagram20230946_1*l_h_i*1_4_5"/>
  <p:tag name="KSO_WM_TEMPLATE_CATEGORY" val="diagram"/>
  <p:tag name="KSO_WM_TEMPLATE_INDEX" val="20230946"/>
  <p:tag name="KSO_WM_UNIT_LAYERLEVEL" val="1_1_1"/>
  <p:tag name="KSO_WM_TAG_VERSION" val="3.0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29999999329447746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8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6"/>
  <p:tag name="KSO_WM_UNIT_ID" val="diagram20230946_1*l_h_i*1_4_6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.800000011920929,&quot;colorType&quot;:1,&quot;foreColorIndex&quot;:5,&quot;pos&quot;:0,&quot;transparency&quot;:0.44999998807907104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9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0946_1*l_h_i*1_4_1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8899999856948853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0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7"/>
  <p:tag name="KSO_WM_UNIT_ID" val="diagram20230946_1*l_h_i*1_4_7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15000000596046448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1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30946_1*l_h_i*1_4_4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UNIT_TEX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.800000011920929,&quot;colorType&quot;:1,&quot;foreColorIndex&quot;:5,&quot;pos&quot;:0,&quot;transparency&quot;:0.30000001192092896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14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2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0946_1*l_h_i*1_4_2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8899999856948853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3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8"/>
  <p:tag name="KSO_WM_UNIT_ID" val="diagram20230946_1*l_h_i*1_4_8"/>
  <p:tag name="KSO_WM_TEMPLATE_CATEGORY" val="diagram"/>
  <p:tag name="KSO_WM_TEMPLATE_INDEX" val="20230946"/>
  <p:tag name="KSO_WM_UNIT_LAYERLEVEL" val="1_1_1"/>
  <p:tag name="KSO_WM_TAG_VERSION" val="3.0"/>
  <p:tag name="KSO_WM_UNI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gradient&quot;:[{&quot;brightness&quot;:0,&quot;colorType&quot;:1,&quot;foreColorIndex&quot;:5,&quot;pos&quot;:0,&quot;transparency&quot;:0.15000000596046448},{&quot;brightness&quot;:0,&quot;colorType&quot;:1,&quot;foreColorIndex&quot;:5,&quot;pos&quot;:1,&quot;transparency&quot;:0.2000000029802322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4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0946_1*l_h_i*1_4_3"/>
  <p:tag name="KSO_WM_TEMPLATE_CATEGORY" val="diagram"/>
  <p:tag name="KSO_WM_TEMPLATE_INDEX" val="20230946"/>
  <p:tag name="KSO_WM_UNIT_LAYERLEVEL" val="1_1_1"/>
  <p:tag name="KSO_WM_TAG_VERSION" val="3.0"/>
  <p:tag name="KSO_WM_UNIT_LINE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46_1*l_h_f*1_1_1"/>
  <p:tag name="KSO_WM_TEMPLATE_CATEGORY" val="diagram"/>
  <p:tag name="KSO_WM_TEMPLATE_INDEX" val="2023094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智能图形项正文，文字是您思想的提炼，请尽量言简意赅的阐述观点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46_1*l_h_a*1_1_1"/>
  <p:tag name="KSO_WM_TEMPLATE_CATEGORY" val="diagram"/>
  <p:tag name="KSO_WM_TEMPLATE_INDEX" val="2023094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Product"/>
  <p:tag name="KSO_WM_UNIT_TEX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46_1*l_h_f*1_2_1"/>
  <p:tag name="KSO_WM_TEMPLATE_CATEGORY" val="diagram"/>
  <p:tag name="KSO_WM_TEMPLATE_INDEX" val="2023094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智能图形项正文，文字是您思想的提炼，请尽量言简意赅的阐述观点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46_1*l_h_a*1_2_1"/>
  <p:tag name="KSO_WM_TEMPLATE_CATEGORY" val="diagram"/>
  <p:tag name="KSO_WM_TEMPLATE_INDEX" val="2023094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Price"/>
  <p:tag name="KSO_WM_UNIT_TEX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0946_1*l_h_f*1_3_1"/>
  <p:tag name="KSO_WM_TEMPLATE_CATEGORY" val="diagram"/>
  <p:tag name="KSO_WM_TEMPLATE_INDEX" val="2023094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智能图形项正文，文字是您思想的提炼，请尽量言简意赅的阐述观点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0946_1*l_h_a*1_3_1"/>
  <p:tag name="KSO_WM_TEMPLATE_CATEGORY" val="diagram"/>
  <p:tag name="KSO_WM_TEMPLATE_INDEX" val="2023094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Place"/>
  <p:tag name="KSO_WM_UNIT_TEX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0946_1*l_h_f*1_4_1"/>
  <p:tag name="KSO_WM_TEMPLATE_CATEGORY" val="diagram"/>
  <p:tag name="KSO_WM_TEMPLATE_INDEX" val="2023094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输入你的智能图形项正文，文字是您思想的提炼，请尽量言简意赅的阐述观点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0946_1*l_h_a*1_4_1"/>
  <p:tag name="KSO_WM_TEMPLATE_CATEGORY" val="diagram"/>
  <p:tag name="KSO_WM_TEMPLATE_INDEX" val="2023094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Promotion"/>
  <p:tag name="KSO_WM_UNIT_TEXT_FILL_FORE_SCHEMECOLOR_INDEX" val="5"/>
  <p:tag name="KSO_WM_DIAGRAM_MAX_ITEMCNT" val="4"/>
  <p:tag name="KSO_WM_DIAGRAM_MIN_ITEMCNT" val="4"/>
  <p:tag name="KSO_WM_DIAGRAM_VIRTUALLY_FRAME" val="{&quot;height&quot;:433.1933184622665,&quot;left&quot;:85.82503937007871,&quot;top&quot;:83.80668153773351,&quot;width&quot;:834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23.xml><?xml version="1.0" encoding="utf-8"?>
<p:tagLst xmlns:p="http://schemas.openxmlformats.org/presentationml/2006/main">
  <p:tag name="RESOURCE_RECORD_KEY" val="{&quot;13&quot;:[4364954],&quot;70&quot;:[3322475,3312650,3317673,3319350,3312427]}"/>
</p:tagLst>
</file>

<file path=ppt/tags/tag124.xml><?xml version="1.0" encoding="utf-8"?>
<p:tagLst xmlns:p="http://schemas.openxmlformats.org/presentationml/2006/main">
  <p:tag name="commondata" val="eyJoZGlkIjoiZTM4NzlmYmEzOTBkZDkxMTZiYWQwODVlZTAzZTlkODAifQ=="/>
  <p:tag name="resource_record_key" val="{&quot;70&quot;:[3312427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1592</Words>
  <Application>WPS 演示</Application>
  <PresentationFormat>宽屏</PresentationFormat>
  <Paragraphs>65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思源黑体-粗体 Bold</vt:lpstr>
      <vt:lpstr>黑体</vt:lpstr>
      <vt:lpstr>Calibri</vt:lpstr>
      <vt:lpstr>微软雅黑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付宝莹</cp:lastModifiedBy>
  <cp:revision>156</cp:revision>
  <dcterms:created xsi:type="dcterms:W3CDTF">2019-06-19T02:08:00Z</dcterms:created>
  <dcterms:modified xsi:type="dcterms:W3CDTF">2025-01-05T14:20:48Z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555D86CBB58949DDACC2B542D6B9ECF0_11</vt:lpwstr>
  </property>
</Properties>
</file>